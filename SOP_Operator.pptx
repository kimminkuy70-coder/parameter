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15287" r:id="rId28"/>
    <p:sldId id="15258" r:id="rId6"/>
    <p:sldId id="15283" r:id="rId7"/>
    <p:sldId id="15269" r:id="rId8"/>
    <p:sldId id="15286" r:id="rId9"/>
    <p:sldId id="15270" r:id="rId10"/>
    <p:sldId id="15272" r:id="rId11"/>
    <p:sldId id="15273" r:id="rId12"/>
    <p:sldId id="15274" r:id="rId13"/>
    <p:sldId id="15275" r:id="rId14"/>
    <p:sldId id="15278" r:id="rId15"/>
    <p:sldId id="15279" r:id="rId16"/>
    <p:sldId id="15280" r:id="rId17"/>
    <p:sldId id="15281" r:id="rId18"/>
    <p:sldId id="15282" r:id="rId19"/>
    <p:sldId id="15284" r:id="rId20"/>
    <p:sldId id="1528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00FF"/>
    <a:srgbClr val="FFFF00"/>
    <a:srgbClr val="808000"/>
    <a:srgbClr val="0F4B8F"/>
    <a:srgbClr val="E9E9EA"/>
    <a:srgbClr val="E7E9EE"/>
    <a:srgbClr val="7CF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.xml"/><Relationship Id="rId29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9B25B1-2EE7-EEDF-E6E5-3BEF59CF8B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1381C-C634-F9B5-325C-F9920F70AF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ECE88-AD4D-4975-95B9-009CC7FA6E6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88352-B2A0-044E-3705-1D14D73A0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641BE-FE28-042F-2C94-71763BDE8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7AFE3-29AA-44C7-B7DE-DF9119AF7F5D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6123906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B4DDD-F032-4A34-A4AF-4B90092A55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D620DD3F-384D-4476-9D5B-9B2CD68488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▶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▷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Clr>
        <a:schemeClr val="accent1"/>
      </a:buClr>
      <a:buSzPct val="75000"/>
      <a:buFont typeface="Segoe UI Symbol" panose="020B0502040204020203" pitchFamily="34" charset="0"/>
      <a:buChar char="⨠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Clr>
        <a:schemeClr val="accent1"/>
      </a:buClr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Clr>
        <a:schemeClr val="accent1"/>
      </a:buClr>
      <a:buFont typeface="Segoe UI Symbol" panose="020B0502040204020203" pitchFamily="34" charset="0"/>
      <a:buChar char="▸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35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0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0DD3F-384D-4476-9D5B-9B2CD68488B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25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3.wdp"/><Relationship Id="rId4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3.wdp"/><Relationship Id="rId4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microsoft.com/office/2007/relationships/hdphoto" Target="../media/hdphoto4.wdp"/><Relationship Id="rId4" Type="http://schemas.openxmlformats.org/officeDocument/2006/relationships/image" Target="../media/image6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microsoft.com/office/2007/relationships/hdphoto" Target="../media/hdphoto4.wdp"/><Relationship Id="rId4" Type="http://schemas.openxmlformats.org/officeDocument/2006/relationships/image" Target="../media/image6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5.wdp"/><Relationship Id="rId4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microsoft.com/office/2007/relationships/hdphoto" Target="../media/hdphoto6.wdp"/><Relationship Id="rId4" Type="http://schemas.openxmlformats.org/officeDocument/2006/relationships/image" Target="../media/image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microsoft.com/office/2007/relationships/hdphoto" Target="../media/hdphoto6.wdp"/><Relationship Id="rId4" Type="http://schemas.openxmlformats.org/officeDocument/2006/relationships/image" Target="../media/image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7.wdp"/><Relationship Id="rId4" Type="http://schemas.openxmlformats.org/officeDocument/2006/relationships/image" Target="../media/image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7.wdp"/><Relationship Id="rId4" Type="http://schemas.openxmlformats.org/officeDocument/2006/relationships/image" Target="../media/image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8.wdp"/><Relationship Id="rId4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8.wdp"/><Relationship Id="rId4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amkor.com/" TargetMode="External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Relationship Id="rId8" Type="http://schemas.openxmlformats.org/officeDocument/2006/relationships/image" Target="../media/image21.svg"/><Relationship Id="rId9" Type="http://schemas.openxmlformats.org/officeDocument/2006/relationships/image" Target="../media/image22.svg"/><Relationship Id="rId10" Type="http://schemas.openxmlformats.org/officeDocument/2006/relationships/hyperlink" Target="https://www.linkedin.com/company/7135/" TargetMode="External"/><Relationship Id="rId11" Type="http://schemas.openxmlformats.org/officeDocument/2006/relationships/hyperlink" Target="https://www.facebook.com/AmkorTechnology/" TargetMode="External"/><Relationship Id="rId12" Type="http://schemas.openxmlformats.org/officeDocument/2006/relationships/hyperlink" Target="https://twitter.com/AmkorTechnology" TargetMode="External"/><Relationship Id="rId13" Type="http://schemas.openxmlformats.org/officeDocument/2006/relationships/hyperlink" Target="https://www.youtube.com/user/AmkorTechnology" TargetMode="External"/><Relationship Id="rId14" Type="http://schemas.openxmlformats.org/officeDocument/2006/relationships/hyperlink" Target="https://www.instagram.com/amkortechnology/" TargetMode="External"/><Relationship Id="rId15" Type="http://schemas.openxmlformats.org/officeDocument/2006/relationships/hyperlink" Target="https://amkor.com/amkor-wechat/" TargetMode="External"/><Relationship Id="rId16" Type="http://schemas.openxmlformats.org/officeDocument/2006/relationships/image" Target="../media/image23.png"/><Relationship Id="rId17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amkor.com/" TargetMode="External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Relationship Id="rId8" Type="http://schemas.openxmlformats.org/officeDocument/2006/relationships/image" Target="../media/image21.svg"/><Relationship Id="rId9" Type="http://schemas.openxmlformats.org/officeDocument/2006/relationships/image" Target="../media/image22.svg"/><Relationship Id="rId10" Type="http://schemas.openxmlformats.org/officeDocument/2006/relationships/hyperlink" Target="https://www.linkedin.com/company/7135/" TargetMode="External"/><Relationship Id="rId11" Type="http://schemas.openxmlformats.org/officeDocument/2006/relationships/hyperlink" Target="https://www.facebook.com/AmkorTechnology/" TargetMode="External"/><Relationship Id="rId12" Type="http://schemas.openxmlformats.org/officeDocument/2006/relationships/hyperlink" Target="https://twitter.com/AmkorTechnology" TargetMode="External"/><Relationship Id="rId13" Type="http://schemas.openxmlformats.org/officeDocument/2006/relationships/hyperlink" Target="https://www.youtube.com/user/AmkorTechnology" TargetMode="External"/><Relationship Id="rId14" Type="http://schemas.openxmlformats.org/officeDocument/2006/relationships/hyperlink" Target="https://www.instagram.com/amkortechnology/" TargetMode="External"/><Relationship Id="rId15" Type="http://schemas.openxmlformats.org/officeDocument/2006/relationships/hyperlink" Target="https://amkor.com/amkor-wechat/" TargetMode="External"/><Relationship Id="rId16" Type="http://schemas.openxmlformats.org/officeDocument/2006/relationships/image" Target="../media/image4.svg"/><Relationship Id="rId17" Type="http://schemas.openxmlformats.org/officeDocument/2006/relationships/image" Target="../media/image2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amkor.com/" TargetMode="External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Relationship Id="rId7" Type="http://schemas.openxmlformats.org/officeDocument/2006/relationships/image" Target="../media/image20.svg"/><Relationship Id="rId8" Type="http://schemas.openxmlformats.org/officeDocument/2006/relationships/image" Target="../media/image21.svg"/><Relationship Id="rId9" Type="http://schemas.openxmlformats.org/officeDocument/2006/relationships/image" Target="../media/image22.svg"/><Relationship Id="rId10" Type="http://schemas.openxmlformats.org/officeDocument/2006/relationships/hyperlink" Target="https://www.linkedin.com/company/7135/" TargetMode="External"/><Relationship Id="rId11" Type="http://schemas.openxmlformats.org/officeDocument/2006/relationships/hyperlink" Target="https://www.facebook.com/AmkorTechnology/" TargetMode="External"/><Relationship Id="rId12" Type="http://schemas.openxmlformats.org/officeDocument/2006/relationships/hyperlink" Target="https://twitter.com/AmkorTechnology" TargetMode="External"/><Relationship Id="rId13" Type="http://schemas.openxmlformats.org/officeDocument/2006/relationships/hyperlink" Target="https://www.youtube.com/user/AmkorTechnology" TargetMode="External"/><Relationship Id="rId14" Type="http://schemas.openxmlformats.org/officeDocument/2006/relationships/hyperlink" Target="https://www.instagram.com/amkortechnology/" TargetMode="External"/><Relationship Id="rId15" Type="http://schemas.openxmlformats.org/officeDocument/2006/relationships/hyperlink" Target="https://amkor.com/amkor-wechat/" TargetMode="External"/><Relationship Id="rId16" Type="http://schemas.openxmlformats.org/officeDocument/2006/relationships/image" Target="../media/image4.svg"/><Relationship Id="rId17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EC4AC5-78AE-B232-0A8C-AD5BD41D49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7E3F07-9079-D052-4568-64F428224D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agline">
            <a:extLst>
              <a:ext uri="{FF2B5EF4-FFF2-40B4-BE49-F238E27FC236}">
                <a16:creationId xmlns:a16="http://schemas.microsoft.com/office/drawing/2014/main" id="{5CA752F2-3C25-457C-F18D-D8F8FDBC62DA}"/>
              </a:ext>
            </a:extLst>
          </p:cNvPr>
          <p:cNvSpPr txBox="1">
            <a:spLocks/>
          </p:cNvSpPr>
          <p:nvPr userDrawn="1"/>
        </p:nvSpPr>
        <p:spPr>
          <a:xfrm>
            <a:off x="7070721" y="4132174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C04FAB-D55C-DB32-9FFB-E4868CF3D0F1}"/>
              </a:ext>
            </a:extLst>
          </p:cNvPr>
          <p:cNvCxnSpPr>
            <a:cxnSpLocks/>
          </p:cNvCxnSpPr>
          <p:nvPr userDrawn="1"/>
        </p:nvCxnSpPr>
        <p:spPr>
          <a:xfrm>
            <a:off x="7630201" y="3795032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Logo">
            <a:extLst>
              <a:ext uri="{FF2B5EF4-FFF2-40B4-BE49-F238E27FC236}">
                <a16:creationId xmlns:a16="http://schemas.microsoft.com/office/drawing/2014/main" id="{1E61868B-1B68-FA4C-E80F-691352C8D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2266" y="1805221"/>
            <a:ext cx="4464751" cy="166187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3449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714C9F-F4B3-FE90-0C35-632948685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4432E9-1840-C5B0-7486-0DA998AD5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AE74CA-16D4-336C-5820-6FC4862A14AA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355" y="238027"/>
            <a:ext cx="1928945" cy="71799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215482-FB81-8B75-2274-F94D2C967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0096" y="1234440"/>
            <a:ext cx="6592824" cy="2542032"/>
          </a:xfrm>
        </p:spPr>
        <p:txBody>
          <a:bodyPr anchor="b">
            <a:normAutofit/>
          </a:bodyPr>
          <a:lstStyle>
            <a:lvl1pPr algn="r"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5A007-7785-28B1-B84A-EA57B3AC3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313985B-F241-13B7-9551-E183C7E22035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69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D802-681B-1BC5-AE24-C6F1BB6E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1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DAB4-00EA-45AF-693E-C91030A6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CFE0-48EF-DFD5-D1AB-1ED37F8D4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8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DEF5-830D-46FC-EDB4-5E87325E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2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116586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C64FB6A-608B-AF39-35F1-673D1BB34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None/>
              <a:defRPr sz="2000" b="1"/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8585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3807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98EAC-4053-2F41-6BC8-5E443EAA7F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None/>
              <a:defRPr sz="2000" b="1"/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8585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6813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Left,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6044184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01384" y="1335024"/>
            <a:ext cx="5687568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02797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88736" y="1234440"/>
            <a:ext cx="6044184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35024"/>
            <a:ext cx="5687568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42801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Large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6885432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6885432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8248" y="0"/>
            <a:ext cx="4873752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37833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Photo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868" y="228600"/>
            <a:ext cx="6885432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39868" y="1234440"/>
            <a:ext cx="6885432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873752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05666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128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8A40CDD-4EC8-945C-9010-6A7AC6FC2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36823-9A35-C048-CE1B-8138AD3CE5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642EA3-14BB-1025-CF95-EEBAC58A51D9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2469ED6-E3FC-D335-6BD2-7ED221F1258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95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1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C047CC-F6BF-F563-39C2-5F9E55E97A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B8280-DB66-F95E-5160-CA1FF9271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87DCBD9-CEAE-F9B0-2A46-7AB61F22BB7E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91F19674-CA42-B901-2E3D-262D384C24B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0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4B4E21-2EC0-5946-580D-6FBB6B5174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9D06E-B754-3A25-38E7-E5452ED28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3E9C13-7C0D-7CE6-6B9D-2CCE5D7B1F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750849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61D9926-D5B9-D1C5-4819-9F1B27A79D9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CA5A3FD8-9CBA-F6D7-1F73-D39842683DF4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10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 with Presenter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259EC5-35B8-E79E-D814-9A37993933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4A28C-33AD-A044-2457-2CF56350B2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349" y="0"/>
            <a:ext cx="12204698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DAD315-697D-B604-8E76-7FFCCC974D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750849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071A4ED-4367-F05B-1581-2DF5160807D3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DCC68B48-67EE-0ADC-2C03-62FED0A27649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55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9D9F9E-EA20-FC3D-0A21-5330E11CF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A8AFF42D-0F9C-FE91-7C18-46700277FB4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DA732CBD-D0AB-0E65-657D-31832791087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431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3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FECE87B-56B4-0D72-953E-46023660D6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52A03466-DD0A-C4BD-3575-4620ECFE88C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2E2F20D-DC80-8688-154E-55734E6DD694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130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51A44D-E51D-CFBB-6120-FDE3B08D36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040440D-5451-1B11-BD9A-07D2A5802717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7B8CB2B9-D494-524D-C92C-93A166B40FC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58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4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6326E7-D420-1F7C-AB53-DD038D8D0F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AA71861-1706-61AB-27F8-9C61FD41FF3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D4B0C5B3-3B8D-A6A2-4235-A27769F6B5C8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220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5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88091B-7B4F-3EC7-116A-8D0F48176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FEBD61B-4861-07EA-9038-C84C3C7ED622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827C4BB4-8CF0-F349-98F1-140DBBE71BF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720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5 with Presenter 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56E3A8-55B0-CD9E-11CA-20D4B91BC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D30C66C-0E18-5749-525A-7B969D142EDE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B184B30B-E3E5-A31C-657E-E1A4301DEEAA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26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6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1647CF-1BAE-CAF5-E091-9B3CAF3EB8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B15815CF-2B6B-E31D-7009-D1046CC37B3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3B79089F-0FBD-EDBC-41E0-604FF31E5F1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68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6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71F1A7-661A-1445-0F72-A0B7BA3DE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C04075FB-AEC7-0C6B-1886-76D2D33879AC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B785AA98-DDB8-19DC-0A39-D363921B447F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2109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7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F637F5-3A34-9ACB-EF90-CA6B5A757C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EC1F3-564C-4CA0-9AC2-2A62F1766F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040F9D6D-4FA8-6633-ABFF-42D2A8C06425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329CB858-C27B-FFED-3238-C8DE19C19355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083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7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4FBE80-A664-3E0B-A749-139E7B3291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62A9F-AD17-8B85-74DC-79C498C69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46C938AC-883D-FF78-498C-6022DF40847B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25E72B9-6269-B1EE-B0F8-77A47494A0D8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99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8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F2B7BE-4DD9-AB4F-BC23-06697A9B8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3DD9003-7591-FAED-9E02-C31BF9B44D7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115A7DB5-F97D-CEE4-5F65-F3252605349D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502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8 with Presenter Detail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4B6FD8-5E46-4BB1-47DE-4A5A61018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664282CE-7200-2ED4-F262-BABF9F07D888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48A1BE6E-60AB-361F-2A28-02980A0A0892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6872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F2B7BE-4DD9-AB4F-BC23-06697A9B8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E26FC-677F-A1FD-2DEE-732564EE9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2537459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71AE7-85A7-5957-75AD-C699F27C2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A8C4B5F9-6CF1-96B6-6ADA-382D46D7F0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3DD9003-7591-FAED-9E02-C31BF9B44D74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115A7DB5-F97D-CEE4-5F65-F3252605349D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155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8 with Presenter Detai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4B6FD8-5E46-4BB1-47DE-4A5A61018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DDD9F-23F5-AEF8-F9F9-621127BA1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30588" y="1234441"/>
            <a:ext cx="5966393" cy="423367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74C26-F1D3-8E94-8481-6C3CA0F00F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0" y="0"/>
            <a:ext cx="1446245" cy="830424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59000">
                <a:schemeClr val="accent5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 - Footer">
            <a:extLst>
              <a:ext uri="{FF2B5EF4-FFF2-40B4-BE49-F238E27FC236}">
                <a16:creationId xmlns:a16="http://schemas.microsoft.com/office/drawing/2014/main" id="{1D0FE792-8E1D-2F1B-D6A1-1C58A9297DD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62636-9EB5-48D2-E7F1-1C640792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234440"/>
            <a:ext cx="6592824" cy="2542032"/>
          </a:xfrm>
        </p:spPr>
        <p:txBody>
          <a:bodyPr anchor="b"/>
          <a:lstStyle>
            <a:lvl1pPr algn="r">
              <a:defRPr sz="3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C94AB-1A07-134D-958D-2B3A14F2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096" y="3840480"/>
            <a:ext cx="6592824" cy="162763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664282CE-7200-2ED4-F262-BABF9F07D888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48A1BE6E-60AB-361F-2A28-02980A0A0892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079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8BC9-B355-2B7F-F8F4-49B49B0FD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320" y="1234440"/>
            <a:ext cx="571500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26DA4-C313-FBA6-5D82-1657F55CD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234440"/>
            <a:ext cx="571500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232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91CF10-A714-4660-D474-1E12D92866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FontTx/>
              <a:buNone/>
              <a:defRPr sz="20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57150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240F7-9EE8-F275-3950-D15C909AE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0" y="1463040"/>
            <a:ext cx="57150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193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5BFF1-0F8F-88DB-D613-A31C0D65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1234440"/>
            <a:ext cx="5715000" cy="54864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278B9-9D2F-FFFB-C463-4F61CA6C3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" y="1773936"/>
            <a:ext cx="5715000" cy="46634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EA708-288F-4D2C-5BB5-1658FC15A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1234440"/>
            <a:ext cx="5715000" cy="548640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106BA-9E79-09D4-E6C5-6FF6DD7F1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1773936"/>
            <a:ext cx="5715000" cy="46634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35E183E-FE7C-B5E1-12A8-472FB49B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403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Statement Horizontal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1BE-AB8A-D9A5-F7E6-9839416C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bIns="9144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91CF10-A714-4660-D474-1E12D92866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" y="1005840"/>
            <a:ext cx="11658600" cy="411480"/>
          </a:xfrm>
        </p:spPr>
        <p:txBody>
          <a:bodyPr tIns="0">
            <a:normAutofit/>
          </a:bodyPr>
          <a:lstStyle>
            <a:lvl1pPr marL="0" indent="0">
              <a:buFontTx/>
              <a:buNone/>
              <a:defRPr sz="20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B394-3268-53C7-04E0-D582E375B5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638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240F7-9EE8-F275-3950-D15C909AE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24528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6377F4-364F-681E-81D4-80EB940D2C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83880" y="1463040"/>
            <a:ext cx="374904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635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09BD56-7B97-D6AD-2762-08DA27DF9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" y="1234440"/>
            <a:ext cx="4297680" cy="5212080"/>
          </a:xfrm>
        </p:spPr>
        <p:txBody>
          <a:bodyPr>
            <a:normAutofit/>
          </a:bodyPr>
          <a:lstStyle>
            <a:lvl1pPr marL="0" indent="0">
              <a:buNone/>
              <a:defRPr sz="26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4FE3131-0635-AEEA-6945-C8EE409D75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9160" y="1234440"/>
            <a:ext cx="722376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7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604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5736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1604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5736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D1B602-9942-2F1E-FAE8-622F42F705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20" y="1243584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83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3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52527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73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2527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C3E4A14-7359-BAA1-584F-AC22E90DAB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115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3 Photo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00800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26880" y="1335024"/>
            <a:ext cx="2834640" cy="500176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0080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B4755-BCF3-33BE-E6A3-081833328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432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912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3 Photo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3" y="1335024"/>
            <a:ext cx="2834640" cy="500176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51182" y="1335024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1182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757AB-2115-283D-5E02-775A131E0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157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3 Photo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16040" y="1335024"/>
            <a:ext cx="577596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41604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9357360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84FD-1BB1-65B5-38A4-5C9C2589A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2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376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and 3 Photo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335024"/>
            <a:ext cx="5787167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28BE801C-C617-1F4D-17A8-DE9300BE11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73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81194AA-7073-47E6-D258-0B10D7ACDD9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2527" y="3886200"/>
            <a:ext cx="2834640" cy="2450592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51D8E-F4E5-492C-7000-C4915C384B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97880" y="1234440"/>
            <a:ext cx="603504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0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1325880"/>
            <a:ext cx="5724144" cy="301752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510D44E-B3B7-C549-C052-D169BA2C28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99632" y="1325880"/>
            <a:ext cx="5724144" cy="301752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4320" y="4471416"/>
            <a:ext cx="5724144" cy="20055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8776" y="4471416"/>
            <a:ext cx="5724144" cy="20055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1362168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16260BC-1611-103F-D671-D034F03D70A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2148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03E2482-F945-B6A6-6A11-12D2F4637E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68640" y="1325880"/>
            <a:ext cx="374904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432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2148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888AD9-C144-56C4-F11D-CA964F921B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68640" y="3886200"/>
            <a:ext cx="3749040" cy="2590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495155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226D-D7FE-7655-7EB4-0FBEC6A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EDCE5F2-F1C1-94DA-7F95-948FDA4C90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16260BC-1611-103F-D671-D034F03D70A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734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03E2482-F945-B6A6-6A11-12D2F4637E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468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AF4EB22-46CC-6FF1-E5AF-E71B1590A8B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220200" y="1325880"/>
            <a:ext cx="2971800" cy="2468880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ct val="75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A8F14-D1FA-BC29-F511-C32CDDF1E6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D2D884-CC44-9419-A2F9-669073C79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734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888AD9-C144-56C4-F11D-CA964F921B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468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F029E7F-E46E-03BA-82E5-4DA8C7BB2C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20200" y="3886200"/>
            <a:ext cx="2971800" cy="2590800"/>
          </a:xfrm>
        </p:spPr>
        <p:txBody>
          <a:bodyPr lIns="228600" rIns="228600"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876280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-Large Picture with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1120" y="1325880"/>
            <a:ext cx="7040880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1234440"/>
            <a:ext cx="475488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475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-Large Picture with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25880"/>
            <a:ext cx="7040880" cy="51206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8040" y="1234440"/>
            <a:ext cx="4754880" cy="52120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548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0"/>
            <a:ext cx="5303520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320" y="4251960"/>
            <a:ext cx="5120640" cy="2194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914400"/>
            <a:ext cx="6400800" cy="3246120"/>
          </a:xfrm>
        </p:spPr>
        <p:txBody>
          <a:bodyPr anchor="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20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2D0D613-2605-9FEF-5E84-B7DC507F4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03520" cy="6492240"/>
          </a:xfrm>
          <a:solidFill>
            <a:schemeClr val="bg2"/>
          </a:solidFill>
        </p:spPr>
        <p:txBody>
          <a:bodyPr tIns="91440" bIns="91440"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8060-8E50-9D1A-4246-62897847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680" y="914400"/>
            <a:ext cx="6492240" cy="3246120"/>
          </a:xfrm>
        </p:spPr>
        <p:txBody>
          <a:bodyPr anchor="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0D79E-7067-2DD0-681D-6178CCF0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2280" y="4251960"/>
            <a:ext cx="5120640" cy="2194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68898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EBAF-A78F-1B35-480B-CB696AD9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731520"/>
            <a:ext cx="1060704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349B-1B82-6186-C47D-6A2C63671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0400" y="4251960"/>
            <a:ext cx="8229600" cy="1920240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7082423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D1705-975E-C9DB-3E85-74C2E1203D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B04CB7-AF0F-E2FB-837A-4258E9A1F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32" name="Tagline">
            <a:extLst>
              <a:ext uri="{FF2B5EF4-FFF2-40B4-BE49-F238E27FC236}">
                <a16:creationId xmlns:a16="http://schemas.microsoft.com/office/drawing/2014/main" id="{E67AD79C-D1CE-A5BE-EF06-2896C9AFBF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3291682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8DCB10-D958-04C0-A06F-7C58DDF6967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2954540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Logo">
            <a:extLst>
              <a:ext uri="{FF2B5EF4-FFF2-40B4-BE49-F238E27FC236}">
                <a16:creationId xmlns:a16="http://schemas.microsoft.com/office/drawing/2014/main" id="{A881010F-4955-061B-DE6F-BCD681507E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52893" y="964729"/>
            <a:ext cx="4464751" cy="1661879"/>
          </a:xfrm>
          <a:prstGeom prst="rect">
            <a:avLst/>
          </a:prstGeom>
          <a:effectLst/>
        </p:spPr>
      </p:pic>
      <p:sp>
        <p:nvSpPr>
          <p:cNvPr id="35" name="Thank You text">
            <a:extLst>
              <a:ext uri="{FF2B5EF4-FFF2-40B4-BE49-F238E27FC236}">
                <a16:creationId xmlns:a16="http://schemas.microsoft.com/office/drawing/2014/main" id="{C5CB8597-B99A-18EE-E91B-4B8EB9D894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0618" y="3866913"/>
            <a:ext cx="5829300" cy="9233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 algn="ct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54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9281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ith Text O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246816-42D6-0399-A129-CCEA216FC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7DE32-F8D5-9B58-AA79-AC5555E3C2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agline">
            <a:extLst>
              <a:ext uri="{FF2B5EF4-FFF2-40B4-BE49-F238E27FC236}">
                <a16:creationId xmlns:a16="http://schemas.microsoft.com/office/drawing/2014/main" id="{47F1D431-3F82-87F9-6A8A-829967D46B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3291682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6C9786-4606-5B41-8A1D-77DFE32B37B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2954540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Logo">
            <a:extLst>
              <a:ext uri="{FF2B5EF4-FFF2-40B4-BE49-F238E27FC236}">
                <a16:creationId xmlns:a16="http://schemas.microsoft.com/office/drawing/2014/main" id="{61CEC72F-D492-5DB5-E605-087746652A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2893" y="964729"/>
            <a:ext cx="4464751" cy="1661879"/>
          </a:xfrm>
          <a:prstGeom prst="rect">
            <a:avLst/>
          </a:prstGeom>
          <a:effectLst/>
        </p:spPr>
      </p:pic>
      <p:sp>
        <p:nvSpPr>
          <p:cNvPr id="27" name="Thank You text">
            <a:extLst>
              <a:ext uri="{FF2B5EF4-FFF2-40B4-BE49-F238E27FC236}">
                <a16:creationId xmlns:a16="http://schemas.microsoft.com/office/drawing/2014/main" id="{6156DB86-67C0-2DEA-BF0B-69C808C13B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0618" y="3866913"/>
            <a:ext cx="5829300" cy="9233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/>
          <a:p>
            <a:pPr marL="0" indent="0" algn="ct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54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280A7-3F52-C900-235A-1F3E1BFF6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360" y="4817675"/>
            <a:ext cx="5852160" cy="165932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6909842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4D2A34-4911-1AB6-1DA6-8F2366606A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9694127" y="5139103"/>
            <a:ext cx="2497873" cy="17188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A7ECD-814F-80D9-2AFD-785A6BC8D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695481" y="0"/>
            <a:ext cx="1496518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9000">
                <a:schemeClr val="accent1">
                  <a:alpha val="0"/>
                </a:schemeClr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mkor.,com">
            <a:extLst>
              <a:ext uri="{FF2B5EF4-FFF2-40B4-BE49-F238E27FC236}">
                <a16:creationId xmlns:a16="http://schemas.microsoft.com/office/drawing/2014/main" id="{4AD98039-CDBB-AF12-2517-1CD1742F12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5871" y="6589802"/>
            <a:ext cx="77319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800" b="0" u="none">
                <a:solidFill>
                  <a:schemeClr val="accent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  </a:t>
            </a:r>
            <a:r>
              <a:rPr lang="en-US" sz="800" b="0" u="none">
                <a:solidFill>
                  <a:schemeClr val="tx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l</a:t>
            </a:r>
          </a:p>
        </p:txBody>
      </p:sp>
      <p:sp>
        <p:nvSpPr>
          <p:cNvPr id="10" name="Amkor.com link">
            <a:hlinkClick r:id="rId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C444362-CD51-54A0-7785-5F9D5D4B3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41894" y="6631326"/>
            <a:ext cx="609103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Social media icons">
            <a:extLst>
              <a:ext uri="{FF2B5EF4-FFF2-40B4-BE49-F238E27FC236}">
                <a16:creationId xmlns:a16="http://schemas.microsoft.com/office/drawing/2014/main" id="{314E9C75-05D0-FAC4-3E41-614D63796A4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40623" y="6658758"/>
            <a:ext cx="790168" cy="91440"/>
            <a:chOff x="10909827" y="7169470"/>
            <a:chExt cx="790168" cy="9144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FCE3492-1DA9-C4FC-2B77-613F24F9F69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35270" y="7169470"/>
              <a:ext cx="91440" cy="9144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CDAFCB9-E2DD-B0B7-1220-DCF25B0186D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26441" y="7169470"/>
              <a:ext cx="91440" cy="9144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7A5FB0E-4018-D5EF-996C-BE3153E0C19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9827" y="7169470"/>
              <a:ext cx="91440" cy="914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275E794-9A3F-7F93-0F84-FA8EF4F352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83330" y="7169470"/>
              <a:ext cx="116665" cy="9144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F5300C8-A7B0-3D1B-451D-74E04A92C08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53309" y="7169470"/>
              <a:ext cx="94593" cy="9144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11A00E4C-6B46-E27F-70ED-69BECE46B5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9610" y="7169470"/>
              <a:ext cx="129277" cy="91440"/>
            </a:xfrm>
            <a:prstGeom prst="rect">
              <a:avLst/>
            </a:prstGeom>
          </p:spPr>
        </p:pic>
      </p:grpSp>
      <p:sp>
        <p:nvSpPr>
          <p:cNvPr id="18" name="LinkedIn link">
            <a:hlinkClick r:id="rId10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DA7AD2F6-8930-EAD4-8007-1E1C32073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202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acebook link">
            <a:hlinkClick r:id="rId11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EA8E2657-A9FE-0136-D36C-1E983CD75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7650" y="6658758"/>
            <a:ext cx="85243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X (formerly Twitter) link">
            <a:hlinkClick r:id="rId12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CB541B2-730E-B93C-394B-FC65C2FCA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87258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YouTube link">
            <a:hlinkClick r:id="rId13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F8C7CFE-9070-FE8D-F809-83F36A51C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88358" y="6658758"/>
            <a:ext cx="13716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Instagram link">
            <a:hlinkClick r:id="rId14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894768-08F9-1568-652E-998D3F61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59405" y="6658758"/>
            <a:ext cx="91440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WeChat link">
            <a:hlinkClick r:id="rId15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6CB117C3-C585-3A02-6120-D54620FC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708089" y="6658758"/>
            <a:ext cx="122702" cy="914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agline">
            <a:extLst>
              <a:ext uri="{FF2B5EF4-FFF2-40B4-BE49-F238E27FC236}">
                <a16:creationId xmlns:a16="http://schemas.microsoft.com/office/drawing/2014/main" id="{47F1D431-3F82-87F9-6A8A-829967D46B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91348" y="4262023"/>
            <a:ext cx="3587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spcBef>
                <a:spcPts val="60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ENABLING the FUTURE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6C9786-4606-5B41-8A1D-77DFE32B37B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50828" y="3924881"/>
            <a:ext cx="2468880" cy="0"/>
          </a:xfrm>
          <a:prstGeom prst="line">
            <a:avLst/>
          </a:prstGeom>
          <a:ln w="12700">
            <a:solidFill>
              <a:schemeClr val="tx1">
                <a:lumMod val="40000"/>
                <a:lumOff val="6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Logo">
            <a:extLst>
              <a:ext uri="{FF2B5EF4-FFF2-40B4-BE49-F238E27FC236}">
                <a16:creationId xmlns:a16="http://schemas.microsoft.com/office/drawing/2014/main" id="{61CEC72F-D492-5DB5-E605-087746652A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2893" y="1935070"/>
            <a:ext cx="4464751" cy="1661879"/>
          </a:xfrm>
          <a:prstGeom prst="rect">
            <a:avLst/>
          </a:prstGeom>
          <a:effectLst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9260659-240B-2F94-09B5-DE96A0F097EC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>
          <a:xfrm>
            <a:off x="11285220" y="5893870"/>
            <a:ext cx="640080" cy="640080"/>
            <a:chOff x="2667000" y="0"/>
            <a:chExt cx="6858000" cy="685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0487DEF-4ABD-47C9-5293-0A126C706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746794" y="67378"/>
              <a:ext cx="6705213" cy="6737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marL="0" indent="0" algn="l">
                <a:buClr>
                  <a:schemeClr val="bg1"/>
                </a:buClr>
                <a:buSzPct val="75000"/>
                <a:buFontTx/>
                <a:buNone/>
              </a:pPr>
              <a:endParaRPr lang="en-US"/>
            </a:p>
          </p:txBody>
        </p:sp>
        <p:pic>
          <p:nvPicPr>
            <p:cNvPr id="31" name="Picture 30" descr="A qr code with a logo&#10;&#10;Description automatically generated">
              <a:extLst>
                <a:ext uri="{FF2B5EF4-FFF2-40B4-BE49-F238E27FC236}">
                  <a16:creationId xmlns:a16="http://schemas.microsoft.com/office/drawing/2014/main" id="{63635033-1878-A361-C856-0B893DCFB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12733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Relationship Id="rId54" Type="http://schemas.openxmlformats.org/officeDocument/2006/relationships/image" Target="../media/image1.png"/><Relationship Id="rId55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4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- Footer">
            <a:extLst>
              <a:ext uri="{FF2B5EF4-FFF2-40B4-BE49-F238E27FC236}">
                <a16:creationId xmlns:a16="http://schemas.microsoft.com/office/drawing/2014/main" id="{3E56DF82-8448-8BD9-C22E-038FB07740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74320" y="6537960"/>
            <a:ext cx="680924" cy="253455"/>
          </a:xfrm>
          <a:prstGeom prst="rect">
            <a:avLst/>
          </a:prstGeom>
          <a:effectLst/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0EDC7-6213-C062-A493-119D986E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3F555-A8FA-E2AF-37B5-9BDF7E866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1234440"/>
            <a:ext cx="11658600" cy="5212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DDEAFAF-BF5F-773F-9415-0BAA5F914D9B}"/>
              </a:ext>
            </a:extLst>
          </p:cNvPr>
          <p:cNvSpPr txBox="1"/>
          <p:nvPr userDrawn="1"/>
        </p:nvSpPr>
        <p:spPr>
          <a:xfrm>
            <a:off x="11525250" y="6584447"/>
            <a:ext cx="457200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8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50">
              <a:solidFill>
                <a:schemeClr val="tx1"/>
              </a:solidFill>
              <a:latin typeface="+mn-lt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4B706214-C3AC-3877-5272-2C56C44A234B}"/>
              </a:ext>
            </a:extLst>
          </p:cNvPr>
          <p:cNvSpPr txBox="1"/>
          <p:nvPr userDrawn="1"/>
        </p:nvSpPr>
        <p:spPr>
          <a:xfrm>
            <a:off x="9493843" y="6584447"/>
            <a:ext cx="2269532" cy="228600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© 2026 Amkor Confidential</a:t>
            </a:r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7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705" r:id="rId29"/>
    <p:sldLayoutId id="2147483706" r:id="rId30"/>
    <p:sldLayoutId id="2147483688" r:id="rId31"/>
    <p:sldLayoutId id="2147483686" r:id="rId32"/>
    <p:sldLayoutId id="2147483653" r:id="rId33"/>
    <p:sldLayoutId id="2147483687" r:id="rId34"/>
    <p:sldLayoutId id="2147483652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698" r:id="rId42"/>
    <p:sldLayoutId id="2147483699" r:id="rId43"/>
    <p:sldLayoutId id="2147483700" r:id="rId44"/>
    <p:sldLayoutId id="2147483701" r:id="rId45"/>
    <p:sldLayoutId id="2147483702" r:id="rId46"/>
    <p:sldLayoutId id="2147483703" r:id="rId47"/>
    <p:sldLayoutId id="2147483704" r:id="rId48"/>
    <p:sldLayoutId id="2147483656" r:id="rId49"/>
    <p:sldLayoutId id="2147483689" r:id="rId50"/>
    <p:sldLayoutId id="2147483690" r:id="rId51"/>
    <p:sldLayoutId id="2147483691" r:id="rId5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1" hangingPunct="1">
        <a:lnSpc>
          <a:spcPct val="90000"/>
        </a:lnSpc>
        <a:spcBef>
          <a:spcPts val="900"/>
        </a:spcBef>
        <a:buClr>
          <a:schemeClr val="accent1"/>
        </a:buClr>
        <a:buSzPct val="75000"/>
        <a:buFont typeface="Segoe UI Symbol" panose="020B0502040204020203" pitchFamily="34" charset="0"/>
        <a:buChar char="▶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SzPct val="75000"/>
        <a:buFont typeface="Segoe UI Symbol" panose="020B0502040204020203" pitchFamily="34" charset="0"/>
        <a:buChar char="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SzPct val="75000"/>
        <a:buFont typeface="Segoe UI Symbol" panose="020B0502040204020203" pitchFamily="34" charset="0"/>
        <a:buChar char="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85750" algn="l" defTabSz="914400" rtl="0" eaLnBrk="1" latinLnBrk="1" hangingPunct="1">
        <a:lnSpc>
          <a:spcPct val="90000"/>
        </a:lnSpc>
        <a:spcBef>
          <a:spcPts val="500"/>
        </a:spcBef>
        <a:buClr>
          <a:schemeClr val="accent1"/>
        </a:buClr>
        <a:buFont typeface="Segoe UI Symbol" panose="020B0502040204020203" pitchFamily="34" charset="0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1" hangingPunct="1">
        <a:lnSpc>
          <a:spcPct val="90000"/>
        </a:lnSpc>
        <a:spcBef>
          <a:spcPts val="500"/>
        </a:spcBef>
        <a:buClr>
          <a:schemeClr val="accent1"/>
        </a:buClr>
        <a:buFont typeface="Segoe UI Symbol" panose="020B0502040204020203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1" hangingPunct="1">
        <a:lnSpc>
          <a:spcPct val="90000"/>
        </a:lnSpc>
        <a:spcBef>
          <a:spcPts val="300"/>
        </a:spcBef>
        <a:buClr>
          <a:schemeClr val="accent1"/>
        </a:buClr>
        <a:buFont typeface="Segoe UI Symbol" panose="020B0502040204020203" pitchFamily="34" charset="0"/>
        <a:buChar char="›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228600" algn="l" defTabSz="914400" rtl="0" eaLnBrk="1" latinLnBrk="1" hangingPunct="1">
        <a:lnSpc>
          <a:spcPct val="90000"/>
        </a:lnSpc>
        <a:spcBef>
          <a:spcPts val="200"/>
        </a:spcBef>
        <a:buFont typeface="Segoe UI Symbol" panose="020B0502040204020203" pitchFamily="34" charset="0"/>
        <a:buChar char="▪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228600" algn="l" defTabSz="914400" rtl="0" eaLnBrk="1" latinLnBrk="1" hangingPunct="1">
        <a:lnSpc>
          <a:spcPct val="90000"/>
        </a:lnSpc>
        <a:spcBef>
          <a:spcPts val="300"/>
        </a:spcBef>
        <a:buFont typeface="Segoe UI Symbol" panose="020B0502040204020203" pitchFamily="34" charset="0"/>
        <a:buChar char="▫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DE53C"/>
          </p15:clr>
        </p15:guide>
        <p15:guide id="2" pos="168" userDrawn="1">
          <p15:clr>
            <a:srgbClr val="F26B43"/>
          </p15:clr>
        </p15:guide>
        <p15:guide id="3" pos="3840" userDrawn="1">
          <p15:clr>
            <a:srgbClr val="FDE53C"/>
          </p15:clr>
        </p15:guide>
        <p15:guide id="4" pos="240" userDrawn="1">
          <p15:clr>
            <a:srgbClr val="5ACBF0"/>
          </p15:clr>
        </p15:guide>
        <p15:guide id="5" pos="7512" userDrawn="1">
          <p15:clr>
            <a:srgbClr val="F26B43"/>
          </p15:clr>
        </p15:guide>
        <p15:guide id="6" pos="7440" userDrawn="1">
          <p15:clr>
            <a:srgbClr val="5ACBF0"/>
          </p15:clr>
        </p15:guide>
        <p15:guide id="7" orient="horz" pos="144" userDrawn="1">
          <p15:clr>
            <a:srgbClr val="F26B43"/>
          </p15:clr>
        </p15:guide>
        <p15:guide id="8" orient="horz" pos="216" userDrawn="1">
          <p15:clr>
            <a:srgbClr val="5ACBF0"/>
          </p15:clr>
        </p15:guide>
        <p15:guide id="10" orient="horz" pos="4080" userDrawn="1">
          <p15:clr>
            <a:srgbClr val="F26B43"/>
          </p15:clr>
        </p15:guide>
        <p15:guide id="11" orient="horz" pos="4008" userDrawn="1">
          <p15:clr>
            <a:srgbClr val="5ACBF0"/>
          </p15:clr>
        </p15:guide>
        <p15:guide id="12" orient="horz" pos="720" userDrawn="1">
          <p15:clr>
            <a:srgbClr val="5ACBF0"/>
          </p15:clr>
        </p15:guide>
        <p15:guide id="13" orient="horz" pos="792" userDrawn="1">
          <p15:clr>
            <a:srgbClr val="F26B43"/>
          </p15:clr>
        </p15:guide>
        <p15:guide id="15" orient="horz" pos="864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C2504-7043-FCE3-3E4C-B1D6BD005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6120" y="1234440"/>
            <a:ext cx="8686800" cy="2542032"/>
          </a:xfrm>
        </p:spPr>
        <p:txBody>
          <a:bodyPr/>
          <a:lstStyle/>
          <a:p>
            <a:r>
              <a:rPr lang="en-US" altLang="ko-KR" sz="4400" dirty="0"/>
              <a:t>SOP(Standard Operation Procedure) for X-ray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6A7BE8-07D2-9608-035B-4452F31E0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0096" y="4060613"/>
            <a:ext cx="6592824" cy="1627632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5982943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6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0. 검사 전 준비 — Recipe_Model.xlsx에서 파라미터 받기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이 SOP의 모든 숫자는 엑셀이 계산합니다. 오퍼레이터는 옮겨 적기만 하면 됩니다.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1) 공용 폴더에서 Recipe_Model.xlsx 열기 → [레시피계산] 시트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2) 노란칸 4개 입력 (자재 도면/spec에 있는 값):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    · bump 직경 D (µm)   · die 폭 (mm)   · die 높이 (mm)   · void 판정 기준 p (%)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3) 파란칸 결과를 메모지에 옮겨 적기: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>    [검사] kV ___ / Resolution ___ / Frame ___     [취득] kV ___ / R_acq ___ / Frame 32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kV는 '시작값'입니다 — 마지막 판정 단계에서 1kV 조정될 수 있습니다 (마지막 슬라이드 규칙)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7000"/>
                </a:solidFill>
                <a:latin typeface="맑은 고딕"/>
              </a:rPr>
              <a:t>✓ 기존에 검증된 레시피가 있는 자재면: 2~14페이지(취득·레시피 구축) 생략하고 바로 Inspection(15페이지)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BFF2-1D3E-DC4A-650B-169057A1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212B8-B4E2-8F34-88F6-CD0F9D87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1. Initialization Step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7638B9-6777-CB3E-5D67-EAFC8C7F92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234440"/>
            <a:ext cx="5821680" cy="4251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7A2854-8829-CEF7-3A7E-38A8DBB475FC}"/>
              </a:ext>
            </a:extLst>
          </p:cNvPr>
          <p:cNvSpPr txBox="1"/>
          <p:nvPr/>
        </p:nvSpPr>
        <p:spPr>
          <a:xfrm>
            <a:off x="6096000" y="1234440"/>
            <a:ext cx="60960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Home </a:t>
            </a:r>
            <a:r>
              <a:rPr lang="ko-KR" altLang="en-US" dirty="0"/>
              <a:t>및 </a:t>
            </a:r>
            <a:r>
              <a:rPr lang="en-US" altLang="ko-KR" dirty="0"/>
              <a:t>Alarm : </a:t>
            </a:r>
            <a:r>
              <a:rPr lang="ko-KR" altLang="ko-KR" dirty="0"/>
              <a:t>초기 상태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1. Home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화면 진입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우측 상단 </a:t>
            </a: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GEM Status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확인 </a:t>
            </a: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Disabled/On-line Local / Initializing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latinLnBrk="1">
              <a:spcAft>
                <a:spcPts val="800"/>
              </a:spcAft>
              <a:buNone/>
            </a:pPr>
            <a:endParaRPr lang="en-US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좌측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INS, WFC, FI, IO, WH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Running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여부 확인</a:t>
            </a:r>
            <a:endParaRPr lang="en-US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latinLnBrk="1">
              <a:spcAft>
                <a:spcPts val="800"/>
              </a:spcAft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Running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이면 정상 구동 상태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9285E1-4227-C54D-7C6A-C7E138E75DF5}"/>
              </a:ext>
            </a:extLst>
          </p:cNvPr>
          <p:cNvSpPr/>
          <p:nvPr/>
        </p:nvSpPr>
        <p:spPr>
          <a:xfrm>
            <a:off x="4729018" y="1372274"/>
            <a:ext cx="1366982" cy="6504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0EB05C-0CA0-B4D7-3BAF-A277A67D1F94}"/>
              </a:ext>
            </a:extLst>
          </p:cNvPr>
          <p:cNvSpPr/>
          <p:nvPr/>
        </p:nvSpPr>
        <p:spPr>
          <a:xfrm>
            <a:off x="274319" y="2106565"/>
            <a:ext cx="2080953" cy="1005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870EAD7F-6261-D249-8825-38BDA48CB6AA}"/>
              </a:ext>
            </a:extLst>
          </p:cNvPr>
          <p:cNvCxnSpPr>
            <a:stCxn id="4" idx="3"/>
          </p:cNvCxnSpPr>
          <p:nvPr/>
        </p:nvCxnSpPr>
        <p:spPr>
          <a:xfrm>
            <a:off x="2355272" y="2609485"/>
            <a:ext cx="3740728" cy="1057351"/>
          </a:xfrm>
          <a:prstGeom prst="bentConnector3">
            <a:avLst>
              <a:gd name="adj1" fmla="val 2777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6E0F5C0-FFC0-AFD8-C4B0-0813E0A51F04}"/>
              </a:ext>
            </a:extLst>
          </p:cNvPr>
          <p:cNvCxnSpPr>
            <a:cxnSpLocks/>
          </p:cNvCxnSpPr>
          <p:nvPr/>
        </p:nvCxnSpPr>
        <p:spPr>
          <a:xfrm>
            <a:off x="4729018" y="2022764"/>
            <a:ext cx="1366982" cy="1922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CCF249-1BFC-8829-45DF-2FAA43048F46}"/>
              </a:ext>
            </a:extLst>
          </p:cNvPr>
          <p:cNvSpPr txBox="1"/>
          <p:nvPr/>
        </p:nvSpPr>
        <p:spPr>
          <a:xfrm>
            <a:off x="274319" y="5537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initialize</a:t>
            </a:r>
            <a:r>
              <a:rPr lang="ko-KR" altLang="en-US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전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40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F3744-E721-C9A8-6FB6-6944DF9E4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61A8B-62D3-BB02-18C1-02A73F54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1. Initialization Step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755170-B967-A490-DF49-81268F7BE003}"/>
              </a:ext>
            </a:extLst>
          </p:cNvPr>
          <p:cNvSpPr txBox="1"/>
          <p:nvPr/>
        </p:nvSpPr>
        <p:spPr>
          <a:xfrm>
            <a:off x="6096000" y="1234440"/>
            <a:ext cx="60960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Home </a:t>
            </a:r>
            <a:r>
              <a:rPr lang="ko-KR" altLang="en-US" dirty="0"/>
              <a:t>및 </a:t>
            </a:r>
            <a:r>
              <a:rPr lang="en-US" altLang="ko-KR" dirty="0"/>
              <a:t>Alarm : </a:t>
            </a:r>
            <a:r>
              <a:rPr lang="ko-KR" altLang="ko-KR" dirty="0"/>
              <a:t>초기 상태 확인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1. Home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화면 진입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우측 상단 </a:t>
            </a: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GEM Status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확인 </a:t>
            </a: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Disabled/On-line Local / Initializing </a:t>
            </a:r>
            <a:r>
              <a:rPr lang="ko-KR" altLang="en-US" kern="100" dirty="0"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latinLnBrk="1">
              <a:spcAft>
                <a:spcPts val="800"/>
              </a:spcAft>
              <a:buNone/>
            </a:pPr>
            <a:endParaRPr lang="en-US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좌측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확인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INS, WFC, FI, IO, WH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확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인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Running </a:t>
            </a:r>
            <a:r>
              <a:rPr lang="ko-KR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상태 여부 확인</a:t>
            </a:r>
            <a:endParaRPr lang="en-US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latinLnBrk="1">
              <a:spcAft>
                <a:spcPts val="800"/>
              </a:spcAft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Component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Running</a:t>
            </a:r>
            <a:r>
              <a:rPr lang="ko-KR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이면 정상 구동 상태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7D09BE-868D-3653-CA35-472ACE03D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8" y="1234440"/>
            <a:ext cx="5821680" cy="4236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F1BA50-BCC1-B923-91D7-75D461CF5E00}"/>
              </a:ext>
            </a:extLst>
          </p:cNvPr>
          <p:cNvSpPr txBox="1"/>
          <p:nvPr/>
        </p:nvSpPr>
        <p:spPr>
          <a:xfrm>
            <a:off x="274319" y="5537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→ initialize</a:t>
            </a:r>
            <a:r>
              <a:rPr lang="ko-KR" altLang="en-US" sz="1800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완료</a:t>
            </a:r>
            <a:endParaRPr lang="en-US" altLang="ko-KR" kern="1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76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8EEB-9929-BEC0-CFE4-84D28715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96387-A994-32B6-2224-B655F690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 dirty="0"/>
              <a:t>2. Recipe Step : 1. Wafer Scan Information Submit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0E7CF-75EB-884E-4400-0ADB47E37FDC}"/>
                  </a:ext>
                </a:extLst>
              </p:cNvPr>
              <p:cNvSpPr txBox="1"/>
              <p:nvPr/>
            </p:nvSpPr>
            <p:spPr>
              <a:xfrm>
                <a:off x="6096000" y="1234440"/>
                <a:ext cx="6096000" cy="5622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1. Setup Recipe</a:t>
                </a:r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WS Recipes </a:t>
                </a:r>
                <a:r>
                  <a:rPr lang="ko-KR" altLang="en-US" sz="1400" dirty="0"/>
                  <a:t>메뉴 진입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2. Wafer </a:t>
                </a:r>
                <a:r>
                  <a:rPr lang="ko-KR" altLang="en-US" sz="1400" dirty="0"/>
                  <a:t>정보 입력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Wafer ID : Recipe name </a:t>
                </a:r>
                <a:r>
                  <a:rPr lang="ko-KR" altLang="en-US" sz="1400" dirty="0"/>
                  <a:t>입력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Description </a:t>
                </a:r>
                <a:r>
                  <a:rPr lang="ko-KR" altLang="en-US" sz="1400" dirty="0"/>
                  <a:t>입력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3. X-ray </a:t>
                </a:r>
                <a:r>
                  <a:rPr lang="ko-KR" altLang="en-US" sz="1400" dirty="0"/>
                  <a:t>조건 설정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Voltage </a:t>
                </a:r>
                <a:r>
                  <a:rPr lang="ko-KR" altLang="en-US" sz="1400" dirty="0"/>
                  <a:t>설정 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초기 값 </a:t>
                </a:r>
                <a:r>
                  <a:rPr lang="en-US" altLang="ko-KR" sz="1400" dirty="0"/>
                  <a:t>60kV) </a:t>
                </a:r>
                <a:br>
                  <a:rPr lang="en-US" altLang="ko-KR" sz="1400" dirty="0"/>
                </a:br>
                <a:r>
                  <a:rPr lang="en-US" altLang="ko-KR" sz="1400" dirty="0"/>
                  <a:t>: </a:t>
                </a:r>
                <a:r>
                  <a:rPr lang="ko-KR" altLang="en-US" sz="1400" dirty="0"/>
                  <a:t>빛의 투과세기 조절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Power </a:t>
                </a:r>
                <a:r>
                  <a:rPr lang="ko-KR" altLang="en-US" sz="1400" dirty="0"/>
                  <a:t>설정</a:t>
                </a:r>
                <a:r>
                  <a:rPr lang="en-US" altLang="ko-KR" sz="1400" dirty="0"/>
                  <a:t> (</a:t>
                </a:r>
                <a:r>
                  <a:rPr lang="ko-KR" altLang="en-US" sz="1400" dirty="0"/>
                  <a:t>초기 값 </a:t>
                </a:r>
                <a:r>
                  <a:rPr lang="en-US" altLang="ko-KR" sz="1400" dirty="0"/>
                  <a:t>4W)</a:t>
                </a:r>
                <a:br>
                  <a:rPr lang="en-US" altLang="ko-KR" sz="1400" dirty="0"/>
                </a:br>
                <a:r>
                  <a:rPr lang="en-US" altLang="ko-KR" sz="1400" dirty="0"/>
                  <a:t>: </a:t>
                </a:r>
                <a:r>
                  <a:rPr lang="ko-KR" altLang="en-US" sz="1400" dirty="0"/>
                  <a:t>빛의 세기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밝기 조절에 따라 </a:t>
                </a:r>
                <a:r>
                  <a:rPr lang="ko-KR" altLang="en-US" sz="1400" dirty="0" err="1"/>
                  <a:t>검출력</a:t>
                </a:r>
                <a:r>
                  <a:rPr lang="ko-KR" altLang="en-US" sz="1400" dirty="0"/>
                  <a:t> 변화 발생</a:t>
                </a:r>
                <a:r>
                  <a:rPr lang="en-US" altLang="ko-KR" sz="1400" dirty="0"/>
                  <a:t>)</a:t>
                </a:r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Frame Average </a:t>
                </a:r>
                <a:r>
                  <a:rPr lang="ko-KR" altLang="en-US" sz="1400" dirty="0"/>
                  <a:t>설정 </a:t>
                </a:r>
                <a:br>
                  <a:rPr lang="en-US" altLang="ko-KR" sz="1400" dirty="0"/>
                </a:br>
                <a:r>
                  <a:rPr lang="en-US" altLang="ko-KR" sz="1400" dirty="0"/>
                  <a:t>: bump </a:t>
                </a:r>
                <a:r>
                  <a:rPr lang="ko-KR" altLang="ko-KR" sz="1400" dirty="0"/>
                  <a:t>하나당 찍혀지는 이미지의 개수</a:t>
                </a:r>
                <a:r>
                  <a:rPr lang="en-US" altLang="ko-KR" sz="1400" dirty="0"/>
                  <a:t>,</a:t>
                </a:r>
                <a:r>
                  <a:rPr lang="ko-KR" altLang="ko-KR" sz="1400" dirty="0"/>
                  <a:t> 클수록 </a:t>
                </a:r>
                <a:r>
                  <a:rPr lang="ko-KR" altLang="en-US" sz="1400" dirty="0"/>
                  <a:t>더 </a:t>
                </a:r>
                <a:r>
                  <a:rPr lang="ko-KR" altLang="ko-KR" sz="1400" dirty="0"/>
                  <a:t>많은 이미지가 겹쳐지므로 선명한 사진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가능하지만 검사 시간 증가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Resolution </a:t>
                </a:r>
                <a:r>
                  <a:rPr lang="ko-KR" altLang="en-US" sz="1400" dirty="0"/>
                  <a:t>설정</a:t>
                </a: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endParaRPr lang="en-US" altLang="ko-KR" sz="1400" dirty="0"/>
              </a:p>
              <a:p>
                <a:pPr latinLnBrk="1">
                  <a:spcAft>
                    <a:spcPts val="800"/>
                  </a:spcAft>
                </a:pPr>
                <a:r>
                  <a:rPr lang="en-US" altLang="ko-KR" sz="1400" dirty="0"/>
                  <a:t>4. Recipe </a:t>
                </a:r>
                <a:r>
                  <a:rPr lang="ko-KR" altLang="en-US" sz="1400" dirty="0"/>
                  <a:t>생성</a:t>
                </a:r>
                <a:endParaRPr lang="en-US" altLang="ko-KR" sz="1400" dirty="0"/>
              </a:p>
              <a:p>
                <a:pPr marL="800100" lvl="1" indent="-342900" latinLnBrk="1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en-US" altLang="ko-KR" sz="1400" dirty="0"/>
                  <a:t>Create WS Recipe </a:t>
                </a:r>
                <a:r>
                  <a:rPr lang="ko-KR" altLang="en-US" sz="1400" dirty="0"/>
                  <a:t>클릭</a:t>
                </a:r>
                <a:endParaRPr lang="ko-KR" altLang="ko-KR" sz="1400" kern="1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20E7CF-75EB-884E-4400-0ADB47E3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34440"/>
                <a:ext cx="6096000" cy="5622052"/>
              </a:xfrm>
              <a:prstGeom prst="rect">
                <a:avLst/>
              </a:prstGeom>
              <a:blipFill>
                <a:blip r:embed="rId2"/>
                <a:stretch>
                  <a:fillRect l="-300" t="-217" b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72660E54-3847-AC1F-D265-6DAFE354D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2210" cy="315976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25A2F42-B491-4DD4-FD64-BBC256963089}"/>
              </a:ext>
            </a:extLst>
          </p:cNvPr>
          <p:cNvSpPr/>
          <p:nvPr/>
        </p:nvSpPr>
        <p:spPr>
          <a:xfrm>
            <a:off x="3263900" y="1466850"/>
            <a:ext cx="469900" cy="152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F05B41-9585-9F97-228F-46F3F9E16E51}"/>
              </a:ext>
            </a:extLst>
          </p:cNvPr>
          <p:cNvSpPr/>
          <p:nvPr/>
        </p:nvSpPr>
        <p:spPr>
          <a:xfrm>
            <a:off x="876300" y="1988432"/>
            <a:ext cx="1962150" cy="457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642763-26C0-8056-66E2-E6C7C53A8780}"/>
              </a:ext>
            </a:extLst>
          </p:cNvPr>
          <p:cNvSpPr/>
          <p:nvPr/>
        </p:nvSpPr>
        <p:spPr>
          <a:xfrm>
            <a:off x="876300" y="2967107"/>
            <a:ext cx="1962150" cy="539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F378AB-272D-50F0-8BA8-050E9319CB50}"/>
              </a:ext>
            </a:extLst>
          </p:cNvPr>
          <p:cNvSpPr/>
          <p:nvPr/>
        </p:nvSpPr>
        <p:spPr>
          <a:xfrm>
            <a:off x="1524000" y="4028246"/>
            <a:ext cx="901700" cy="2326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67983EA5-EFE3-F7AE-CE9C-4D09A30ED508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4761346" y="132196"/>
            <a:ext cx="72159" cy="259715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6C226B7-F887-5730-6252-839A62305572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3001588" y="3234112"/>
            <a:ext cx="2075295" cy="412877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81C0184-DA45-2EE9-1105-663B3479827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838450" y="2217075"/>
            <a:ext cx="3265170" cy="12008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49D0AAA-F0C0-819F-1973-63EEE4929C93}"/>
              </a:ext>
            </a:extLst>
          </p:cNvPr>
          <p:cNvCxnSpPr>
            <a:cxnSpLocks/>
          </p:cNvCxnSpPr>
          <p:nvPr/>
        </p:nvCxnSpPr>
        <p:spPr>
          <a:xfrm>
            <a:off x="2838452" y="3279631"/>
            <a:ext cx="3265168" cy="30729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입력값 출처 = Recipe_Model.xlsx [레시피계산] 시트 · 취득 세트: kV(엑셀값)/Power 4W/Frame 32/Resolution(R_acq) · Bump/Die/Pitch = 도면값 그대로</a:t>
            </a:r>
          </a:p>
        </p:txBody>
      </p:sp>
    </p:spTree>
    <p:extLst>
      <p:ext uri="{BB962C8B-B14F-4D97-AF65-F5344CB8AC3E}">
        <p14:creationId xmlns:p14="http://schemas.microsoft.com/office/powerpoint/2010/main" val="228802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01D0-95DF-9251-C9F9-32EF97E7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A4B85-D5DE-638C-BBCD-7AC0DDA1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/>
          <a:lstStyle/>
          <a:p>
            <a:r>
              <a:rPr lang="en-US" altLang="ko-KR"/>
              <a:t>2. Recipe Step : 1. Wafer Scan Information Submit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33745-3C03-478C-3174-A0E494C7B926}"/>
              </a:ext>
            </a:extLst>
          </p:cNvPr>
          <p:cNvSpPr txBox="1"/>
          <p:nvPr/>
        </p:nvSpPr>
        <p:spPr>
          <a:xfrm>
            <a:off x="6096000" y="123444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참고 사항 </a:t>
            </a:r>
            <a:r>
              <a:rPr lang="en-US" altLang="ko-KR" sz="1400" b="1" dirty="0"/>
              <a:t>:  </a:t>
            </a: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Power </a:t>
            </a:r>
            <a:r>
              <a:rPr lang="ko-KR" altLang="en-US" sz="1400" dirty="0"/>
              <a:t>설정에 따른 </a:t>
            </a:r>
            <a:r>
              <a:rPr lang="ko-KR" altLang="en-US" sz="1400" dirty="0" err="1"/>
              <a:t>검출력</a:t>
            </a:r>
            <a:r>
              <a:rPr lang="ko-KR" altLang="en-US" sz="1400" dirty="0"/>
              <a:t> 변화 예시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동일 </a:t>
            </a:r>
            <a:r>
              <a:rPr lang="en-US" altLang="ko-KR" sz="1400" dirty="0"/>
              <a:t>sample</a:t>
            </a:r>
            <a:r>
              <a:rPr lang="ko-KR" altLang="en-US" sz="1400" dirty="0"/>
              <a:t>에 대해 </a:t>
            </a:r>
            <a:r>
              <a:rPr lang="en-US" altLang="ko-KR" sz="1400" dirty="0"/>
              <a:t>power = 4w, power = 5w</a:t>
            </a:r>
            <a:r>
              <a:rPr lang="ko-KR" altLang="en-US" sz="1400" dirty="0"/>
              <a:t> 차이</a:t>
            </a:r>
            <a:endParaRPr lang="en-US" altLang="ko-KR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811672-6E93-8C77-E885-1464FE2A6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6" r="22034" b="3939"/>
          <a:stretch>
            <a:fillRect/>
          </a:stretch>
        </p:blipFill>
        <p:spPr>
          <a:xfrm>
            <a:off x="1389961" y="1234438"/>
            <a:ext cx="3590925" cy="3623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BABF94-D9AE-C6A8-9957-E62483A83E58}"/>
              </a:ext>
            </a:extLst>
          </p:cNvPr>
          <p:cNvSpPr txBox="1"/>
          <p:nvPr/>
        </p:nvSpPr>
        <p:spPr>
          <a:xfrm>
            <a:off x="3188654" y="4857748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/>
              <a:t>power = 4w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E916B-E961-FB10-56C2-F690F98B6008}"/>
              </a:ext>
            </a:extLst>
          </p:cNvPr>
          <p:cNvSpPr txBox="1"/>
          <p:nvPr/>
        </p:nvSpPr>
        <p:spPr>
          <a:xfrm>
            <a:off x="1498976" y="4857748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/>
              <a:t>power = 5w</a:t>
            </a:r>
            <a:r>
              <a:rPr lang="ko-KR" altLang="en-US" sz="1800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332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6A86-C265-CCA9-1BCD-FD9E4231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2496D127-C2FF-68C2-9C97-020ABBCDD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25" b="5040"/>
          <a:stretch>
            <a:fillRect/>
          </a:stretch>
        </p:blipFill>
        <p:spPr>
          <a:xfrm>
            <a:off x="280181" y="5271433"/>
            <a:ext cx="5833407" cy="3521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C51F4A-80C1-5D17-5014-D2F2ADD5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2. Image Acquisition </a:t>
            </a:r>
            <a:r>
              <a:rPr lang="ko-KR" altLang="en-US" dirty="0"/>
              <a:t>실행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3990E-F3FC-10C6-9130-6F8753ED23E4}"/>
              </a:ext>
            </a:extLst>
          </p:cNvPr>
          <p:cNvSpPr txBox="1"/>
          <p:nvPr/>
        </p:nvSpPr>
        <p:spPr>
          <a:xfrm>
            <a:off x="6096000" y="1234440"/>
            <a:ext cx="60960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Jobs </a:t>
            </a:r>
            <a:r>
              <a:rPr lang="ko-KR" altLang="en-US" dirty="0"/>
              <a:t>메뉴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Manual Process start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Image Acquisition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Recipe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WS Recipe </a:t>
            </a:r>
            <a:r>
              <a:rPr lang="ko-KR" altLang="en-US" dirty="0"/>
              <a:t>선택 </a:t>
            </a:r>
            <a:br>
              <a:rPr lang="en-US" altLang="ko-KR" dirty="0"/>
            </a:br>
            <a:r>
              <a:rPr lang="en-US" altLang="ko-KR" dirty="0"/>
              <a:t>  → Recipe name </a:t>
            </a:r>
            <a:r>
              <a:rPr lang="ko-KR" altLang="en-US" dirty="0"/>
              <a:t>선택</a:t>
            </a:r>
            <a:r>
              <a:rPr lang="en-US" altLang="ko-KR" dirty="0"/>
              <a:t>(4.page </a:t>
            </a:r>
            <a:r>
              <a:rPr lang="ko-KR" altLang="en-US" dirty="0"/>
              <a:t>참고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Slot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검사 </a:t>
            </a:r>
            <a:r>
              <a:rPr lang="en-US" altLang="ko-KR" dirty="0"/>
              <a:t>Slot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Re-use Carrier </a:t>
            </a:r>
            <a:r>
              <a:rPr lang="ko-KR" altLang="en-US" dirty="0"/>
              <a:t>선택</a:t>
            </a:r>
            <a:r>
              <a:rPr lang="en-US" altLang="ko-KR" dirty="0"/>
              <a:t>(</a:t>
            </a:r>
            <a:r>
              <a:rPr lang="ko-KR" altLang="en-US" dirty="0"/>
              <a:t>새로운 </a:t>
            </a:r>
            <a:r>
              <a:rPr lang="en-US" altLang="ko-KR" dirty="0"/>
              <a:t>FOUP</a:t>
            </a:r>
            <a:r>
              <a:rPr lang="ko-KR" altLang="en-US" dirty="0"/>
              <a:t>인 경우 생략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Start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9908E3-EB59-B012-D65D-25D4A1DA9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83" y="1252911"/>
            <a:ext cx="5833407" cy="32799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623CAF-2B09-52F6-7C3C-DD8FF7C4A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70"/>
          <a:stretch>
            <a:fillRect/>
          </a:stretch>
        </p:blipFill>
        <p:spPr>
          <a:xfrm>
            <a:off x="280183" y="2240280"/>
            <a:ext cx="5833407" cy="303115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744BB9-3AF0-6739-7D30-BEDA8FBA7EFA}"/>
              </a:ext>
            </a:extLst>
          </p:cNvPr>
          <p:cNvSpPr/>
          <p:nvPr/>
        </p:nvSpPr>
        <p:spPr>
          <a:xfrm>
            <a:off x="623084" y="1724657"/>
            <a:ext cx="281940" cy="245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6FCA8789-11DF-9675-A935-CA87B17F7608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905024" y="1457958"/>
            <a:ext cx="5208566" cy="38939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BA47B3-13F8-CD12-6CF3-9C1B5948863E}"/>
              </a:ext>
            </a:extLst>
          </p:cNvPr>
          <p:cNvSpPr/>
          <p:nvPr/>
        </p:nvSpPr>
        <p:spPr>
          <a:xfrm>
            <a:off x="1369451" y="3286512"/>
            <a:ext cx="551180" cy="142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8D2092-66F5-FA9A-9BCD-B60543F4D4F2}"/>
              </a:ext>
            </a:extLst>
          </p:cNvPr>
          <p:cNvSpPr/>
          <p:nvPr/>
        </p:nvSpPr>
        <p:spPr>
          <a:xfrm>
            <a:off x="623084" y="3608546"/>
            <a:ext cx="2430780" cy="167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145E7F0-3DB8-B21E-2A2E-AC96AE727718}"/>
              </a:ext>
            </a:extLst>
          </p:cNvPr>
          <p:cNvCxnSpPr>
            <a:cxnSpLocks/>
          </p:cNvCxnSpPr>
          <p:nvPr/>
        </p:nvCxnSpPr>
        <p:spPr>
          <a:xfrm flipV="1">
            <a:off x="3062660" y="4318390"/>
            <a:ext cx="3047999" cy="95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F0D581-7851-141B-548F-5B533CDA0BEC}"/>
              </a:ext>
            </a:extLst>
          </p:cNvPr>
          <p:cNvSpPr/>
          <p:nvPr/>
        </p:nvSpPr>
        <p:spPr>
          <a:xfrm>
            <a:off x="623084" y="1970056"/>
            <a:ext cx="878056" cy="120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62123D6-7C39-BAA9-DFC9-1E29B16A2074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455701" y="359886"/>
            <a:ext cx="1115967" cy="47372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312E631-BE40-B9E6-7D12-B962C0C4D354}"/>
              </a:ext>
            </a:extLst>
          </p:cNvPr>
          <p:cNvCxnSpPr>
            <a:cxnSpLocks/>
          </p:cNvCxnSpPr>
          <p:nvPr/>
        </p:nvCxnSpPr>
        <p:spPr>
          <a:xfrm flipV="1">
            <a:off x="3062660" y="2900099"/>
            <a:ext cx="3050930" cy="61145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D8C426-6553-6056-AC07-A0694218A3A2}"/>
              </a:ext>
            </a:extLst>
          </p:cNvPr>
          <p:cNvSpPr/>
          <p:nvPr/>
        </p:nvSpPr>
        <p:spPr>
          <a:xfrm>
            <a:off x="342414" y="5356860"/>
            <a:ext cx="1707366" cy="148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40D86947-FBBE-07A6-BDDA-8E26BBB235FB}"/>
              </a:ext>
            </a:extLst>
          </p:cNvPr>
          <p:cNvSpPr/>
          <p:nvPr/>
        </p:nvSpPr>
        <p:spPr>
          <a:xfrm>
            <a:off x="376238" y="3301754"/>
            <a:ext cx="2677625" cy="254494"/>
          </a:xfrm>
          <a:custGeom>
            <a:avLst/>
            <a:gdLst>
              <a:gd name="csX0" fmla="*/ 0 w 2677625"/>
              <a:gd name="csY0" fmla="*/ 0 h 254494"/>
              <a:gd name="csX1" fmla="*/ 264392 w 2677625"/>
              <a:gd name="csY1" fmla="*/ 0 h 254494"/>
              <a:gd name="csX2" fmla="*/ 264392 w 2677625"/>
              <a:gd name="csY2" fmla="*/ 137848 h 254494"/>
              <a:gd name="csX3" fmla="*/ 2677625 w 2677625"/>
              <a:gd name="csY3" fmla="*/ 137848 h 254494"/>
              <a:gd name="csX4" fmla="*/ 2677625 w 2677625"/>
              <a:gd name="csY4" fmla="*/ 254494 h 254494"/>
              <a:gd name="csX5" fmla="*/ 264392 w 2677625"/>
              <a:gd name="csY5" fmla="*/ 254494 h 254494"/>
              <a:gd name="csX6" fmla="*/ 0 w 2677625"/>
              <a:gd name="csY6" fmla="*/ 254494 h 25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77625" h="254494">
                <a:moveTo>
                  <a:pt x="0" y="0"/>
                </a:moveTo>
                <a:lnTo>
                  <a:pt x="264392" y="0"/>
                </a:lnTo>
                <a:lnTo>
                  <a:pt x="264392" y="137848"/>
                </a:lnTo>
                <a:lnTo>
                  <a:pt x="2677625" y="137848"/>
                </a:lnTo>
                <a:lnTo>
                  <a:pt x="2677625" y="254494"/>
                </a:lnTo>
                <a:lnTo>
                  <a:pt x="264392" y="254494"/>
                </a:lnTo>
                <a:lnTo>
                  <a:pt x="0" y="254494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665092F-445D-EF43-64EC-6876CDC79B45}"/>
              </a:ext>
            </a:extLst>
          </p:cNvPr>
          <p:cNvCxnSpPr>
            <a:cxnSpLocks/>
            <a:endCxn id="32" idx="3"/>
          </p:cNvCxnSpPr>
          <p:nvPr/>
        </p:nvCxnSpPr>
        <p:spPr>
          <a:xfrm>
            <a:off x="2035121" y="5431109"/>
            <a:ext cx="4078467" cy="163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완료되면 X-ray lamp가 꺼집니다 (R 설정에 따라 약 5~30분) — lamp 꺼진 것 확인 후 다음 단계로</a:t>
            </a:r>
          </a:p>
        </p:txBody>
      </p:sp>
    </p:spTree>
    <p:extLst>
      <p:ext uri="{BB962C8B-B14F-4D97-AF65-F5344CB8AC3E}">
        <p14:creationId xmlns:p14="http://schemas.microsoft.com/office/powerpoint/2010/main" val="309899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1237-13D6-8F51-A96F-81086782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695C1-1583-9613-3A69-F8B8B096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3. Image Acquisition </a:t>
            </a:r>
            <a:r>
              <a:rPr lang="ko-KR" altLang="en-US" dirty="0"/>
              <a:t>진행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D66B0-4849-28BB-4587-3AB0ECC0AF05}"/>
              </a:ext>
            </a:extLst>
          </p:cNvPr>
          <p:cNvSpPr txBox="1"/>
          <p:nvPr/>
        </p:nvSpPr>
        <p:spPr>
          <a:xfrm>
            <a:off x="6096000" y="123444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Analyzer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X-ray </a:t>
            </a:r>
            <a:r>
              <a:rPr lang="ko-KR" altLang="en-US" dirty="0"/>
              <a:t>이미지 생성 확인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Camera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Wafer </a:t>
            </a:r>
            <a:r>
              <a:rPr lang="ko-KR" altLang="en-US" dirty="0"/>
              <a:t>위치 및 이동 확인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완료 대기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Image Acquisition </a:t>
            </a:r>
            <a:r>
              <a:rPr lang="ko-KR" altLang="en-US" dirty="0"/>
              <a:t>완료까지 대기 </a:t>
            </a:r>
            <a:r>
              <a:rPr lang="en-US" altLang="ko-KR" dirty="0"/>
              <a:t>(</a:t>
            </a:r>
            <a:r>
              <a:rPr lang="ko-KR" altLang="en-US" dirty="0"/>
              <a:t>대략</a:t>
            </a:r>
            <a:r>
              <a:rPr lang="en-US" altLang="ko-KR" dirty="0"/>
              <a:t> 30</a:t>
            </a:r>
            <a:r>
              <a:rPr lang="ko-KR" altLang="en-US" dirty="0"/>
              <a:t>분 소요</a:t>
            </a:r>
            <a:r>
              <a:rPr lang="en-US" altLang="ko-KR" dirty="0"/>
              <a:t>)</a:t>
            </a:r>
          </a:p>
          <a:p>
            <a:pPr marL="342900" indent="-342900" latinLnBrk="1">
              <a:spcAft>
                <a:spcPts val="800"/>
              </a:spcAft>
              <a:buFont typeface="+mj-lt"/>
              <a:buAutoNum type="arabicParenR"/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* </a:t>
            </a:r>
            <a:r>
              <a:rPr lang="ko-KR" altLang="en-US" dirty="0"/>
              <a:t>진행이 완료되면 </a:t>
            </a:r>
            <a:r>
              <a:rPr lang="en-US" altLang="ko-KR" dirty="0"/>
              <a:t>x-ray lamp</a:t>
            </a:r>
            <a:r>
              <a:rPr lang="ko-KR" altLang="en-US" dirty="0"/>
              <a:t>가 꺼짐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E97B97-EDDF-D2F0-3C8B-96461B3ED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9634" cy="31546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44E5CED-A47F-4658-FB9D-99D607AA9BD7}"/>
              </a:ext>
            </a:extLst>
          </p:cNvPr>
          <p:cNvSpPr/>
          <p:nvPr/>
        </p:nvSpPr>
        <p:spPr>
          <a:xfrm>
            <a:off x="438150" y="2139950"/>
            <a:ext cx="3213100" cy="217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65C434-C95F-923A-32B3-43BAF80FA5FF}"/>
              </a:ext>
            </a:extLst>
          </p:cNvPr>
          <p:cNvSpPr/>
          <p:nvPr/>
        </p:nvSpPr>
        <p:spPr>
          <a:xfrm>
            <a:off x="3651250" y="2571750"/>
            <a:ext cx="2444750" cy="181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F5426733-64CC-734C-B15A-D341A9C4DAA1}"/>
              </a:ext>
            </a:extLst>
          </p:cNvPr>
          <p:cNvCxnSpPr>
            <a:stCxn id="3" idx="0"/>
          </p:cNvCxnSpPr>
          <p:nvPr/>
        </p:nvCxnSpPr>
        <p:spPr>
          <a:xfrm rot="5400000" flipH="1" flipV="1">
            <a:off x="3711575" y="-244475"/>
            <a:ext cx="717550" cy="405130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68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3646-9F58-FBFC-43AE-FCED3085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51B23-E991-C9C8-4D40-4FF129B4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4. WS Data Load (Load 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E7962-F609-972F-33F2-6142858EF024}"/>
              </a:ext>
            </a:extLst>
          </p:cNvPr>
          <p:cNvSpPr txBox="1"/>
          <p:nvPr/>
        </p:nvSpPr>
        <p:spPr>
          <a:xfrm>
            <a:off x="6096000" y="1234440"/>
            <a:ext cx="60960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Load </a:t>
            </a:r>
            <a:r>
              <a:rPr lang="ko-KR" altLang="en-US" dirty="0"/>
              <a:t>메뉴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Recipe name </a:t>
            </a:r>
            <a:r>
              <a:rPr lang="ko-KR" altLang="en-US" dirty="0"/>
              <a:t>하위 항목인 </a:t>
            </a:r>
            <a:r>
              <a:rPr lang="en-US" altLang="ko-KR" dirty="0"/>
              <a:t>Recipe </a:t>
            </a:r>
            <a:r>
              <a:rPr lang="en-US" altLang="ko-KR" dirty="0" err="1"/>
              <a:t>name_Base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Ok</a:t>
            </a:r>
            <a:r>
              <a:rPr lang="ko-KR" altLang="en-US" dirty="0"/>
              <a:t> 클릭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우측 상단에 </a:t>
            </a:r>
            <a:r>
              <a:rPr lang="en-US" altLang="ko-KR" dirty="0"/>
              <a:t>Recipe </a:t>
            </a:r>
            <a:r>
              <a:rPr lang="en-US" altLang="ko-KR" dirty="0" err="1"/>
              <a:t>name_Base</a:t>
            </a:r>
            <a:r>
              <a:rPr lang="ko-KR" altLang="en-US" dirty="0"/>
              <a:t>로 바뀌었는지</a:t>
            </a:r>
            <a:br>
              <a:rPr lang="en-US" altLang="ko-KR" dirty="0"/>
            </a:br>
            <a:r>
              <a:rPr lang="ko-KR" altLang="en-US" dirty="0"/>
              <a:t>확인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763396-6551-E2CE-B846-77E1D1FB2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38743"/>
            <a:ext cx="5821679" cy="315037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E21A30F-6F38-E486-2DA0-5ECDFE7E7F1E}"/>
              </a:ext>
            </a:extLst>
          </p:cNvPr>
          <p:cNvSpPr/>
          <p:nvPr/>
        </p:nvSpPr>
        <p:spPr>
          <a:xfrm>
            <a:off x="259080" y="1772145"/>
            <a:ext cx="952501" cy="327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43F1C-E902-D0C8-E21E-224C42DBC704}"/>
              </a:ext>
            </a:extLst>
          </p:cNvPr>
          <p:cNvSpPr txBox="1"/>
          <p:nvPr/>
        </p:nvSpPr>
        <p:spPr>
          <a:xfrm>
            <a:off x="403861" y="2479316"/>
            <a:ext cx="341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스캔 완료 시 </a:t>
            </a:r>
            <a:r>
              <a:rPr lang="en-US" altLang="ko-KR" sz="1400" dirty="0"/>
              <a:t>Recipe </a:t>
            </a:r>
            <a:r>
              <a:rPr lang="en-US" altLang="ko-KR" sz="1400" dirty="0" err="1"/>
              <a:t>name_Base</a:t>
            </a:r>
            <a:r>
              <a:rPr lang="ko-KR" altLang="en-US" sz="1400" dirty="0"/>
              <a:t>로 </a:t>
            </a:r>
            <a:endParaRPr lang="en-US" altLang="ko-KR" sz="1400" dirty="0"/>
          </a:p>
          <a:p>
            <a:r>
              <a:rPr lang="ko-KR" altLang="en-US" sz="1400" dirty="0"/>
              <a:t>목록 생성 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3BA5227-68B2-8897-DC23-E7324603A261}"/>
              </a:ext>
            </a:extLst>
          </p:cNvPr>
          <p:cNvCxnSpPr>
            <a:stCxn id="3" idx="2"/>
          </p:cNvCxnSpPr>
          <p:nvPr/>
        </p:nvCxnSpPr>
        <p:spPr>
          <a:xfrm flipH="1">
            <a:off x="735330" y="2099805"/>
            <a:ext cx="1" cy="335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B95ED1-7CD7-62B0-B88F-4DC6DEF56625}"/>
              </a:ext>
            </a:extLst>
          </p:cNvPr>
          <p:cNvSpPr/>
          <p:nvPr/>
        </p:nvSpPr>
        <p:spPr>
          <a:xfrm>
            <a:off x="335281" y="4012425"/>
            <a:ext cx="2796540" cy="2209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E64FD8-674F-AD2F-A751-5E83E6502B79}"/>
              </a:ext>
            </a:extLst>
          </p:cNvPr>
          <p:cNvSpPr/>
          <p:nvPr/>
        </p:nvSpPr>
        <p:spPr>
          <a:xfrm>
            <a:off x="4610101" y="1505445"/>
            <a:ext cx="1409700" cy="106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E42D608-EE9A-F326-3BB0-C64165262B71}"/>
              </a:ext>
            </a:extLst>
          </p:cNvPr>
          <p:cNvCxnSpPr>
            <a:cxnSpLocks/>
          </p:cNvCxnSpPr>
          <p:nvPr/>
        </p:nvCxnSpPr>
        <p:spPr>
          <a:xfrm flipV="1">
            <a:off x="1291591" y="2558473"/>
            <a:ext cx="4789168" cy="145395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D15F628-4315-5A11-010E-705F2425C84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314951" y="1612125"/>
            <a:ext cx="0" cy="94634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C5954B-5500-8FFD-FC5B-FE087DD474EB}"/>
              </a:ext>
            </a:extLst>
          </p:cNvPr>
          <p:cNvSpPr/>
          <p:nvPr/>
        </p:nvSpPr>
        <p:spPr>
          <a:xfrm>
            <a:off x="1016000" y="1469427"/>
            <a:ext cx="443345" cy="1426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365760" y="45720"/>
            <a:ext cx="68580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맑은 고딕"/>
              </a:rPr>
              <a:t>[Process Eng. 작업 구간] 오퍼레이터는 이 단계 수행하지 않음 — 저장된 Recipe 사용</a:t>
            </a:r>
          </a:p>
        </p:txBody>
      </p:sp>
    </p:spTree>
    <p:extLst>
      <p:ext uri="{BB962C8B-B14F-4D97-AF65-F5344CB8AC3E}">
        <p14:creationId xmlns:p14="http://schemas.microsoft.com/office/powerpoint/2010/main" val="1831852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793C9-8965-8593-B09D-EDBA80CE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1881-D264-7F2C-755A-8D771AD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5. Wafer CAD – Load Images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03D78-F6BB-239A-D435-E226963D17D6}"/>
              </a:ext>
            </a:extLst>
          </p:cNvPr>
          <p:cNvSpPr txBox="1"/>
          <p:nvPr/>
        </p:nvSpPr>
        <p:spPr>
          <a:xfrm>
            <a:off x="6096000" y="1234440"/>
            <a:ext cx="60960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Wafer CAD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이미지 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3</a:t>
            </a:r>
            <a:r>
              <a:rPr lang="ko-KR" altLang="en-US" dirty="0"/>
              <a:t>개 </a:t>
            </a:r>
            <a:r>
              <a:rPr lang="en-US" altLang="ko-KR" dirty="0"/>
              <a:t>Step </a:t>
            </a:r>
            <a:r>
              <a:rPr lang="ko-KR" altLang="en-US" dirty="0"/>
              <a:t>체크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Load Images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E7B8FA-9355-99D9-C1ED-BA795686A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9"/>
            <a:ext cx="5833405" cy="315976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B7A3E3D-E8E7-52ED-4E47-13DB074151FC}"/>
              </a:ext>
            </a:extLst>
          </p:cNvPr>
          <p:cNvSpPr/>
          <p:nvPr/>
        </p:nvSpPr>
        <p:spPr>
          <a:xfrm>
            <a:off x="2377440" y="1478280"/>
            <a:ext cx="480060" cy="129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7FDE71-895A-80B5-8453-A751D76051B9}"/>
              </a:ext>
            </a:extLst>
          </p:cNvPr>
          <p:cNvSpPr/>
          <p:nvPr/>
        </p:nvSpPr>
        <p:spPr>
          <a:xfrm>
            <a:off x="5455920" y="1615440"/>
            <a:ext cx="651804" cy="518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65760" y="45720"/>
            <a:ext cx="68580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맑은 고딕"/>
              </a:rPr>
              <a:t>[Process Eng. 작업 구간] 오퍼레이터는 이 단계 수행하지 않음 — 저장된 Recipe 사용</a:t>
            </a:r>
          </a:p>
        </p:txBody>
      </p:sp>
    </p:spTree>
    <p:extLst>
      <p:ext uri="{BB962C8B-B14F-4D97-AF65-F5344CB8AC3E}">
        <p14:creationId xmlns:p14="http://schemas.microsoft.com/office/powerpoint/2010/main" val="4204477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3F59-19C3-9742-B607-36C33C00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6DD07-1AB2-5D3C-3380-A9DCBD13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6. Wafer CAD – Set Initial Die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BA07C-11D5-125C-46CB-CC6507CB03DE}"/>
              </a:ext>
            </a:extLst>
          </p:cNvPr>
          <p:cNvSpPr txBox="1"/>
          <p:nvPr/>
        </p:nvSpPr>
        <p:spPr>
          <a:xfrm>
            <a:off x="6096000" y="1234440"/>
            <a:ext cx="60960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</a:t>
            </a:r>
            <a:r>
              <a:rPr lang="en-US" altLang="ko-KR" dirty="0" err="1"/>
              <a:t>wsTopRight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Die </a:t>
            </a:r>
            <a:r>
              <a:rPr lang="ko-KR" altLang="en-US" dirty="0"/>
              <a:t>영역 드래그 설정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Set Initial Die</a:t>
            </a:r>
            <a:br>
              <a:rPr lang="en-US" altLang="ko-KR" dirty="0"/>
            </a:br>
            <a:r>
              <a:rPr lang="en-US" altLang="ko-KR" dirty="0"/>
              <a:t>→ Die </a:t>
            </a:r>
            <a:r>
              <a:rPr lang="ko-KR" altLang="en-US" dirty="0"/>
              <a:t>영역이 지정되고 </a:t>
            </a:r>
            <a:r>
              <a:rPr lang="en-US" altLang="ko-KR" dirty="0"/>
              <a:t>Die</a:t>
            </a:r>
            <a:r>
              <a:rPr lang="ko-KR" altLang="en-US" dirty="0"/>
              <a:t>별 번호가 표기됨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Die </a:t>
            </a:r>
            <a:r>
              <a:rPr lang="ko-KR" altLang="en-US" dirty="0"/>
              <a:t>위치</a:t>
            </a:r>
            <a:r>
              <a:rPr lang="en-US" altLang="ko-KR" dirty="0"/>
              <a:t> </a:t>
            </a:r>
            <a:r>
              <a:rPr lang="ko-KR" altLang="en-US" dirty="0"/>
              <a:t>조절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Pitch X &amp; Y, Rotation Degree </a:t>
            </a:r>
            <a:r>
              <a:rPr lang="ko-KR" altLang="en-US" dirty="0"/>
              <a:t>이용하여 파란색 영역에 </a:t>
            </a:r>
            <a:r>
              <a:rPr lang="en-US" altLang="ko-KR" dirty="0"/>
              <a:t>Die</a:t>
            </a:r>
            <a:r>
              <a:rPr lang="ko-KR" altLang="en-US" dirty="0"/>
              <a:t>가 위치하도록 조절</a:t>
            </a:r>
            <a:br>
              <a:rPr lang="en-US" altLang="ko-KR" dirty="0"/>
            </a:b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Bottom Left, Bottom Right</a:t>
            </a:r>
            <a:r>
              <a:rPr lang="ko-KR" altLang="en-US" dirty="0"/>
              <a:t>에 대해서도 위치 조절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Top Right, Bottom Left, Bottom Right</a:t>
            </a:r>
            <a:r>
              <a:rPr lang="ko-KR" altLang="en-US" dirty="0"/>
              <a:t> 모든 구역에서</a:t>
            </a:r>
            <a:r>
              <a:rPr lang="en-US" altLang="ko-KR" dirty="0"/>
              <a:t> </a:t>
            </a:r>
            <a:r>
              <a:rPr lang="ko-KR" altLang="en-US" dirty="0"/>
              <a:t>반복 확인하여 모든 </a:t>
            </a:r>
            <a:r>
              <a:rPr lang="en-US" altLang="ko-KR" dirty="0"/>
              <a:t>Die</a:t>
            </a:r>
            <a:r>
              <a:rPr lang="ko-KR" altLang="en-US" dirty="0"/>
              <a:t>가 파란색 영역 안으로 </a:t>
            </a:r>
            <a:r>
              <a:rPr lang="ko-KR" altLang="en-US" dirty="0" err="1"/>
              <a:t>위치해야함</a:t>
            </a:r>
            <a:endParaRPr lang="ko-KR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5. Create Grid </a:t>
            </a:r>
            <a:r>
              <a:rPr lang="ko-KR" altLang="en-US" dirty="0"/>
              <a:t>클릭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AF2B0F-7CFE-D1F0-6F26-9D99CE021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234439"/>
            <a:ext cx="5194214" cy="281353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7CCB606-490A-AE25-8EFE-3FEEAFDA752B}"/>
              </a:ext>
            </a:extLst>
          </p:cNvPr>
          <p:cNvSpPr/>
          <p:nvPr/>
        </p:nvSpPr>
        <p:spPr>
          <a:xfrm>
            <a:off x="4890115" y="1669073"/>
            <a:ext cx="593936" cy="136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28B492-329B-137F-FAC1-D1AB1EB9E627}"/>
              </a:ext>
            </a:extLst>
          </p:cNvPr>
          <p:cNvSpPr/>
          <p:nvPr/>
        </p:nvSpPr>
        <p:spPr>
          <a:xfrm>
            <a:off x="3179670" y="2331721"/>
            <a:ext cx="1398680" cy="1414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EEF3FF-A4B1-6FB7-B925-559383799364}"/>
              </a:ext>
            </a:extLst>
          </p:cNvPr>
          <p:cNvSpPr/>
          <p:nvPr/>
        </p:nvSpPr>
        <p:spPr>
          <a:xfrm>
            <a:off x="4890115" y="2171993"/>
            <a:ext cx="593936" cy="136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2BA1F9-F07C-8578-A33D-12D213111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6" y="4047971"/>
            <a:ext cx="5189222" cy="281353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1AD2681-B15E-69C2-2810-A31F9D4C580D}"/>
              </a:ext>
            </a:extLst>
          </p:cNvPr>
          <p:cNvSpPr/>
          <p:nvPr/>
        </p:nvSpPr>
        <p:spPr>
          <a:xfrm>
            <a:off x="4890115" y="4414316"/>
            <a:ext cx="593936" cy="2009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68833007-8189-D77F-4E25-8AAD5F933157}"/>
              </a:ext>
            </a:extLst>
          </p:cNvPr>
          <p:cNvCxnSpPr>
            <a:cxnSpLocks/>
            <a:stCxn id="9" idx="0"/>
          </p:cNvCxnSpPr>
          <p:nvPr/>
        </p:nvCxnSpPr>
        <p:spPr>
          <a:xfrm rot="5400000" flipH="1" flipV="1">
            <a:off x="5267801" y="3586118"/>
            <a:ext cx="747480" cy="90891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45720"/>
            <a:ext cx="68580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맑은 고딕"/>
              </a:rPr>
              <a:t>[Process Eng. 작업 구간] 오퍼레이터는 이 단계 수행하지 않음 — 저장된 Recipe 사용</a:t>
            </a:r>
          </a:p>
        </p:txBody>
      </p:sp>
    </p:spTree>
    <p:extLst>
      <p:ext uri="{BB962C8B-B14F-4D97-AF65-F5344CB8AC3E}">
        <p14:creationId xmlns:p14="http://schemas.microsoft.com/office/powerpoint/2010/main" val="1450307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9077-9CA7-FE24-374F-1CED97B8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62329-C3FD-B930-C544-08A1847A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7. Wafer CAD – Select Die (Wafer Map)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772B3-779A-25DD-E33E-91D86769A84F}"/>
              </a:ext>
            </a:extLst>
          </p:cNvPr>
          <p:cNvSpPr txBox="1"/>
          <p:nvPr/>
        </p:nvSpPr>
        <p:spPr>
          <a:xfrm>
            <a:off x="6096000" y="1234440"/>
            <a:ext cx="60960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Deselect All </a:t>
            </a:r>
            <a:r>
              <a:rPr lang="ko-KR" altLang="en-US" dirty="0"/>
              <a:t>클릭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검사 </a:t>
            </a:r>
            <a:r>
              <a:rPr lang="en-US" altLang="ko-KR" dirty="0"/>
              <a:t>Die </a:t>
            </a:r>
            <a:r>
              <a:rPr lang="ko-KR" altLang="en-US" dirty="0"/>
              <a:t>선택 </a:t>
            </a:r>
            <a:r>
              <a:rPr lang="en-US" altLang="ko-KR" dirty="0"/>
              <a:t>(</a:t>
            </a:r>
            <a:r>
              <a:rPr lang="ko-KR" altLang="en-US" dirty="0"/>
              <a:t>스크롤로 전체 </a:t>
            </a:r>
            <a:r>
              <a:rPr lang="en-US" altLang="ko-KR" dirty="0"/>
              <a:t>wafer</a:t>
            </a:r>
            <a:r>
              <a:rPr lang="ko-KR" altLang="en-US" dirty="0"/>
              <a:t> </a:t>
            </a:r>
            <a:r>
              <a:rPr lang="en-US" altLang="ko-KR" dirty="0"/>
              <a:t>map</a:t>
            </a:r>
            <a:r>
              <a:rPr lang="ko-KR" altLang="en-US" dirty="0"/>
              <a:t> 축소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ex. </a:t>
            </a:r>
            <a:r>
              <a:rPr lang="ko-KR" altLang="en-US" dirty="0"/>
              <a:t>십자 형태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선택 상태 확인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ko-KR" altLang="en-US" dirty="0"/>
              <a:t>→ 하얀색으로 선택된 </a:t>
            </a:r>
            <a:r>
              <a:rPr lang="en-US" altLang="ko-KR" dirty="0"/>
              <a:t>Die</a:t>
            </a:r>
            <a:r>
              <a:rPr lang="ko-KR" altLang="en-US" dirty="0"/>
              <a:t>만 검사 대상에 지정됨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E2B370-A0E6-EB2D-ECE0-C9A2FECE2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1234439"/>
            <a:ext cx="5836919" cy="31647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5A6C69-7E76-31E3-D9FF-432EE0257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353" y="4458112"/>
            <a:ext cx="3995547" cy="21684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D3C369-CE24-1B5E-1F7F-9FBC214F4D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5" y="4460983"/>
            <a:ext cx="3995547" cy="2168773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AC0055D-49A9-9FE5-F560-0ABE166A8877}"/>
              </a:ext>
            </a:extLst>
          </p:cNvPr>
          <p:cNvSpPr/>
          <p:nvPr/>
        </p:nvSpPr>
        <p:spPr>
          <a:xfrm>
            <a:off x="5485448" y="5338583"/>
            <a:ext cx="543878" cy="355829"/>
          </a:xfrm>
          <a:prstGeom prst="rightArrow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1CDC493-7F06-531A-ECEC-3147F4B9BB7F}"/>
              </a:ext>
            </a:extLst>
          </p:cNvPr>
          <p:cNvSpPr/>
          <p:nvPr/>
        </p:nvSpPr>
        <p:spPr>
          <a:xfrm rot="16200000">
            <a:off x="562548" y="5089955"/>
            <a:ext cx="663751" cy="545162"/>
          </a:xfrm>
          <a:custGeom>
            <a:avLst/>
            <a:gdLst>
              <a:gd name="csX0" fmla="*/ 663751 w 663751"/>
              <a:gd name="csY0" fmla="*/ 0 h 545162"/>
              <a:gd name="csX1" fmla="*/ 663751 w 663751"/>
              <a:gd name="csY1" fmla="*/ 88958 h 545162"/>
              <a:gd name="csX2" fmla="*/ 663751 w 663751"/>
              <a:gd name="csY2" fmla="*/ 177915 h 545162"/>
              <a:gd name="csX3" fmla="*/ 266873 w 663751"/>
              <a:gd name="csY3" fmla="*/ 177915 h 545162"/>
              <a:gd name="csX4" fmla="*/ 266873 w 663751"/>
              <a:gd name="csY4" fmla="*/ 367248 h 545162"/>
              <a:gd name="csX5" fmla="*/ 355830 w 663751"/>
              <a:gd name="csY5" fmla="*/ 367248 h 545162"/>
              <a:gd name="csX6" fmla="*/ 177915 w 663751"/>
              <a:gd name="csY6" fmla="*/ 545162 h 545162"/>
              <a:gd name="csX7" fmla="*/ 0 w 663751"/>
              <a:gd name="csY7" fmla="*/ 367248 h 545162"/>
              <a:gd name="csX8" fmla="*/ 88957 w 663751"/>
              <a:gd name="csY8" fmla="*/ 367248 h 545162"/>
              <a:gd name="csX9" fmla="*/ 88957 w 663751"/>
              <a:gd name="csY9" fmla="*/ 1284 h 545162"/>
              <a:gd name="csX10" fmla="*/ 119873 w 663751"/>
              <a:gd name="csY10" fmla="*/ 1284 h 545162"/>
              <a:gd name="csX11" fmla="*/ 119873 w 663751"/>
              <a:gd name="csY11" fmla="*/ 0 h 545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63751" h="545162">
                <a:moveTo>
                  <a:pt x="663751" y="0"/>
                </a:moveTo>
                <a:lnTo>
                  <a:pt x="663751" y="88958"/>
                </a:lnTo>
                <a:lnTo>
                  <a:pt x="663751" y="177915"/>
                </a:lnTo>
                <a:lnTo>
                  <a:pt x="266873" y="177915"/>
                </a:lnTo>
                <a:lnTo>
                  <a:pt x="266873" y="367248"/>
                </a:lnTo>
                <a:lnTo>
                  <a:pt x="355830" y="367248"/>
                </a:lnTo>
                <a:lnTo>
                  <a:pt x="177915" y="545162"/>
                </a:lnTo>
                <a:lnTo>
                  <a:pt x="0" y="367248"/>
                </a:lnTo>
                <a:lnTo>
                  <a:pt x="88957" y="367248"/>
                </a:lnTo>
                <a:lnTo>
                  <a:pt x="88957" y="1284"/>
                </a:lnTo>
                <a:lnTo>
                  <a:pt x="119873" y="1284"/>
                </a:lnTo>
                <a:lnTo>
                  <a:pt x="119873" y="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B3810A-5F8E-ACFA-252B-510C2E3671A8}"/>
              </a:ext>
            </a:extLst>
          </p:cNvPr>
          <p:cNvSpPr/>
          <p:nvPr/>
        </p:nvSpPr>
        <p:spPr>
          <a:xfrm>
            <a:off x="5485448" y="1958109"/>
            <a:ext cx="543878" cy="923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65760" y="45720"/>
            <a:ext cx="68580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맑은 고딕"/>
              </a:rPr>
              <a:t>[Process Eng. 작업 구간] 오퍼레이터는 이 단계 수행하지 않음 — 저장된 Recipe 사용</a:t>
            </a:r>
          </a:p>
        </p:txBody>
      </p:sp>
    </p:spTree>
    <p:extLst>
      <p:ext uri="{BB962C8B-B14F-4D97-AF65-F5344CB8AC3E}">
        <p14:creationId xmlns:p14="http://schemas.microsoft.com/office/powerpoint/2010/main" val="2862827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B33C-D6AD-E759-568F-8EDAA285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53972-6853-E109-CF5B-6B3CFD80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8. Die CAD – Analysis Settings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8089A-832B-A053-C7A7-4E90BC992AD4}"/>
              </a:ext>
            </a:extLst>
          </p:cNvPr>
          <p:cNvSpPr txBox="1"/>
          <p:nvPr/>
        </p:nvSpPr>
        <p:spPr>
          <a:xfrm>
            <a:off x="6096000" y="1234440"/>
            <a:ext cx="6096000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Die CAD </a:t>
            </a:r>
            <a:r>
              <a:rPr lang="ko-KR" altLang="en-US" dirty="0"/>
              <a:t>이동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en-US" altLang="ko-KR" dirty="0" err="1"/>
              <a:t>BumpGroupAnalysis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촬영 영역 사이즈 지정</a:t>
            </a:r>
            <a:br>
              <a:rPr lang="en-US" altLang="ko-KR" dirty="0"/>
            </a:br>
            <a:r>
              <a:rPr lang="ko-KR" altLang="en-US" dirty="0"/>
              <a:t>→ 빨간 박스 사이즈 조절 필요시 </a:t>
            </a:r>
            <a:r>
              <a:rPr lang="en-US" altLang="ko-KR" dirty="0"/>
              <a:t>Resolution </a:t>
            </a:r>
            <a:r>
              <a:rPr lang="ko-KR" altLang="en-US" dirty="0"/>
              <a:t>설정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빨간 박스</a:t>
            </a:r>
            <a:r>
              <a:rPr lang="en-US" altLang="ko-KR" dirty="0"/>
              <a:t>=</a:t>
            </a:r>
            <a:r>
              <a:rPr lang="ko-KR" altLang="en-US" dirty="0"/>
              <a:t>촬영 영역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Resolution </a:t>
            </a:r>
            <a:r>
              <a:rPr lang="ko-KR" altLang="en-US" dirty="0"/>
              <a:t>설정</a:t>
            </a:r>
            <a:r>
              <a:rPr lang="en-US" altLang="ko-KR" dirty="0"/>
              <a:t> 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Analysis </a:t>
            </a:r>
            <a:r>
              <a:rPr lang="ko-KR" altLang="en-US" dirty="0"/>
              <a:t>클릭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Analysis Settings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/>
              <a:t>Resolution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촬영</a:t>
            </a:r>
            <a:r>
              <a:rPr lang="en-US" altLang="ko-KR" dirty="0"/>
              <a:t> </a:t>
            </a:r>
            <a:r>
              <a:rPr lang="ko-KR" altLang="en-US" dirty="0"/>
              <a:t>영역 사이즈 설정 </a:t>
            </a:r>
            <a:br>
              <a:rPr lang="en-US" altLang="ko-KR" dirty="0"/>
            </a:br>
            <a:r>
              <a:rPr lang="en-US" altLang="ko-KR" dirty="0"/>
              <a:t>(Resolution ∝ </a:t>
            </a:r>
            <a:r>
              <a:rPr lang="ko-KR" altLang="en-US" dirty="0"/>
              <a:t>촬영</a:t>
            </a:r>
            <a:r>
              <a:rPr lang="en-US" altLang="ko-KR" dirty="0"/>
              <a:t> </a:t>
            </a:r>
            <a:r>
              <a:rPr lang="ko-KR" altLang="en-US" dirty="0"/>
              <a:t>영역 사이즈</a:t>
            </a:r>
            <a:r>
              <a:rPr lang="en-US" altLang="ko-KR" dirty="0"/>
              <a:t>)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Voltage </a:t>
            </a:r>
            <a:r>
              <a:rPr lang="ko-KR" altLang="en-US" dirty="0"/>
              <a:t>설정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Power </a:t>
            </a:r>
            <a:r>
              <a:rPr lang="ko-KR" altLang="en-US" dirty="0"/>
              <a:t>설정                        </a:t>
            </a:r>
            <a:r>
              <a:rPr lang="en-US" altLang="ko-KR" dirty="0"/>
              <a:t>4.page</a:t>
            </a:r>
            <a:r>
              <a:rPr lang="ko-KR" altLang="en-US" dirty="0"/>
              <a:t>에서 설정된 값         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Frame Average </a:t>
            </a:r>
            <a:r>
              <a:rPr lang="ko-KR" altLang="en-US" dirty="0"/>
              <a:t>설정 </a:t>
            </a:r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Die CAD</a:t>
            </a:r>
            <a:r>
              <a:rPr lang="ko-KR" altLang="en-US" dirty="0"/>
              <a:t>로 이동하여 촬영 영역 재확인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71AA31-B325-70FA-FF60-6F8DFBCEB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78" b="67061"/>
          <a:stretch>
            <a:fillRect/>
          </a:stretch>
        </p:blipFill>
        <p:spPr>
          <a:xfrm>
            <a:off x="654679" y="3921323"/>
            <a:ext cx="4932946" cy="2294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250FA1-1F8B-050F-D884-4702D7CFB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79" y="1300492"/>
            <a:ext cx="4932946" cy="26771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7BFD1D0-C8F5-34CD-69C8-21C1CF572C2F}"/>
              </a:ext>
            </a:extLst>
          </p:cNvPr>
          <p:cNvSpPr/>
          <p:nvPr/>
        </p:nvSpPr>
        <p:spPr>
          <a:xfrm>
            <a:off x="2059709" y="1496291"/>
            <a:ext cx="387927" cy="147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E3B05E2-F966-F75C-48F3-798211E3359E}"/>
              </a:ext>
            </a:extLst>
          </p:cNvPr>
          <p:cNvCxnSpPr/>
          <p:nvPr/>
        </p:nvCxnSpPr>
        <p:spPr>
          <a:xfrm flipV="1">
            <a:off x="2447636" y="1430239"/>
            <a:ext cx="3648364" cy="139943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740C6D-EB89-42BD-C315-4709682F890B}"/>
              </a:ext>
            </a:extLst>
          </p:cNvPr>
          <p:cNvSpPr/>
          <p:nvPr/>
        </p:nvSpPr>
        <p:spPr>
          <a:xfrm>
            <a:off x="654679" y="1644073"/>
            <a:ext cx="583571" cy="990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4C81DC5-8A5C-2986-0296-C4B60896C4F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238250" y="1693574"/>
            <a:ext cx="4857750" cy="47279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13B925-B873-E2BF-8CC6-0C5E6039F2CA}"/>
              </a:ext>
            </a:extLst>
          </p:cNvPr>
          <p:cNvSpPr/>
          <p:nvPr/>
        </p:nvSpPr>
        <p:spPr>
          <a:xfrm>
            <a:off x="3288440" y="447270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664166-752A-24DD-BE39-7C4945FC26D1}"/>
              </a:ext>
            </a:extLst>
          </p:cNvPr>
          <p:cNvSpPr/>
          <p:nvPr/>
        </p:nvSpPr>
        <p:spPr>
          <a:xfrm>
            <a:off x="738133" y="475994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2BA2BB-E26E-F77D-8CDF-E60800DC811F}"/>
              </a:ext>
            </a:extLst>
          </p:cNvPr>
          <p:cNvSpPr/>
          <p:nvPr/>
        </p:nvSpPr>
        <p:spPr>
          <a:xfrm>
            <a:off x="753739" y="5004474"/>
            <a:ext cx="4117695" cy="1007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FF09FF-161D-3356-6F40-F3CE570F5E73}"/>
              </a:ext>
            </a:extLst>
          </p:cNvPr>
          <p:cNvSpPr/>
          <p:nvPr/>
        </p:nvSpPr>
        <p:spPr>
          <a:xfrm>
            <a:off x="4341462" y="4472705"/>
            <a:ext cx="1000234" cy="246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F277AB4-1BAF-F983-285A-E088ED9AD2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91808" y="5096609"/>
            <a:ext cx="1761718" cy="661942"/>
          </a:xfrm>
          <a:prstGeom prst="bentConnector3">
            <a:avLst>
              <a:gd name="adj1" fmla="val 10033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98352E0-116B-EE81-65D2-99847935E86E}"/>
              </a:ext>
            </a:extLst>
          </p:cNvPr>
          <p:cNvCxnSpPr>
            <a:stCxn id="15" idx="0"/>
          </p:cNvCxnSpPr>
          <p:nvPr/>
        </p:nvCxnSpPr>
        <p:spPr>
          <a:xfrm rot="5400000" flipH="1" flipV="1">
            <a:off x="3032825" y="1789134"/>
            <a:ext cx="1176236" cy="476538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25E743FB-43A0-4289-09BF-378A3985D40E}"/>
              </a:ext>
            </a:extLst>
          </p:cNvPr>
          <p:cNvSpPr/>
          <p:nvPr/>
        </p:nvSpPr>
        <p:spPr>
          <a:xfrm>
            <a:off x="9393382" y="5144652"/>
            <a:ext cx="165070" cy="849746"/>
          </a:xfrm>
          <a:prstGeom prst="rightBrace">
            <a:avLst>
              <a:gd name="adj1" fmla="val 109312"/>
              <a:gd name="adj2" fmla="val 45143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65760" y="45720"/>
            <a:ext cx="68580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맑은 고딕"/>
              </a:rPr>
              <a:t>[Process Eng. 작업 구간] 오퍼레이터는 이 단계 수행하지 않음 — 저장된 Recipe 사용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검사 파라미터(kV·R·Frame)는 Recipe_Model.xlsx [레시피계산]의 '검사' 값 사용</a:t>
            </a:r>
          </a:p>
        </p:txBody>
      </p:sp>
    </p:spTree>
    <p:extLst>
      <p:ext uri="{BB962C8B-B14F-4D97-AF65-F5344CB8AC3E}">
        <p14:creationId xmlns:p14="http://schemas.microsoft.com/office/powerpoint/2010/main" val="2501074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7C4B-026B-A53B-C24D-6998E57F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75C3A-722E-1448-1627-27F663E2F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9. Die CAD – Set Area of interest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7C110-E626-D48A-9A71-ACFF9B886B10}"/>
              </a:ext>
            </a:extLst>
          </p:cNvPr>
          <p:cNvSpPr txBox="1"/>
          <p:nvPr/>
        </p:nvSpPr>
        <p:spPr>
          <a:xfrm>
            <a:off x="6096000" y="1234440"/>
            <a:ext cx="6096000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Set Area of interest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드래그로 촬영 영역 옮긴 후 </a:t>
            </a:r>
            <a:r>
              <a:rPr lang="en-US" altLang="ko-KR" dirty="0"/>
              <a:t>Set Area of interest </a:t>
            </a:r>
            <a:br>
              <a:rPr lang="en-US" altLang="ko-KR" dirty="0"/>
            </a:br>
            <a:r>
              <a:rPr lang="ko-KR" altLang="en-US" dirty="0"/>
              <a:t>클릭하여 촬영 영역 확정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잘못 지정한 경우 </a:t>
            </a:r>
            <a:r>
              <a:rPr lang="en-US" altLang="ko-KR" dirty="0"/>
              <a:t>Delete</a:t>
            </a:r>
            <a:r>
              <a:rPr lang="ko-KR" altLang="en-US" dirty="0"/>
              <a:t>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드래그로 검사할 </a:t>
            </a:r>
            <a:r>
              <a:rPr lang="en-US" altLang="ko-KR" dirty="0"/>
              <a:t>bump </a:t>
            </a:r>
            <a:r>
              <a:rPr lang="ko-KR" altLang="en-US" dirty="0"/>
              <a:t>지정</a:t>
            </a:r>
            <a:r>
              <a:rPr lang="en-US" altLang="ko-KR" dirty="0"/>
              <a:t>(</a:t>
            </a:r>
            <a:r>
              <a:rPr lang="ko-KR" altLang="en-US" dirty="0"/>
              <a:t>파란색으로 표기</a:t>
            </a:r>
            <a:r>
              <a:rPr lang="en-US" altLang="ko-KR" dirty="0"/>
              <a:t>)</a:t>
            </a:r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Analysis</a:t>
            </a:r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Void Percent Thresholds </a:t>
            </a:r>
            <a:r>
              <a:rPr lang="ko-KR" altLang="en-US" dirty="0"/>
              <a:t>설정 </a:t>
            </a:r>
            <a:endParaRPr lang="en-US" altLang="ko-KR" dirty="0"/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dirty="0"/>
              <a:t>Void Area </a:t>
            </a:r>
            <a:r>
              <a:rPr lang="ko-KR" altLang="en-US" dirty="0"/>
              <a:t>또는 </a:t>
            </a:r>
            <a:r>
              <a:rPr lang="en-US" altLang="ko-KR" dirty="0"/>
              <a:t>Void Diameter </a:t>
            </a:r>
            <a:r>
              <a:rPr lang="ko-KR" altLang="en-US" dirty="0"/>
              <a:t>기준 선택 </a:t>
            </a:r>
            <a:endParaRPr lang="en-US" altLang="ko-KR" dirty="0"/>
          </a:p>
          <a:p>
            <a:pPr marL="1257300" lvl="2" indent="-342900" latinLnBrk="1">
              <a:spcAft>
                <a:spcPts val="800"/>
              </a:spcAft>
              <a:buFont typeface="+mj-ea"/>
              <a:buAutoNum type="circleNumDbPlain"/>
            </a:pPr>
            <a:r>
              <a:rPr lang="en-US" altLang="ko-KR" dirty="0"/>
              <a:t>Threshold </a:t>
            </a:r>
            <a:r>
              <a:rPr lang="ko-KR" altLang="en-US" dirty="0"/>
              <a:t>값 및 색깔 설정 </a:t>
            </a:r>
            <a:br>
              <a:rPr lang="en-US" altLang="ko-KR" dirty="0"/>
            </a:br>
            <a:r>
              <a:rPr lang="ko-KR" altLang="en-US" dirty="0"/>
              <a:t>→ 불량 판정 기준 설정</a:t>
            </a:r>
            <a:endParaRPr lang="en-US" altLang="ko-KR" dirty="0"/>
          </a:p>
          <a:p>
            <a:pPr lvl="2"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* Apply System Defaults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기본 </a:t>
            </a:r>
            <a:r>
              <a:rPr lang="ko-KR" altLang="en-US" kern="1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셋팅값</a:t>
            </a:r>
            <a:r>
              <a:rPr lang="ko-KR" altLang="en-US" kern="1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불러올 수 있음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11CBD0-587A-EF78-B5F2-00F92B75A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1239577"/>
            <a:ext cx="5821679" cy="315341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3983D1-F720-3159-90AC-2F485943B267}"/>
              </a:ext>
            </a:extLst>
          </p:cNvPr>
          <p:cNvSpPr/>
          <p:nvPr/>
        </p:nvSpPr>
        <p:spPr>
          <a:xfrm>
            <a:off x="2644486" y="1775187"/>
            <a:ext cx="1114714" cy="127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3BE784-50FD-2761-0554-680C84574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20" b="54444"/>
          <a:stretch>
            <a:fillRect/>
          </a:stretch>
        </p:blipFill>
        <p:spPr>
          <a:xfrm>
            <a:off x="274320" y="3831154"/>
            <a:ext cx="4694843" cy="26383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6A4A3B-C2AA-B678-A542-CDF92F157FBE}"/>
              </a:ext>
            </a:extLst>
          </p:cNvPr>
          <p:cNvSpPr/>
          <p:nvPr/>
        </p:nvSpPr>
        <p:spPr>
          <a:xfrm>
            <a:off x="4867564" y="1775187"/>
            <a:ext cx="1228436" cy="127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53677B-6342-9C2B-472E-25F17D69D887}"/>
              </a:ext>
            </a:extLst>
          </p:cNvPr>
          <p:cNvSpPr/>
          <p:nvPr/>
        </p:nvSpPr>
        <p:spPr>
          <a:xfrm>
            <a:off x="1570182" y="4747491"/>
            <a:ext cx="1219200" cy="18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EB3026-6D78-9D5B-F740-90D49F4891EC}"/>
              </a:ext>
            </a:extLst>
          </p:cNvPr>
          <p:cNvSpPr/>
          <p:nvPr/>
        </p:nvSpPr>
        <p:spPr>
          <a:xfrm>
            <a:off x="350981" y="4982350"/>
            <a:ext cx="3241963" cy="1487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C4F468-333B-1D15-2D77-AFD2D6A03F10}"/>
              </a:ext>
            </a:extLst>
          </p:cNvPr>
          <p:cNvSpPr/>
          <p:nvPr/>
        </p:nvSpPr>
        <p:spPr>
          <a:xfrm>
            <a:off x="1205346" y="4512632"/>
            <a:ext cx="1219200" cy="18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65760" y="45720"/>
            <a:ext cx="68580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맑은 고딕"/>
              </a:rPr>
              <a:t>[Process Eng. 작업 구간] 오퍼레이터는 이 단계 수행하지 않음 — 저장된 Recipe 사용</a:t>
            </a:r>
          </a:p>
        </p:txBody>
      </p:sp>
    </p:spTree>
    <p:extLst>
      <p:ext uri="{BB962C8B-B14F-4D97-AF65-F5344CB8AC3E}">
        <p14:creationId xmlns:p14="http://schemas.microsoft.com/office/powerpoint/2010/main" val="670584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FAC0-0EA8-B867-BE2A-9A2A7A2B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7323F-62B0-9751-4762-9FE1A055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10. Recipe save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F906E-C7A5-A5DF-3E7C-A52FA10366F0}"/>
              </a:ext>
            </a:extLst>
          </p:cNvPr>
          <p:cNvSpPr txBox="1"/>
          <p:nvPr/>
        </p:nvSpPr>
        <p:spPr>
          <a:xfrm>
            <a:off x="6096000" y="1234440"/>
            <a:ext cx="60960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spcAft>
                <a:spcPts val="800"/>
              </a:spcAft>
              <a:buAutoNum type="arabicPeriod"/>
            </a:pPr>
            <a:r>
              <a:rPr lang="en-US" altLang="ko-KR" dirty="0"/>
              <a:t>Save </a:t>
            </a:r>
            <a:r>
              <a:rPr lang="ko-KR" altLang="en-US" dirty="0"/>
              <a:t>메뉴 클릭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</a:t>
            </a:r>
            <a:r>
              <a:rPr lang="ko-KR" altLang="en-US" dirty="0"/>
              <a:t>정보 입력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Recipe Name </a:t>
            </a:r>
            <a:r>
              <a:rPr lang="ko-KR" altLang="en-US" dirty="0"/>
              <a:t>입력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Description </a:t>
            </a:r>
            <a:r>
              <a:rPr lang="ko-KR" altLang="en-US" dirty="0"/>
              <a:t>입력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</a:t>
            </a:r>
            <a:r>
              <a:rPr lang="ko-KR" altLang="en-US" dirty="0"/>
              <a:t>저장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OK </a:t>
            </a:r>
            <a:r>
              <a:rPr lang="ko-KR" altLang="en-US" dirty="0"/>
              <a:t>클릭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5FADA8-DF36-37BB-2869-132E8CAD6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234439"/>
            <a:ext cx="5821679" cy="315644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F0D6301-2263-1759-8761-793587199EFF}"/>
              </a:ext>
            </a:extLst>
          </p:cNvPr>
          <p:cNvSpPr/>
          <p:nvPr/>
        </p:nvSpPr>
        <p:spPr>
          <a:xfrm>
            <a:off x="2817091" y="1468582"/>
            <a:ext cx="498764" cy="147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F348AF-2545-D443-B4D5-FB9E2EA7AE31}"/>
              </a:ext>
            </a:extLst>
          </p:cNvPr>
          <p:cNvSpPr/>
          <p:nvPr/>
        </p:nvSpPr>
        <p:spPr>
          <a:xfrm>
            <a:off x="2184399" y="1620982"/>
            <a:ext cx="1999673" cy="229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65760" y="45720"/>
            <a:ext cx="68580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맑은 고딕"/>
              </a:rPr>
              <a:t>[Process Eng. 작업 구간] 오퍼레이터는 이 단계 수행하지 않음 — 저장된 Recipe 사용</a:t>
            </a:r>
          </a:p>
        </p:txBody>
      </p:sp>
    </p:spTree>
    <p:extLst>
      <p:ext uri="{BB962C8B-B14F-4D97-AF65-F5344CB8AC3E}">
        <p14:creationId xmlns:p14="http://schemas.microsoft.com/office/powerpoint/2010/main" val="344260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C0CF3-80E5-D49C-C4F0-E14B4A73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233EA-3F08-0312-E849-B6956D9B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8600" cy="1005840"/>
          </a:xfrm>
        </p:spPr>
        <p:txBody>
          <a:bodyPr>
            <a:normAutofit/>
          </a:bodyPr>
          <a:lstStyle/>
          <a:p>
            <a:r>
              <a:rPr lang="en-US" altLang="ko-KR" dirty="0"/>
              <a:t>2. Recipe Step : 11. Inspection </a:t>
            </a:r>
            <a:r>
              <a:rPr lang="ko-KR" altLang="en-US" dirty="0"/>
              <a:t>실행 </a:t>
            </a:r>
            <a:r>
              <a:rPr lang="en-US" altLang="ko-KR" dirty="0"/>
              <a:t>(Jobs 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AB5D6-FC3F-5C70-716E-CA1F846821FE}"/>
              </a:ext>
            </a:extLst>
          </p:cNvPr>
          <p:cNvSpPr txBox="1"/>
          <p:nvPr/>
        </p:nvSpPr>
        <p:spPr>
          <a:xfrm>
            <a:off x="6096000" y="1234440"/>
            <a:ext cx="60960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dirty="0"/>
              <a:t>1. Jobs </a:t>
            </a:r>
            <a:r>
              <a:rPr lang="ko-KR" altLang="en-US" dirty="0"/>
              <a:t>메뉴 선택 </a:t>
            </a:r>
            <a:endParaRPr lang="en-US" altLang="ko-KR" dirty="0"/>
          </a:p>
          <a:p>
            <a:pPr marL="342900" indent="-342900" latinLnBrk="1">
              <a:spcAft>
                <a:spcPts val="800"/>
              </a:spcAft>
              <a:buAutoNum type="arabicPeriod"/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2. Inspection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3. Recipe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저장한 </a:t>
            </a:r>
            <a:r>
              <a:rPr lang="en-US" altLang="ko-KR" dirty="0"/>
              <a:t>Recipe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4. Slot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ko-KR" altLang="en-US" dirty="0"/>
              <a:t>검사 </a:t>
            </a:r>
            <a:r>
              <a:rPr lang="en-US" altLang="ko-KR" dirty="0"/>
              <a:t>Slot </a:t>
            </a:r>
            <a:r>
              <a:rPr lang="ko-KR" altLang="en-US" dirty="0"/>
              <a:t>선택 </a:t>
            </a:r>
            <a:endParaRPr lang="en-US" altLang="ko-KR" dirty="0"/>
          </a:p>
          <a:p>
            <a:pPr latinLnBrk="1">
              <a:spcAft>
                <a:spcPts val="800"/>
              </a:spcAft>
            </a:pPr>
            <a:endParaRPr lang="en-US" altLang="ko-KR" dirty="0"/>
          </a:p>
          <a:p>
            <a:pPr latinLnBrk="1">
              <a:spcAft>
                <a:spcPts val="800"/>
              </a:spcAft>
            </a:pPr>
            <a:r>
              <a:rPr lang="en-US" altLang="ko-KR" dirty="0"/>
              <a:t>5. </a:t>
            </a:r>
            <a:r>
              <a:rPr lang="ko-KR" altLang="en-US" dirty="0"/>
              <a:t>실행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Re-use Carrier </a:t>
            </a:r>
            <a:r>
              <a:rPr lang="ko-KR" altLang="en-US" dirty="0"/>
              <a:t>선택 </a:t>
            </a:r>
            <a:endParaRPr lang="en-US" altLang="ko-KR" dirty="0"/>
          </a:p>
          <a:p>
            <a:pPr marL="800100" lvl="1" indent="-342900" latinLnBrk="1">
              <a:spcAft>
                <a:spcPts val="800"/>
              </a:spcAft>
              <a:buFont typeface="+mj-lt"/>
              <a:buAutoNum type="arabicParenR"/>
            </a:pPr>
            <a:r>
              <a:rPr lang="en-US" altLang="ko-KR" dirty="0"/>
              <a:t>Start </a:t>
            </a:r>
            <a:r>
              <a:rPr lang="ko-KR" altLang="en-US" dirty="0"/>
              <a:t>클릭 </a:t>
            </a:r>
            <a:endParaRPr lang="ko-KR" altLang="ko-KR" kern="1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163487-63E0-7DD0-3455-30368F1AD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234438"/>
            <a:ext cx="5821679" cy="315680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BF80725-A383-A742-7169-FCA8BBF6EDEA}"/>
              </a:ext>
            </a:extLst>
          </p:cNvPr>
          <p:cNvSpPr/>
          <p:nvPr/>
        </p:nvSpPr>
        <p:spPr>
          <a:xfrm>
            <a:off x="679450" y="1739900"/>
            <a:ext cx="215900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F727AA-CC40-503A-1487-564819F5A28D}"/>
              </a:ext>
            </a:extLst>
          </p:cNvPr>
          <p:cNvSpPr/>
          <p:nvPr/>
        </p:nvSpPr>
        <p:spPr>
          <a:xfrm>
            <a:off x="615948" y="1968500"/>
            <a:ext cx="381002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7B9AC-8A11-BC76-7B63-85EF7B31FBFB}"/>
              </a:ext>
            </a:extLst>
          </p:cNvPr>
          <p:cNvSpPr/>
          <p:nvPr/>
        </p:nvSpPr>
        <p:spPr>
          <a:xfrm>
            <a:off x="615948" y="2113278"/>
            <a:ext cx="2432052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0C493B-74D7-34B4-8025-5990B5239806}"/>
              </a:ext>
            </a:extLst>
          </p:cNvPr>
          <p:cNvSpPr/>
          <p:nvPr/>
        </p:nvSpPr>
        <p:spPr>
          <a:xfrm>
            <a:off x="615948" y="2252978"/>
            <a:ext cx="2432052" cy="1709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B1823E-10C8-6E2F-F595-1E1F213A1DAD}"/>
              </a:ext>
            </a:extLst>
          </p:cNvPr>
          <p:cNvSpPr/>
          <p:nvPr/>
        </p:nvSpPr>
        <p:spPr>
          <a:xfrm>
            <a:off x="1639886" y="4100621"/>
            <a:ext cx="422277" cy="114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63F19-C6C6-48A8-F8DB-03347697A38F}"/>
              </a:ext>
            </a:extLst>
          </p:cNvPr>
          <p:cNvSpPr/>
          <p:nvPr/>
        </p:nvSpPr>
        <p:spPr>
          <a:xfrm>
            <a:off x="365123" y="4100621"/>
            <a:ext cx="250825" cy="114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65760" y="6035040"/>
            <a:ext cx="1146048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★ Recipe 이름이 검사 자재와 일치하는지 반드시 확인 후 Start</a:t>
            </a:r>
          </a:p>
        </p:txBody>
      </p:sp>
    </p:spTree>
    <p:extLst>
      <p:ext uri="{BB962C8B-B14F-4D97-AF65-F5344CB8AC3E}">
        <p14:creationId xmlns:p14="http://schemas.microsoft.com/office/powerpoint/2010/main" val="1555341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79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793664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6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4. 결과 합격 판정 + kV 미세조정 규칙 (오퍼레이터 필수)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Results 화면에서 2가지만 확인합니다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7000"/>
                </a:solidFill>
                <a:latin typeface="맑은 고딕"/>
              </a:rPr>
              <a:t>✓ 판정 ①  모든 die가 Composite 인가? (FailedToMatchCAD 가 하나라도 있으면 불합격)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7000"/>
                </a:solidFill>
                <a:latin typeface="맑은 고딕"/>
              </a:rPr>
              <a:t>✓ 판정 ②  측정 범프직경 ÷ 도면값 = 97~103% 인가?  (예: 도면 26µm → 25.2~26.8µm)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/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판정 ②가 어긋났을 때 — kV 1단계 조정 후 재검사 (최대 2회)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측정이 작게 나옴(97% 미만) → kV를 1 내린다   /   크게 나옴(103% 초과) → kV를 1 올린다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2회 조정해도 안 맞으면 → 검사 중단, Process Eng. 호출</a:t>
            </a:r>
          </a:p>
          <a:p>
            <a:pPr>
              <a:spcAft>
                <a:spcPts val="700"/>
              </a:spcAft>
            </a:pPr>
            <a:r>
              <a:rPr sz="1400">
                <a:latin typeface="맑은 고딕"/>
              </a:rPr>
              <a:t/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맑은 고딕"/>
              </a:rPr>
              <a:t>■ 판정 ①이 어긋났을 때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C00000"/>
                </a:solidFill>
                <a:latin typeface="맑은 고딕"/>
              </a:rPr>
              <a:t>★ 동일 조건 재검사 1회 → 그래도 실패 시 Process Eng. 호출 (kV 창 이탈 또는 CAD 문제)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7000"/>
                </a:solidFill>
                <a:latin typeface="맑은 고딕"/>
              </a:rPr>
              <a:t>✓ 합격 시: 결과 저장 위치 확인 후 종료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dential Presentation Template-010625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439D7168-81A4-49EA-BEAB-8790C15FA895}" vid="{83D207AA-1498-4D1B-AEA3-F9C74A1E6857}"/>
    </a:ext>
  </a:extLst>
</a:theme>
</file>

<file path=ppt/theme/theme2.xml><?xml version="1.0" encoding="utf-8"?>
<a:theme xmlns:a="http://schemas.openxmlformats.org/drawingml/2006/main" name="Office Theme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Amkor Brand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mkor PPT Brand Fonts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03B2713F97443932B71F2C3860252" ma:contentTypeVersion="12" ma:contentTypeDescription="Create a new document." ma:contentTypeScope="" ma:versionID="09ff963905cdcea575e99d8a827e898f">
  <xsd:schema xmlns:xsd="http://www.w3.org/2001/XMLSchema" xmlns:xs="http://www.w3.org/2001/XMLSchema" xmlns:p="http://schemas.microsoft.com/office/2006/metadata/properties" xmlns:ns2="d9351391-d6bd-4569-99da-c276f19d4c9c" xmlns:ns3="78e28f3f-f0ea-4823-90e1-73d809ca4744" targetNamespace="http://schemas.microsoft.com/office/2006/metadata/properties" ma:root="true" ma:fieldsID="52cee618a04674f87108c6f32cc8b16d" ns2:_="" ns3:_="">
    <xsd:import namespace="d9351391-d6bd-4569-99da-c276f19d4c9c"/>
    <xsd:import namespace="78e28f3f-f0ea-4823-90e1-73d809ca4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351391-d6bd-4569-99da-c276f19d4c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7edf6cb-238f-403b-9e55-22740d698d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e28f3f-f0ea-4823-90e1-73d809ca47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76346df-48c7-47db-9053-552badde8360}" ma:internalName="TaxCatchAll" ma:showField="CatchAllData" ma:web="78e28f3f-f0ea-4823-90e1-73d809ca4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e28f3f-f0ea-4823-90e1-73d809ca4744" xsi:nil="true"/>
    <lcf76f155ced4ddcb4097134ff3c332f xmlns="d9351391-d6bd-4569-99da-c276f19d4c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7C7D9CB-F7E3-4213-8EC9-F0D99763185F}">
  <ds:schemaRefs>
    <ds:schemaRef ds:uri="78e28f3f-f0ea-4823-90e1-73d809ca4744"/>
    <ds:schemaRef ds:uri="d9351391-d6bd-4569-99da-c276f19d4c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4CA594-D907-4831-8C18-769250AA2E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A4957D-5398-4EC2-B580-CEE2F896D0B0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d9351391-d6bd-4569-99da-c276f19d4c9c"/>
    <ds:schemaRef ds:uri="http://purl.org/dc/dcmitype/"/>
    <ds:schemaRef ds:uri="http://schemas.openxmlformats.org/package/2006/metadata/core-properties"/>
    <ds:schemaRef ds:uri="78e28f3f-f0ea-4823-90e1-73d809ca4744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23f5ac8-ab26-4dfa-9ebf-59d3def9fbd0}" enabled="0" method="" siteId="{423f5ac8-ab26-4dfa-9ebf-59d3def9fb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Confidential 2026 Presentation Template</Template>
  <TotalTime>1217</TotalTime>
  <Words>870</Words>
  <Application>Microsoft Office PowerPoint</Application>
  <PresentationFormat>와이드스크린</PresentationFormat>
  <Paragraphs>164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Cambria Math</vt:lpstr>
      <vt:lpstr>Segoe UI Symbol</vt:lpstr>
      <vt:lpstr>Confidential Presentation Template-010625</vt:lpstr>
      <vt:lpstr>SOP(Standard Operation Procedure) for X-ray</vt:lpstr>
      <vt:lpstr>1. Initialization Step</vt:lpstr>
      <vt:lpstr>1. Initialization Step</vt:lpstr>
      <vt:lpstr>2. Recipe Step : 1. Wafer Scan Information Submit</vt:lpstr>
      <vt:lpstr>2. Recipe Step : 1. Wafer Scan Information Submit</vt:lpstr>
      <vt:lpstr>2. Recipe Step : 2. Image Acquisition 실행</vt:lpstr>
      <vt:lpstr>2. Recipe Step : 3. Image Acquisition 진행 확인</vt:lpstr>
      <vt:lpstr>2. Recipe Step : 4. WS Data Load (Load 화면)</vt:lpstr>
      <vt:lpstr>2. Recipe Step : 5. Wafer CAD – Load Images </vt:lpstr>
      <vt:lpstr>2. Recipe Step : 6. Wafer CAD – Set Initial Die</vt:lpstr>
      <vt:lpstr>2. Recipe Step : 7. Wafer CAD – Select Die (Wafer Map)</vt:lpstr>
      <vt:lpstr>2. Recipe Step : 8. Die CAD – Analysis Settings</vt:lpstr>
      <vt:lpstr>2. Recipe Step : 9. Die CAD – Set Area of interest</vt:lpstr>
      <vt:lpstr>2. Recipe Step : 10. Recipe save</vt:lpstr>
      <vt:lpstr>2. Recipe Step : 11. Inspection 실행 (Jobs 화면)</vt:lpstr>
      <vt:lpstr>3. Results step  </vt:lpstr>
      <vt:lpstr>PowerPoint 프레젠테이션</vt:lpstr>
    </vt:vector>
  </TitlesOfParts>
  <Company>Amkor Technology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WonGeun Hong</dc:creator>
  <cp:keywords>Confidential, Amkor Technology</cp:keywords>
  <cp:lastModifiedBy>MinKyu Kim</cp:lastModifiedBy>
  <cp:revision>94</cp:revision>
  <dcterms:created xsi:type="dcterms:W3CDTF">2026-04-09T00:08:36Z</dcterms:created>
  <dcterms:modified xsi:type="dcterms:W3CDTF">2026-06-01T23:53:07Z</dcterms:modified>
  <cp:category>Confidential 2025 Amkor PPT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0x01010077103B2713F97443932B71F2C3860252</vt:lpwstr>
  </property>
  <property fmtid="{D5CDD505-2E9C-101B-9397-08002B2CF9AE}" pid="3" name="MediaServiceImageTags">
    <vt:lpwstr/>
  </property>
</Properties>
</file>