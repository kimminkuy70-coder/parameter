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7.svg" ContentType="image/svg+xml"/>
  <Override PartName="/ppt/media/image18.svg" ContentType="image/svg+xml"/>
  <Override PartName="/ppt/media/image19.svg" ContentType="image/svg+xml"/>
  <Override PartName="/ppt/media/image2.svg" ContentType="image/svg+xml"/>
  <Override PartName="/ppt/media/image20.svg" ContentType="image/svg+xml"/>
  <Override PartName="/ppt/media/image21.svg" ContentType="image/svg+xml"/>
  <Override PartName="/ppt/media/image22.svg" ContentType="image/svg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256" r:id="rId5"/>
    <p:sldId id="15258" r:id="rId6"/>
    <p:sldId id="15283" r:id="rId7"/>
    <p:sldId id="15269" r:id="rId8"/>
    <p:sldId id="15286" r:id="rId9"/>
    <p:sldId id="15270" r:id="rId10"/>
    <p:sldId id="15272" r:id="rId11"/>
    <p:sldId id="15273" r:id="rId12"/>
    <p:sldId id="15274" r:id="rId13"/>
    <p:sldId id="15275" r:id="rId14"/>
    <p:sldId id="15278" r:id="rId15"/>
    <p:sldId id="15279" r:id="rId16"/>
    <p:sldId id="15280" r:id="rId17"/>
    <p:sldId id="15281" r:id="rId18"/>
    <p:sldId id="15282" r:id="rId19"/>
    <p:sldId id="15284" r:id="rId20"/>
    <p:sldId id="15287" r:id="rId28"/>
    <p:sldId id="15288" r:id="rId29"/>
    <p:sldId id="15289" r:id="rId30"/>
    <p:sldId id="15290" r:id="rId31"/>
    <p:sldId id="15291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0000FF"/>
    <a:srgbClr val="FFFF00"/>
    <a:srgbClr val="808000"/>
    <a:srgbClr val="0F4B8F"/>
    <a:srgbClr val="E9E9EA"/>
    <a:srgbClr val="E7E9EE"/>
    <a:srgbClr val="7CFC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424" autoAdjust="0"/>
  </p:normalViewPr>
  <p:slideViewPr>
    <p:cSldViewPr snapToGrid="0">
      <p:cViewPr varScale="1">
        <p:scale>
          <a:sx n="104" d="100"/>
          <a:sy n="104" d="100"/>
        </p:scale>
        <p:origin x="834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notesMaster" Target="notesMasters/notesMaster1.xml"/><Relationship Id="rId23" Type="http://schemas.openxmlformats.org/officeDocument/2006/relationships/handoutMaster" Target="handoutMasters/handout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B9B25B1-2EE7-EEDF-E6E5-3BEF59CF8BE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51381C-C634-F9B5-325C-F9920F70AF2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8ECE88-AD4D-4975-95B9-009CC7FA6E66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788352-B2A0-044E-3705-1D14D73A0BD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sz="9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8641BE-FE28-042F-2C94-71763BDE803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27AFE3-29AA-44C7-B7DE-DF9119AF7F5D}" type="slidenum">
              <a:rPr lang="en-US" sz="900" smtClean="0"/>
              <a:t>‹#›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361239067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AB4DDD-F032-4A34-A4AF-4B90092A55DE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/>
            </a:lvl1pPr>
          </a:lstStyle>
          <a:p>
            <a:fld id="{D620DD3F-384D-4476-9D5B-9B2CD68488B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511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82880" indent="-182880" algn="l" defTabSz="914400" rtl="0" eaLnBrk="1" latinLnBrk="0" hangingPunct="1">
      <a:buClr>
        <a:schemeClr val="accent1"/>
      </a:buClr>
      <a:buSzPct val="75000"/>
      <a:buFont typeface="Segoe UI Symbol" panose="020B0502040204020203" pitchFamily="34" charset="0"/>
      <a:buChar char="▶"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365760" indent="-182880" algn="l" defTabSz="914400" rtl="0" eaLnBrk="1" latinLnBrk="0" hangingPunct="1">
      <a:buClr>
        <a:schemeClr val="accent1"/>
      </a:buClr>
      <a:buSzPct val="75000"/>
      <a:buFont typeface="Segoe UI Symbol" panose="020B0502040204020203" pitchFamily="34" charset="0"/>
      <a:buChar char="▷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548640" indent="-182880" algn="l" defTabSz="914400" rtl="0" eaLnBrk="1" latinLnBrk="0" hangingPunct="1">
      <a:buClr>
        <a:schemeClr val="accent1"/>
      </a:buClr>
      <a:buSzPct val="75000"/>
      <a:buFont typeface="Segoe UI Symbol" panose="020B0502040204020203" pitchFamily="34" charset="0"/>
      <a:buChar char="⨠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31520" indent="-182880" algn="l" defTabSz="914400" rtl="0" eaLnBrk="1" latinLnBrk="0" hangingPunct="1">
      <a:buClr>
        <a:schemeClr val="accent1"/>
      </a:buClr>
      <a:buFont typeface="Arial" panose="020B0604020202020204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14400" indent="-182880" algn="l" defTabSz="914400" rtl="0" eaLnBrk="1" latinLnBrk="0" hangingPunct="1">
      <a:buClr>
        <a:schemeClr val="accent1"/>
      </a:buClr>
      <a:buFont typeface="Segoe UI Symbol" panose="020B0502040204020203" pitchFamily="34" charset="0"/>
      <a:buChar char="▸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20DD3F-384D-4476-9D5B-9B2CD68488B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0352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20DD3F-384D-4476-9D5B-9B2CD68488B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4902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20DD3F-384D-4476-9D5B-9B2CD68488B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72257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microsoft.com/office/2007/relationships/hdphoto" Target="../media/hdphoto1.wdp"/><Relationship Id="rId4" Type="http://schemas.openxmlformats.org/officeDocument/2006/relationships/image" Target="../media/image6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microsoft.com/office/2007/relationships/hdphoto" Target="../media/hdphoto1.wdp"/><Relationship Id="rId4" Type="http://schemas.openxmlformats.org/officeDocument/2006/relationships/image" Target="../media/image6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microsoft.com/office/2007/relationships/hdphoto" Target="../media/hdphoto2.wdp"/><Relationship Id="rId4" Type="http://schemas.openxmlformats.org/officeDocument/2006/relationships/image" Target="../media/image6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microsoft.com/office/2007/relationships/hdphoto" Target="../media/hdphoto2.wdp"/><Relationship Id="rId4" Type="http://schemas.openxmlformats.org/officeDocument/2006/relationships/image" Target="../media/image6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microsoft.com/office/2007/relationships/hdphoto" Target="../media/hdphoto3.wdp"/><Relationship Id="rId4" Type="http://schemas.openxmlformats.org/officeDocument/2006/relationships/image" Target="../media/image6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microsoft.com/office/2007/relationships/hdphoto" Target="../media/hdphoto3.wdp"/><Relationship Id="rId4" Type="http://schemas.openxmlformats.org/officeDocument/2006/relationships/image" Target="../media/image6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microsoft.com/office/2007/relationships/hdphoto" Target="../media/hdphoto4.wdp"/><Relationship Id="rId4" Type="http://schemas.openxmlformats.org/officeDocument/2006/relationships/image" Target="../media/image6.sv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microsoft.com/office/2007/relationships/hdphoto" Target="../media/hdphoto4.wdp"/><Relationship Id="rId4" Type="http://schemas.openxmlformats.org/officeDocument/2006/relationships/image" Target="../media/image6.sv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microsoft.com/office/2007/relationships/hdphoto" Target="../media/hdphoto5.wdp"/><Relationship Id="rId4" Type="http://schemas.openxmlformats.org/officeDocument/2006/relationships/image" Target="../media/image6.sv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6.sv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microsoft.com/office/2007/relationships/hdphoto" Target="../media/hdphoto6.wdp"/><Relationship Id="rId4" Type="http://schemas.openxmlformats.org/officeDocument/2006/relationships/image" Target="../media/image6.sv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microsoft.com/office/2007/relationships/hdphoto" Target="../media/hdphoto6.wdp"/><Relationship Id="rId4" Type="http://schemas.openxmlformats.org/officeDocument/2006/relationships/image" Target="../media/image6.sv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microsoft.com/office/2007/relationships/hdphoto" Target="../media/hdphoto7.wdp"/><Relationship Id="rId4" Type="http://schemas.openxmlformats.org/officeDocument/2006/relationships/image" Target="../media/image6.sv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microsoft.com/office/2007/relationships/hdphoto" Target="../media/hdphoto7.wdp"/><Relationship Id="rId4" Type="http://schemas.openxmlformats.org/officeDocument/2006/relationships/image" Target="../media/image6.sv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microsoft.com/office/2007/relationships/hdphoto" Target="../media/hdphoto8.wdp"/><Relationship Id="rId4" Type="http://schemas.openxmlformats.org/officeDocument/2006/relationships/image" Target="../media/image6.sv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microsoft.com/office/2007/relationships/hdphoto" Target="../media/hdphoto8.wdp"/><Relationship Id="rId4" Type="http://schemas.openxmlformats.org/officeDocument/2006/relationships/image" Target="../media/image6.sv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6.sv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6.sv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hyperlink" Target="https://amkor.com/" TargetMode="External"/><Relationship Id="rId4" Type="http://schemas.openxmlformats.org/officeDocument/2006/relationships/image" Target="../media/image17.svg"/><Relationship Id="rId5" Type="http://schemas.openxmlformats.org/officeDocument/2006/relationships/image" Target="../media/image18.svg"/><Relationship Id="rId6" Type="http://schemas.openxmlformats.org/officeDocument/2006/relationships/image" Target="../media/image19.svg"/><Relationship Id="rId7" Type="http://schemas.openxmlformats.org/officeDocument/2006/relationships/image" Target="../media/image20.svg"/><Relationship Id="rId8" Type="http://schemas.openxmlformats.org/officeDocument/2006/relationships/image" Target="../media/image21.svg"/><Relationship Id="rId9" Type="http://schemas.openxmlformats.org/officeDocument/2006/relationships/image" Target="../media/image22.svg"/><Relationship Id="rId10" Type="http://schemas.openxmlformats.org/officeDocument/2006/relationships/hyperlink" Target="https://www.linkedin.com/company/7135/" TargetMode="External"/><Relationship Id="rId11" Type="http://schemas.openxmlformats.org/officeDocument/2006/relationships/hyperlink" Target="https://www.facebook.com/AmkorTechnology/" TargetMode="External"/><Relationship Id="rId12" Type="http://schemas.openxmlformats.org/officeDocument/2006/relationships/hyperlink" Target="https://twitter.com/AmkorTechnology" TargetMode="External"/><Relationship Id="rId13" Type="http://schemas.openxmlformats.org/officeDocument/2006/relationships/hyperlink" Target="https://www.youtube.com/user/AmkorTechnology" TargetMode="External"/><Relationship Id="rId14" Type="http://schemas.openxmlformats.org/officeDocument/2006/relationships/hyperlink" Target="https://www.instagram.com/amkortechnology/" TargetMode="External"/><Relationship Id="rId15" Type="http://schemas.openxmlformats.org/officeDocument/2006/relationships/hyperlink" Target="https://amkor.com/amkor-wechat/" TargetMode="External"/><Relationship Id="rId16" Type="http://schemas.openxmlformats.org/officeDocument/2006/relationships/image" Target="../media/image23.png"/><Relationship Id="rId17" Type="http://schemas.openxmlformats.org/officeDocument/2006/relationships/image" Target="../media/image4.sv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hyperlink" Target="https://amkor.com/" TargetMode="External"/><Relationship Id="rId4" Type="http://schemas.openxmlformats.org/officeDocument/2006/relationships/image" Target="../media/image17.svg"/><Relationship Id="rId5" Type="http://schemas.openxmlformats.org/officeDocument/2006/relationships/image" Target="../media/image18.svg"/><Relationship Id="rId6" Type="http://schemas.openxmlformats.org/officeDocument/2006/relationships/image" Target="../media/image19.svg"/><Relationship Id="rId7" Type="http://schemas.openxmlformats.org/officeDocument/2006/relationships/image" Target="../media/image20.svg"/><Relationship Id="rId8" Type="http://schemas.openxmlformats.org/officeDocument/2006/relationships/image" Target="../media/image21.svg"/><Relationship Id="rId9" Type="http://schemas.openxmlformats.org/officeDocument/2006/relationships/image" Target="../media/image22.svg"/><Relationship Id="rId10" Type="http://schemas.openxmlformats.org/officeDocument/2006/relationships/hyperlink" Target="https://www.linkedin.com/company/7135/" TargetMode="External"/><Relationship Id="rId11" Type="http://schemas.openxmlformats.org/officeDocument/2006/relationships/hyperlink" Target="https://www.facebook.com/AmkorTechnology/" TargetMode="External"/><Relationship Id="rId12" Type="http://schemas.openxmlformats.org/officeDocument/2006/relationships/hyperlink" Target="https://twitter.com/AmkorTechnology" TargetMode="External"/><Relationship Id="rId13" Type="http://schemas.openxmlformats.org/officeDocument/2006/relationships/hyperlink" Target="https://www.youtube.com/user/AmkorTechnology" TargetMode="External"/><Relationship Id="rId14" Type="http://schemas.openxmlformats.org/officeDocument/2006/relationships/hyperlink" Target="https://www.instagram.com/amkortechnology/" TargetMode="External"/><Relationship Id="rId15" Type="http://schemas.openxmlformats.org/officeDocument/2006/relationships/hyperlink" Target="https://amkor.com/amkor-wechat/" TargetMode="External"/><Relationship Id="rId16" Type="http://schemas.openxmlformats.org/officeDocument/2006/relationships/image" Target="../media/image4.svg"/><Relationship Id="rId17" Type="http://schemas.openxmlformats.org/officeDocument/2006/relationships/image" Target="../media/image23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hyperlink" Target="https://amkor.com/" TargetMode="External"/><Relationship Id="rId4" Type="http://schemas.openxmlformats.org/officeDocument/2006/relationships/image" Target="../media/image17.svg"/><Relationship Id="rId5" Type="http://schemas.openxmlformats.org/officeDocument/2006/relationships/image" Target="../media/image18.svg"/><Relationship Id="rId6" Type="http://schemas.openxmlformats.org/officeDocument/2006/relationships/image" Target="../media/image19.svg"/><Relationship Id="rId7" Type="http://schemas.openxmlformats.org/officeDocument/2006/relationships/image" Target="../media/image20.svg"/><Relationship Id="rId8" Type="http://schemas.openxmlformats.org/officeDocument/2006/relationships/image" Target="../media/image21.svg"/><Relationship Id="rId9" Type="http://schemas.openxmlformats.org/officeDocument/2006/relationships/image" Target="../media/image22.svg"/><Relationship Id="rId10" Type="http://schemas.openxmlformats.org/officeDocument/2006/relationships/hyperlink" Target="https://www.linkedin.com/company/7135/" TargetMode="External"/><Relationship Id="rId11" Type="http://schemas.openxmlformats.org/officeDocument/2006/relationships/hyperlink" Target="https://www.facebook.com/AmkorTechnology/" TargetMode="External"/><Relationship Id="rId12" Type="http://schemas.openxmlformats.org/officeDocument/2006/relationships/hyperlink" Target="https://twitter.com/AmkorTechnology" TargetMode="External"/><Relationship Id="rId13" Type="http://schemas.openxmlformats.org/officeDocument/2006/relationships/hyperlink" Target="https://www.youtube.com/user/AmkorTechnology" TargetMode="External"/><Relationship Id="rId14" Type="http://schemas.openxmlformats.org/officeDocument/2006/relationships/hyperlink" Target="https://www.instagram.com/amkortechnology/" TargetMode="External"/><Relationship Id="rId15" Type="http://schemas.openxmlformats.org/officeDocument/2006/relationships/hyperlink" Target="https://amkor.com/amkor-wechat/" TargetMode="External"/><Relationship Id="rId16" Type="http://schemas.openxmlformats.org/officeDocument/2006/relationships/image" Target="../media/image4.svg"/><Relationship Id="rId17" Type="http://schemas.openxmlformats.org/officeDocument/2006/relationships/image" Target="../media/image2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8EC4AC5-78AE-B232-0A8C-AD5BD41D49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V="1">
            <a:off x="0" y="0"/>
            <a:ext cx="1496518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9000">
                <a:schemeClr val="accent1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37E3F07-9079-D052-4568-64F428224D8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5139103"/>
            <a:ext cx="2497873" cy="171889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9000">
                <a:schemeClr val="accent1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agline">
            <a:extLst>
              <a:ext uri="{FF2B5EF4-FFF2-40B4-BE49-F238E27FC236}">
                <a16:creationId xmlns:a16="http://schemas.microsoft.com/office/drawing/2014/main" id="{5CA752F2-3C25-457C-F18D-D8F8FDBC62DA}"/>
              </a:ext>
            </a:extLst>
          </p:cNvPr>
          <p:cNvSpPr txBox="1">
            <a:spLocks/>
          </p:cNvSpPr>
          <p:nvPr userDrawn="1"/>
        </p:nvSpPr>
        <p:spPr>
          <a:xfrm>
            <a:off x="7070721" y="4132174"/>
            <a:ext cx="35878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 algn="ctr">
              <a:spcBef>
                <a:spcPts val="600"/>
              </a:spcBef>
              <a:buClr>
                <a:schemeClr val="accent1"/>
              </a:buClr>
              <a:buSzPct val="75000"/>
              <a:buFontTx/>
              <a:buNone/>
            </a:pPr>
            <a:r>
              <a:rPr lang="en-US" sz="240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ENABLING the FUTURE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3C04FAB-D55C-DB32-9FFB-E4868CF3D0F1}"/>
              </a:ext>
            </a:extLst>
          </p:cNvPr>
          <p:cNvCxnSpPr>
            <a:cxnSpLocks/>
          </p:cNvCxnSpPr>
          <p:nvPr userDrawn="1"/>
        </p:nvCxnSpPr>
        <p:spPr>
          <a:xfrm>
            <a:off x="7630201" y="3795032"/>
            <a:ext cx="2468880" cy="0"/>
          </a:xfrm>
          <a:prstGeom prst="line">
            <a:avLst/>
          </a:prstGeom>
          <a:ln w="12700">
            <a:solidFill>
              <a:schemeClr val="tx1">
                <a:lumMod val="40000"/>
                <a:lumOff val="60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Logo">
            <a:extLst>
              <a:ext uri="{FF2B5EF4-FFF2-40B4-BE49-F238E27FC236}">
                <a16:creationId xmlns:a16="http://schemas.microsoft.com/office/drawing/2014/main" id="{1E61868B-1B68-FA4C-E80F-691352C8D8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32266" y="1805221"/>
            <a:ext cx="4464751" cy="1661879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034494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F714C9F-F4B3-FE90-0C35-6329486857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5139103"/>
            <a:ext cx="2497873" cy="171889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9000">
                <a:schemeClr val="accent1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4432E9-1840-C5B0-7486-0DA998AD55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V="1">
            <a:off x="0" y="0"/>
            <a:ext cx="1496518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9000">
                <a:schemeClr val="accent1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Logo">
            <a:extLst>
              <a:ext uri="{FF2B5EF4-FFF2-40B4-BE49-F238E27FC236}">
                <a16:creationId xmlns:a16="http://schemas.microsoft.com/office/drawing/2014/main" id="{32AE74CA-16D4-336C-5820-6FC4862A14AA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355" y="238027"/>
            <a:ext cx="1928945" cy="717997"/>
          </a:xfrm>
          <a:prstGeom prst="rect">
            <a:avLst/>
          </a:prstGeom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9215482-FB81-8B75-2274-F94D2C967C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40096" y="1234440"/>
            <a:ext cx="6592824" cy="2542032"/>
          </a:xfrm>
        </p:spPr>
        <p:txBody>
          <a:bodyPr anchor="b">
            <a:normAutofit/>
          </a:bodyPr>
          <a:lstStyle>
            <a:lvl1pPr algn="r">
              <a:defRPr sz="4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35A007-7785-28B1-B84A-EA57B3AC31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40096" y="3840480"/>
            <a:ext cx="6592824" cy="1627632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F313985B-F241-13B7-9551-E183C7E22035}"/>
              </a:ext>
            </a:extLst>
          </p:cNvPr>
          <p:cNvSpPr txBox="1"/>
          <p:nvPr userDrawn="1"/>
        </p:nvSpPr>
        <p:spPr>
          <a:xfrm>
            <a:off x="9493843" y="6584447"/>
            <a:ext cx="2269532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t>© 2026 Amkor Confidential</a:t>
            </a:r>
            <a:endParaRPr lang="en-US" sz="80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4697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BD802-681B-1BC5-AE24-C6F1BB6E3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218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ADAB4-00EA-45AF-693E-C91030A64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CCFE0-48EF-DFD5-D1AB-1ED37F8D43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186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6DEF5-830D-46FC-EDB4-5E87325E6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224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head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2B1BE-AB8A-D9A5-F7E6-9839416C8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bIns="91440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B2B394-3268-53C7-04E0-D582E375B5A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74638" y="1463040"/>
            <a:ext cx="11658600" cy="4983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2C64FB6A-608B-AF39-35F1-673D1BB348B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4320" y="1005840"/>
            <a:ext cx="11658600" cy="411480"/>
          </a:xfrm>
        </p:spPr>
        <p:txBody>
          <a:bodyPr tIns="0">
            <a:normAutofit/>
          </a:bodyPr>
          <a:lstStyle>
            <a:lvl1pPr marL="0" indent="0">
              <a:buNone/>
              <a:defRPr sz="2000" b="1"/>
            </a:lvl1pPr>
            <a:lvl2pPr marL="274320" indent="0">
              <a:buNone/>
              <a:defRPr/>
            </a:lvl2pPr>
            <a:lvl3pPr marL="548640" indent="0">
              <a:buNone/>
              <a:defRPr/>
            </a:lvl3pPr>
            <a:lvl4pPr marL="822960" indent="0">
              <a:buNone/>
              <a:defRPr/>
            </a:lvl4pPr>
            <a:lvl5pPr marL="1085850" indent="0"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3638071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hea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2B1BE-AB8A-D9A5-F7E6-9839416C8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bIns="91440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198EAC-4053-2F41-6BC8-5E443EAA7F5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4320" y="1005840"/>
            <a:ext cx="11658600" cy="411480"/>
          </a:xfrm>
        </p:spPr>
        <p:txBody>
          <a:bodyPr tIns="0">
            <a:normAutofit/>
          </a:bodyPr>
          <a:lstStyle>
            <a:lvl1pPr marL="0" indent="0">
              <a:buNone/>
              <a:defRPr sz="2000" b="1"/>
            </a:lvl1pPr>
            <a:lvl2pPr marL="274320" indent="0">
              <a:buNone/>
              <a:defRPr/>
            </a:lvl2pPr>
            <a:lvl3pPr marL="548640" indent="0">
              <a:buNone/>
              <a:defRPr/>
            </a:lvl3pPr>
            <a:lvl4pPr marL="822960" indent="0">
              <a:buNone/>
              <a:defRPr/>
            </a:lvl4pPr>
            <a:lvl5pPr marL="1085850" indent="0"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68134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Left, Phot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18060-8E50-9D1A-4246-628978471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90D79E-7067-2DD0-681D-6178CCF062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4320" y="1234440"/>
            <a:ext cx="6044184" cy="52120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2D0D613-2605-9FEF-5E84-B7DC507F428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01384" y="1335024"/>
            <a:ext cx="5687568" cy="5120640"/>
          </a:xfrm>
          <a:solidFill>
            <a:schemeClr val="bg2"/>
          </a:solidFill>
        </p:spPr>
        <p:txBody>
          <a:bodyPr tIns="91440" bIns="91440" anchor="ctr">
            <a:normAutofit/>
          </a:bodyPr>
          <a:lstStyle>
            <a:lvl1pPr marL="0" indent="0" algn="ctr">
              <a:buFontTx/>
              <a:buNone/>
              <a:defRPr sz="1800"/>
            </a:lvl1pPr>
          </a:lstStyle>
          <a:p>
            <a:r>
              <a:rPr lang="en-US"/>
              <a:t>Click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1027974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Left,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18060-8E50-9D1A-4246-628978471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90D79E-7067-2DD0-681D-6178CCF062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88736" y="1234440"/>
            <a:ext cx="6044184" cy="52120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2D0D613-2605-9FEF-5E84-B7DC507F428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335024"/>
            <a:ext cx="5687568" cy="5120640"/>
          </a:xfrm>
          <a:solidFill>
            <a:schemeClr val="bg2"/>
          </a:solidFill>
        </p:spPr>
        <p:txBody>
          <a:bodyPr tIns="91440" bIns="91440" anchor="ctr">
            <a:normAutofit/>
          </a:bodyPr>
          <a:lstStyle>
            <a:lvl1pPr marL="0" indent="0" algn="ctr">
              <a:buFontTx/>
              <a:buNone/>
              <a:defRPr sz="1800"/>
            </a:lvl1pPr>
          </a:lstStyle>
          <a:p>
            <a:r>
              <a:rPr lang="en-US"/>
              <a:t>Click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3428016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Large Phot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18060-8E50-9D1A-4246-628978471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228600"/>
            <a:ext cx="6885432" cy="100584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90D79E-7067-2DD0-681D-6178CCF062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4320" y="1234440"/>
            <a:ext cx="6885432" cy="52120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2D0D613-2605-9FEF-5E84-B7DC507F428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8248" y="0"/>
            <a:ext cx="4873752" cy="6492240"/>
          </a:xfrm>
          <a:solidFill>
            <a:schemeClr val="bg2"/>
          </a:solidFill>
        </p:spPr>
        <p:txBody>
          <a:bodyPr tIns="91440" bIns="91440" anchor="ctr">
            <a:normAutofit/>
          </a:bodyPr>
          <a:lstStyle>
            <a:lvl1pPr marL="0" indent="0" algn="ctr">
              <a:buFontTx/>
              <a:buNone/>
              <a:defRPr sz="1800"/>
            </a:lvl1pPr>
          </a:lstStyle>
          <a:p>
            <a:r>
              <a:rPr lang="en-US"/>
              <a:t>Click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1378331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Large Photo Left,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18060-8E50-9D1A-4246-628978471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9868" y="228600"/>
            <a:ext cx="6885432" cy="100584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90D79E-7067-2DD0-681D-6178CCF062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039868" y="1234440"/>
            <a:ext cx="6885432" cy="52120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2D0D613-2605-9FEF-5E84-B7DC507F428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873752" cy="6492240"/>
          </a:xfrm>
          <a:solidFill>
            <a:schemeClr val="bg2"/>
          </a:solidFill>
        </p:spPr>
        <p:txBody>
          <a:bodyPr tIns="91440" bIns="91440" anchor="ctr">
            <a:normAutofit/>
          </a:bodyPr>
          <a:lstStyle>
            <a:lvl1pPr marL="0" indent="0" algn="ctr">
              <a:buFontTx/>
              <a:buNone/>
              <a:defRPr sz="1800"/>
            </a:lvl1pPr>
          </a:lstStyle>
          <a:p>
            <a:r>
              <a:rPr lang="en-US"/>
              <a:t>Click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30566669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41284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25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8A40CDD-4EC8-945C-9010-6A7AC6FC246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930588" y="1234441"/>
            <a:ext cx="5966393" cy="2537459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C36823-9A35-C048-CE1B-8138AD3CE5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5139103"/>
            <a:ext cx="2497873" cy="171889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9000">
                <a:schemeClr val="accent1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571AE7-85A7-5957-75AD-C699F27C28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V="1">
            <a:off x="0" y="0"/>
            <a:ext cx="1446245" cy="830424"/>
          </a:xfrm>
          <a:prstGeom prst="rect">
            <a:avLst/>
          </a:prstGeom>
          <a:gradFill flip="none" rotWithShape="1">
            <a:gsLst>
              <a:gs pos="0">
                <a:schemeClr val="accent5">
                  <a:alpha val="68000"/>
                </a:schemeClr>
              </a:gs>
              <a:gs pos="59000">
                <a:schemeClr val="accent5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Logo - Footer">
            <a:extLst>
              <a:ext uri="{FF2B5EF4-FFF2-40B4-BE49-F238E27FC236}">
                <a16:creationId xmlns:a16="http://schemas.microsoft.com/office/drawing/2014/main" id="{A8C4B5F9-6CF1-96B6-6ADA-382D46D7F03C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4320" y="6537960"/>
            <a:ext cx="680924" cy="253455"/>
          </a:xfrm>
          <a:prstGeom prst="rect">
            <a:avLst/>
          </a:prstGeom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762636-9EB5-48D2-E7F1-1C640792D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234440"/>
            <a:ext cx="6592824" cy="2542032"/>
          </a:xfrm>
        </p:spPr>
        <p:txBody>
          <a:bodyPr anchor="b"/>
          <a:lstStyle>
            <a:lvl1pPr algn="r">
              <a:defRPr sz="38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40642EA3-14BB-1025-CF95-EEBAC58A51D9}"/>
              </a:ext>
            </a:extLst>
          </p:cNvPr>
          <p:cNvSpPr txBox="1"/>
          <p:nvPr userDrawn="1"/>
        </p:nvSpPr>
        <p:spPr>
          <a:xfrm>
            <a:off x="11525250" y="6584447"/>
            <a:ext cx="457200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1B50DEB-583C-4ABC-9220-E28A8ED62353}" type="slidenum">
              <a:rPr lang="en-US" sz="800" smtClean="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050">
              <a:solidFill>
                <a:schemeClr val="tx1"/>
              </a:solidFill>
              <a:latin typeface="+mn-lt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02469ED6-E3FC-D335-6BD2-7ED221F1258B}"/>
              </a:ext>
            </a:extLst>
          </p:cNvPr>
          <p:cNvSpPr txBox="1"/>
          <p:nvPr userDrawn="1"/>
        </p:nvSpPr>
        <p:spPr>
          <a:xfrm>
            <a:off x="9493843" y="6584447"/>
            <a:ext cx="2269532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t>© 2026 Amkor Confidential</a:t>
            </a:r>
            <a:endParaRPr lang="en-US" sz="80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995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1 with Presenter Detail"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25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7C047CC-F6BF-F563-39C2-5F9E55E97A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5139103"/>
            <a:ext cx="2497873" cy="171889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9000">
                <a:schemeClr val="accent1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FB8280-DB66-F95E-5160-CA1FF92710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930588" y="1234441"/>
            <a:ext cx="5966393" cy="4233671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E74C26-F1D3-8E94-8481-6C3CA0F00F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V="1">
            <a:off x="0" y="0"/>
            <a:ext cx="1446245" cy="830424"/>
          </a:xfrm>
          <a:prstGeom prst="rect">
            <a:avLst/>
          </a:prstGeom>
          <a:gradFill flip="none" rotWithShape="1">
            <a:gsLst>
              <a:gs pos="0">
                <a:schemeClr val="accent5">
                  <a:alpha val="68000"/>
                </a:schemeClr>
              </a:gs>
              <a:gs pos="59000">
                <a:schemeClr val="accent5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Logo - Footer">
            <a:extLst>
              <a:ext uri="{FF2B5EF4-FFF2-40B4-BE49-F238E27FC236}">
                <a16:creationId xmlns:a16="http://schemas.microsoft.com/office/drawing/2014/main" id="{1D0FE792-8E1D-2F1B-D6A1-1C58A9297DD9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4320" y="6537960"/>
            <a:ext cx="680924" cy="253455"/>
          </a:xfrm>
          <a:prstGeom prst="rect">
            <a:avLst/>
          </a:prstGeom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762636-9EB5-48D2-E7F1-1C640792D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234440"/>
            <a:ext cx="6592824" cy="2542032"/>
          </a:xfrm>
        </p:spPr>
        <p:txBody>
          <a:bodyPr anchor="b"/>
          <a:lstStyle>
            <a:lvl1pPr algn="r">
              <a:defRPr sz="38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FC94AB-1A07-134D-958D-2B3A14F2A7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40096" y="3840480"/>
            <a:ext cx="6592824" cy="1627632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087DCBD9-CEAE-F9B0-2A46-7AB61F22BB7E}"/>
              </a:ext>
            </a:extLst>
          </p:cNvPr>
          <p:cNvSpPr txBox="1"/>
          <p:nvPr userDrawn="1"/>
        </p:nvSpPr>
        <p:spPr>
          <a:xfrm>
            <a:off x="11525250" y="6584447"/>
            <a:ext cx="457200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1B50DEB-583C-4ABC-9220-E28A8ED62353}" type="slidenum">
              <a:rPr lang="en-US" sz="800" smtClean="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050">
              <a:solidFill>
                <a:schemeClr val="tx1"/>
              </a:solidFill>
              <a:latin typeface="+mn-lt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ooter placeholder">
            <a:extLst>
              <a:ext uri="{FF2B5EF4-FFF2-40B4-BE49-F238E27FC236}">
                <a16:creationId xmlns:a16="http://schemas.microsoft.com/office/drawing/2014/main" id="{91F19674-CA42-B901-2E3D-262D384C24BB}"/>
              </a:ext>
            </a:extLst>
          </p:cNvPr>
          <p:cNvSpPr txBox="1"/>
          <p:nvPr userDrawn="1"/>
        </p:nvSpPr>
        <p:spPr>
          <a:xfrm>
            <a:off x="9493843" y="6584447"/>
            <a:ext cx="2269532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t>© 2026 Amkor Confidential</a:t>
            </a:r>
            <a:endParaRPr lang="en-US" sz="80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5900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2"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25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D4B4E21-2EC0-5946-580D-6FBB6B51742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5139103"/>
            <a:ext cx="2497873" cy="171889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9000">
                <a:schemeClr val="accent1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A9D06E-B754-3A25-38E7-E5452ED28F6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930588" y="1234441"/>
            <a:ext cx="5966393" cy="2537459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3E9C13-7C0D-7CE6-6B9D-2CCE5D7B1F2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V="1">
            <a:off x="0" y="0"/>
            <a:ext cx="1446245" cy="750849"/>
          </a:xfrm>
          <a:prstGeom prst="rect">
            <a:avLst/>
          </a:prstGeom>
          <a:gradFill flip="none" rotWithShape="1">
            <a:gsLst>
              <a:gs pos="0">
                <a:schemeClr val="accent5">
                  <a:alpha val="68000"/>
                </a:schemeClr>
              </a:gs>
              <a:gs pos="59000">
                <a:schemeClr val="accent5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Logo - Footer">
            <a:extLst>
              <a:ext uri="{FF2B5EF4-FFF2-40B4-BE49-F238E27FC236}">
                <a16:creationId xmlns:a16="http://schemas.microsoft.com/office/drawing/2014/main" id="{A8C4B5F9-6CF1-96B6-6ADA-382D46D7F03C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4320" y="6537960"/>
            <a:ext cx="680924" cy="253455"/>
          </a:xfrm>
          <a:prstGeom prst="rect">
            <a:avLst/>
          </a:prstGeom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762636-9EB5-48D2-E7F1-1C640792D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234440"/>
            <a:ext cx="6592824" cy="2542032"/>
          </a:xfrm>
        </p:spPr>
        <p:txBody>
          <a:bodyPr anchor="b"/>
          <a:lstStyle>
            <a:lvl1pPr algn="r">
              <a:defRPr sz="38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661D9926-D5B9-D1C5-4819-9F1B27A79D9C}"/>
              </a:ext>
            </a:extLst>
          </p:cNvPr>
          <p:cNvSpPr txBox="1"/>
          <p:nvPr userDrawn="1"/>
        </p:nvSpPr>
        <p:spPr>
          <a:xfrm>
            <a:off x="11525250" y="6584447"/>
            <a:ext cx="457200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1B50DEB-583C-4ABC-9220-E28A8ED62353}" type="slidenum">
              <a:rPr lang="en-US" sz="800" smtClean="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050">
              <a:solidFill>
                <a:schemeClr val="tx1"/>
              </a:solidFill>
              <a:latin typeface="+mn-lt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">
            <a:extLst>
              <a:ext uri="{FF2B5EF4-FFF2-40B4-BE49-F238E27FC236}">
                <a16:creationId xmlns:a16="http://schemas.microsoft.com/office/drawing/2014/main" id="{CA5A3FD8-9CBA-F6D7-1F73-D39842683DF4}"/>
              </a:ext>
            </a:extLst>
          </p:cNvPr>
          <p:cNvSpPr txBox="1"/>
          <p:nvPr userDrawn="1"/>
        </p:nvSpPr>
        <p:spPr>
          <a:xfrm>
            <a:off x="9493843" y="6584447"/>
            <a:ext cx="2269532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t>© 2026 Amkor Confidential</a:t>
            </a:r>
            <a:endParaRPr lang="en-US" sz="80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18100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2 with Presenter Det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8259EC5-35B8-E79E-D814-9A379939336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5139103"/>
            <a:ext cx="2497873" cy="171889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9000">
                <a:schemeClr val="accent1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54A28C-33AD-A044-2457-2CF56350B24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6349" y="0"/>
            <a:ext cx="12204698" cy="685799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1DAD315-697D-B604-8E76-7FFCCC974D4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930588" y="1234441"/>
            <a:ext cx="5966393" cy="4233671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E74C26-F1D3-8E94-8481-6C3CA0F00F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V="1">
            <a:off x="0" y="0"/>
            <a:ext cx="1446245" cy="750849"/>
          </a:xfrm>
          <a:prstGeom prst="rect">
            <a:avLst/>
          </a:prstGeom>
          <a:gradFill flip="none" rotWithShape="1">
            <a:gsLst>
              <a:gs pos="0">
                <a:schemeClr val="accent5">
                  <a:alpha val="68000"/>
                </a:schemeClr>
              </a:gs>
              <a:gs pos="59000">
                <a:schemeClr val="accent5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Logo - Footer">
            <a:extLst>
              <a:ext uri="{FF2B5EF4-FFF2-40B4-BE49-F238E27FC236}">
                <a16:creationId xmlns:a16="http://schemas.microsoft.com/office/drawing/2014/main" id="{1D0FE792-8E1D-2F1B-D6A1-1C58A9297DD9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4320" y="6537960"/>
            <a:ext cx="680924" cy="253455"/>
          </a:xfrm>
          <a:prstGeom prst="rect">
            <a:avLst/>
          </a:prstGeom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762636-9EB5-48D2-E7F1-1C640792D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234440"/>
            <a:ext cx="6592824" cy="2542032"/>
          </a:xfrm>
        </p:spPr>
        <p:txBody>
          <a:bodyPr anchor="b"/>
          <a:lstStyle>
            <a:lvl1pPr algn="r">
              <a:defRPr sz="38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FC94AB-1A07-134D-958D-2B3A14F2A7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40096" y="3840480"/>
            <a:ext cx="6592824" cy="1627632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4071A4ED-4367-F05B-1581-2DF5160807D3}"/>
              </a:ext>
            </a:extLst>
          </p:cNvPr>
          <p:cNvSpPr txBox="1"/>
          <p:nvPr userDrawn="1"/>
        </p:nvSpPr>
        <p:spPr>
          <a:xfrm>
            <a:off x="11525250" y="6584447"/>
            <a:ext cx="457200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1B50DEB-583C-4ABC-9220-E28A8ED62353}" type="slidenum">
              <a:rPr lang="en-US" sz="800" smtClean="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050">
              <a:solidFill>
                <a:schemeClr val="tx1"/>
              </a:solidFill>
              <a:latin typeface="+mn-lt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ooter placeholder">
            <a:extLst>
              <a:ext uri="{FF2B5EF4-FFF2-40B4-BE49-F238E27FC236}">
                <a16:creationId xmlns:a16="http://schemas.microsoft.com/office/drawing/2014/main" id="{DCC68B48-67EE-0ADC-2C03-62FED0A27649}"/>
              </a:ext>
            </a:extLst>
          </p:cNvPr>
          <p:cNvSpPr txBox="1"/>
          <p:nvPr userDrawn="1"/>
        </p:nvSpPr>
        <p:spPr>
          <a:xfrm>
            <a:off x="9493843" y="6584447"/>
            <a:ext cx="2269532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t>© 2026 Amkor Confidential</a:t>
            </a:r>
            <a:endParaRPr lang="en-US" sz="80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84550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3"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5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89D9F9E-EA20-FC3D-0A21-5330E11CF10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5139103"/>
            <a:ext cx="2497873" cy="171889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9000">
                <a:schemeClr val="accent1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6E26FC-677F-A1FD-2DEE-732564EE987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930588" y="1234441"/>
            <a:ext cx="5966393" cy="2537459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571AE7-85A7-5957-75AD-C699F27C28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V="1">
            <a:off x="0" y="0"/>
            <a:ext cx="1446245" cy="830424"/>
          </a:xfrm>
          <a:prstGeom prst="rect">
            <a:avLst/>
          </a:prstGeom>
          <a:gradFill flip="none" rotWithShape="1">
            <a:gsLst>
              <a:gs pos="0">
                <a:schemeClr val="accent5">
                  <a:alpha val="68000"/>
                </a:schemeClr>
              </a:gs>
              <a:gs pos="59000">
                <a:schemeClr val="accent5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Logo - Footer">
            <a:extLst>
              <a:ext uri="{FF2B5EF4-FFF2-40B4-BE49-F238E27FC236}">
                <a16:creationId xmlns:a16="http://schemas.microsoft.com/office/drawing/2014/main" id="{A8C4B5F9-6CF1-96B6-6ADA-382D46D7F03C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4320" y="6537960"/>
            <a:ext cx="680924" cy="253455"/>
          </a:xfrm>
          <a:prstGeom prst="rect">
            <a:avLst/>
          </a:prstGeom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762636-9EB5-48D2-E7F1-1C640792D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234440"/>
            <a:ext cx="6592824" cy="2542032"/>
          </a:xfrm>
        </p:spPr>
        <p:txBody>
          <a:bodyPr anchor="b"/>
          <a:lstStyle>
            <a:lvl1pPr algn="r">
              <a:defRPr sz="38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A8AFF42D-0F9C-FE91-7C18-46700277FB47}"/>
              </a:ext>
            </a:extLst>
          </p:cNvPr>
          <p:cNvSpPr txBox="1"/>
          <p:nvPr userDrawn="1"/>
        </p:nvSpPr>
        <p:spPr>
          <a:xfrm>
            <a:off x="11525250" y="6584447"/>
            <a:ext cx="457200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1B50DEB-583C-4ABC-9220-E28A8ED62353}" type="slidenum">
              <a:rPr lang="en-US" sz="800" smtClean="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050">
              <a:solidFill>
                <a:schemeClr val="tx1"/>
              </a:solidFill>
              <a:latin typeface="+mn-lt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">
            <a:extLst>
              <a:ext uri="{FF2B5EF4-FFF2-40B4-BE49-F238E27FC236}">
                <a16:creationId xmlns:a16="http://schemas.microsoft.com/office/drawing/2014/main" id="{DA732CBD-D0AB-0E65-657D-31832791087F}"/>
              </a:ext>
            </a:extLst>
          </p:cNvPr>
          <p:cNvSpPr txBox="1"/>
          <p:nvPr userDrawn="1"/>
        </p:nvSpPr>
        <p:spPr>
          <a:xfrm>
            <a:off x="9493843" y="6584447"/>
            <a:ext cx="2269532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t>© 2026 Amkor Confidential</a:t>
            </a:r>
            <a:endParaRPr lang="en-US" sz="80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94312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3 with Presenter Detail"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5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8FECE87B-56B4-0D72-953E-46023660D6C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5139103"/>
            <a:ext cx="2497873" cy="171889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9000">
                <a:schemeClr val="accent1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9DDD9F-23F5-AEF8-F9F9-621127BA12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930588" y="1234441"/>
            <a:ext cx="5966393" cy="4233671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E74C26-F1D3-8E94-8481-6C3CA0F00F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V="1">
            <a:off x="0" y="0"/>
            <a:ext cx="1446245" cy="830424"/>
          </a:xfrm>
          <a:prstGeom prst="rect">
            <a:avLst/>
          </a:prstGeom>
          <a:gradFill flip="none" rotWithShape="1">
            <a:gsLst>
              <a:gs pos="0">
                <a:schemeClr val="accent5">
                  <a:alpha val="68000"/>
                </a:schemeClr>
              </a:gs>
              <a:gs pos="59000">
                <a:schemeClr val="accent5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Logo - Footer">
            <a:extLst>
              <a:ext uri="{FF2B5EF4-FFF2-40B4-BE49-F238E27FC236}">
                <a16:creationId xmlns:a16="http://schemas.microsoft.com/office/drawing/2014/main" id="{1D0FE792-8E1D-2F1B-D6A1-1C58A9297DD9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4320" y="6537960"/>
            <a:ext cx="680924" cy="253455"/>
          </a:xfrm>
          <a:prstGeom prst="rect">
            <a:avLst/>
          </a:prstGeom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762636-9EB5-48D2-E7F1-1C640792D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234440"/>
            <a:ext cx="6592824" cy="2542032"/>
          </a:xfrm>
        </p:spPr>
        <p:txBody>
          <a:bodyPr anchor="b"/>
          <a:lstStyle>
            <a:lvl1pPr algn="r">
              <a:defRPr sz="38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FC94AB-1A07-134D-958D-2B3A14F2A7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40096" y="3840480"/>
            <a:ext cx="6592824" cy="1627632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1" name="Slide Number placeholder">
            <a:extLst>
              <a:ext uri="{FF2B5EF4-FFF2-40B4-BE49-F238E27FC236}">
                <a16:creationId xmlns:a16="http://schemas.microsoft.com/office/drawing/2014/main" id="{52A03466-DD0A-C4BD-3575-4620ECFE88C7}"/>
              </a:ext>
            </a:extLst>
          </p:cNvPr>
          <p:cNvSpPr txBox="1"/>
          <p:nvPr userDrawn="1"/>
        </p:nvSpPr>
        <p:spPr>
          <a:xfrm>
            <a:off x="11525250" y="6584447"/>
            <a:ext cx="457200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1B50DEB-583C-4ABC-9220-E28A8ED62353}" type="slidenum">
              <a:rPr lang="en-US" sz="800" smtClean="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050">
              <a:solidFill>
                <a:schemeClr val="tx1"/>
              </a:solidFill>
              <a:latin typeface="+mn-lt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ooter placeholder">
            <a:extLst>
              <a:ext uri="{FF2B5EF4-FFF2-40B4-BE49-F238E27FC236}">
                <a16:creationId xmlns:a16="http://schemas.microsoft.com/office/drawing/2014/main" id="{62E2F20D-DC80-8688-154E-55734E6DD694}"/>
              </a:ext>
            </a:extLst>
          </p:cNvPr>
          <p:cNvSpPr txBox="1"/>
          <p:nvPr userDrawn="1"/>
        </p:nvSpPr>
        <p:spPr>
          <a:xfrm>
            <a:off x="9493843" y="6584447"/>
            <a:ext cx="2269532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t>© 2026 Amkor Confidential</a:t>
            </a:r>
            <a:endParaRPr lang="en-US" sz="80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81305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4"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5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D51A44D-E51D-CFBB-6120-FDE3B08D368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5139103"/>
            <a:ext cx="2497873" cy="171889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9000">
                <a:schemeClr val="accent1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7EC1F3-564C-4CA0-9AC2-2A62F1766F8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930588" y="1234441"/>
            <a:ext cx="5966393" cy="2537459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571AE7-85A7-5957-75AD-C699F27C28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V="1">
            <a:off x="0" y="0"/>
            <a:ext cx="1446245" cy="830424"/>
          </a:xfrm>
          <a:prstGeom prst="rect">
            <a:avLst/>
          </a:prstGeom>
          <a:gradFill flip="none" rotWithShape="1">
            <a:gsLst>
              <a:gs pos="0">
                <a:schemeClr val="accent5">
                  <a:alpha val="68000"/>
                </a:schemeClr>
              </a:gs>
              <a:gs pos="59000">
                <a:schemeClr val="accent5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Logo - Footer">
            <a:extLst>
              <a:ext uri="{FF2B5EF4-FFF2-40B4-BE49-F238E27FC236}">
                <a16:creationId xmlns:a16="http://schemas.microsoft.com/office/drawing/2014/main" id="{A8C4B5F9-6CF1-96B6-6ADA-382D46D7F03C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4320" y="6537960"/>
            <a:ext cx="680924" cy="253455"/>
          </a:xfrm>
          <a:prstGeom prst="rect">
            <a:avLst/>
          </a:prstGeom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762636-9EB5-48D2-E7F1-1C640792D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234440"/>
            <a:ext cx="6592824" cy="2542032"/>
          </a:xfrm>
        </p:spPr>
        <p:txBody>
          <a:bodyPr anchor="b"/>
          <a:lstStyle>
            <a:lvl1pPr algn="r">
              <a:defRPr sz="38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2040440D-5451-1B11-BD9A-07D2A5802717}"/>
              </a:ext>
            </a:extLst>
          </p:cNvPr>
          <p:cNvSpPr txBox="1"/>
          <p:nvPr userDrawn="1"/>
        </p:nvSpPr>
        <p:spPr>
          <a:xfrm>
            <a:off x="11525250" y="6584447"/>
            <a:ext cx="457200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1B50DEB-583C-4ABC-9220-E28A8ED62353}" type="slidenum">
              <a:rPr lang="en-US" sz="800" smtClean="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050">
              <a:solidFill>
                <a:schemeClr val="tx1"/>
              </a:solidFill>
              <a:latin typeface="+mn-lt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">
            <a:extLst>
              <a:ext uri="{FF2B5EF4-FFF2-40B4-BE49-F238E27FC236}">
                <a16:creationId xmlns:a16="http://schemas.microsoft.com/office/drawing/2014/main" id="{7B8CB2B9-D494-524D-C92C-93A166B40FCB}"/>
              </a:ext>
            </a:extLst>
          </p:cNvPr>
          <p:cNvSpPr txBox="1"/>
          <p:nvPr userDrawn="1"/>
        </p:nvSpPr>
        <p:spPr>
          <a:xfrm>
            <a:off x="9493843" y="6584447"/>
            <a:ext cx="2269532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t>© 2026 Amkor Confidential</a:t>
            </a:r>
            <a:endParaRPr lang="en-US" sz="80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105852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4 with Presenter Detail"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5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B6326E7-D420-1F7C-AB53-DD038D8D0F4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5139103"/>
            <a:ext cx="2497873" cy="171889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9000">
                <a:schemeClr val="accent1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B62A9F-AD17-8B85-74DC-79C498C69F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930588" y="1234441"/>
            <a:ext cx="5966393" cy="4233671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E74C26-F1D3-8E94-8481-6C3CA0F00F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V="1">
            <a:off x="0" y="0"/>
            <a:ext cx="1446245" cy="830424"/>
          </a:xfrm>
          <a:prstGeom prst="rect">
            <a:avLst/>
          </a:prstGeom>
          <a:gradFill flip="none" rotWithShape="1">
            <a:gsLst>
              <a:gs pos="0">
                <a:schemeClr val="accent5">
                  <a:alpha val="68000"/>
                </a:schemeClr>
              </a:gs>
              <a:gs pos="59000">
                <a:schemeClr val="accent5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Logo - Footer">
            <a:extLst>
              <a:ext uri="{FF2B5EF4-FFF2-40B4-BE49-F238E27FC236}">
                <a16:creationId xmlns:a16="http://schemas.microsoft.com/office/drawing/2014/main" id="{1D0FE792-8E1D-2F1B-D6A1-1C58A9297DD9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4320" y="6537960"/>
            <a:ext cx="680924" cy="253455"/>
          </a:xfrm>
          <a:prstGeom prst="rect">
            <a:avLst/>
          </a:prstGeom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762636-9EB5-48D2-E7F1-1C640792D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234440"/>
            <a:ext cx="6592824" cy="2542032"/>
          </a:xfrm>
        </p:spPr>
        <p:txBody>
          <a:bodyPr anchor="b"/>
          <a:lstStyle>
            <a:lvl1pPr algn="r">
              <a:defRPr sz="38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FC94AB-1A07-134D-958D-2B3A14F2A7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40096" y="3840480"/>
            <a:ext cx="6592824" cy="1627632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0AA71861-1706-61AB-27F8-9C61FD41FF3C}"/>
              </a:ext>
            </a:extLst>
          </p:cNvPr>
          <p:cNvSpPr txBox="1"/>
          <p:nvPr userDrawn="1"/>
        </p:nvSpPr>
        <p:spPr>
          <a:xfrm>
            <a:off x="11525250" y="6584447"/>
            <a:ext cx="457200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1B50DEB-583C-4ABC-9220-E28A8ED62353}" type="slidenum">
              <a:rPr lang="en-US" sz="800" smtClean="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050">
              <a:solidFill>
                <a:schemeClr val="tx1"/>
              </a:solidFill>
              <a:latin typeface="+mn-lt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ooter placeholder">
            <a:extLst>
              <a:ext uri="{FF2B5EF4-FFF2-40B4-BE49-F238E27FC236}">
                <a16:creationId xmlns:a16="http://schemas.microsoft.com/office/drawing/2014/main" id="{D4B0C5B3-3B8D-A6A2-4235-A27769F6B5C8}"/>
              </a:ext>
            </a:extLst>
          </p:cNvPr>
          <p:cNvSpPr txBox="1"/>
          <p:nvPr userDrawn="1"/>
        </p:nvSpPr>
        <p:spPr>
          <a:xfrm>
            <a:off x="9493843" y="6584447"/>
            <a:ext cx="2269532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t>© 2026 Amkor Confidential</a:t>
            </a:r>
            <a:endParaRPr lang="en-US" sz="80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12201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5"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5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988091B-7B4F-3EC7-116A-8D0F481764D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5139103"/>
            <a:ext cx="2497873" cy="171889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9000">
                <a:schemeClr val="accent1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6E26FC-677F-A1FD-2DEE-732564EE987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930588" y="1234441"/>
            <a:ext cx="5966393" cy="2537459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571AE7-85A7-5957-75AD-C699F27C28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V="1">
            <a:off x="0" y="0"/>
            <a:ext cx="1446245" cy="830424"/>
          </a:xfrm>
          <a:prstGeom prst="rect">
            <a:avLst/>
          </a:prstGeom>
          <a:gradFill flip="none" rotWithShape="1">
            <a:gsLst>
              <a:gs pos="0">
                <a:schemeClr val="accent5">
                  <a:alpha val="68000"/>
                </a:schemeClr>
              </a:gs>
              <a:gs pos="59000">
                <a:schemeClr val="accent5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Logo - Footer">
            <a:extLst>
              <a:ext uri="{FF2B5EF4-FFF2-40B4-BE49-F238E27FC236}">
                <a16:creationId xmlns:a16="http://schemas.microsoft.com/office/drawing/2014/main" id="{A8C4B5F9-6CF1-96B6-6ADA-382D46D7F03C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4320" y="6537960"/>
            <a:ext cx="680924" cy="253455"/>
          </a:xfrm>
          <a:prstGeom prst="rect">
            <a:avLst/>
          </a:prstGeom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762636-9EB5-48D2-E7F1-1C640792D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234440"/>
            <a:ext cx="6592824" cy="2542032"/>
          </a:xfrm>
        </p:spPr>
        <p:txBody>
          <a:bodyPr anchor="b"/>
          <a:lstStyle>
            <a:lvl1pPr algn="r">
              <a:defRPr sz="38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4FEBD61B-4861-07EA-9038-C84C3C7ED622}"/>
              </a:ext>
            </a:extLst>
          </p:cNvPr>
          <p:cNvSpPr txBox="1"/>
          <p:nvPr userDrawn="1"/>
        </p:nvSpPr>
        <p:spPr>
          <a:xfrm>
            <a:off x="11525250" y="6584447"/>
            <a:ext cx="457200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1B50DEB-583C-4ABC-9220-E28A8ED62353}" type="slidenum">
              <a:rPr lang="en-US" sz="800" smtClean="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050">
              <a:solidFill>
                <a:schemeClr val="tx1"/>
              </a:solidFill>
              <a:latin typeface="+mn-lt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">
            <a:extLst>
              <a:ext uri="{FF2B5EF4-FFF2-40B4-BE49-F238E27FC236}">
                <a16:creationId xmlns:a16="http://schemas.microsoft.com/office/drawing/2014/main" id="{827C4BB4-8CF0-F349-98F1-140DBBE71BFF}"/>
              </a:ext>
            </a:extLst>
          </p:cNvPr>
          <p:cNvSpPr txBox="1"/>
          <p:nvPr userDrawn="1"/>
        </p:nvSpPr>
        <p:spPr>
          <a:xfrm>
            <a:off x="9493843" y="6584447"/>
            <a:ext cx="2269532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t>© 2026 Amkor Confidential</a:t>
            </a:r>
            <a:endParaRPr lang="en-US" sz="80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37204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5 with Presenter Detai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356E3A8-55B0-CD9E-11CA-20D4B91BCA5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5139103"/>
            <a:ext cx="2497873" cy="171889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9000">
                <a:schemeClr val="accent1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9DDD9F-23F5-AEF8-F9F9-621127BA12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930588" y="1234441"/>
            <a:ext cx="5966393" cy="4233671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E74C26-F1D3-8E94-8481-6C3CA0F00F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V="1">
            <a:off x="0" y="0"/>
            <a:ext cx="1446245" cy="830424"/>
          </a:xfrm>
          <a:prstGeom prst="rect">
            <a:avLst/>
          </a:prstGeom>
          <a:gradFill flip="none" rotWithShape="1">
            <a:gsLst>
              <a:gs pos="0">
                <a:schemeClr val="accent5">
                  <a:alpha val="68000"/>
                </a:schemeClr>
              </a:gs>
              <a:gs pos="59000">
                <a:schemeClr val="accent5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Logo - Footer">
            <a:extLst>
              <a:ext uri="{FF2B5EF4-FFF2-40B4-BE49-F238E27FC236}">
                <a16:creationId xmlns:a16="http://schemas.microsoft.com/office/drawing/2014/main" id="{1D0FE792-8E1D-2F1B-D6A1-1C58A9297DD9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4320" y="6537960"/>
            <a:ext cx="680924" cy="253455"/>
          </a:xfrm>
          <a:prstGeom prst="rect">
            <a:avLst/>
          </a:prstGeom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762636-9EB5-48D2-E7F1-1C640792D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234440"/>
            <a:ext cx="6592824" cy="2542032"/>
          </a:xfrm>
        </p:spPr>
        <p:txBody>
          <a:bodyPr anchor="b"/>
          <a:lstStyle>
            <a:lvl1pPr algn="r">
              <a:defRPr sz="38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FC94AB-1A07-134D-958D-2B3A14F2A7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40096" y="3840480"/>
            <a:ext cx="6592824" cy="1627632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D30C66C-0E18-5749-525A-7B969D142EDE}"/>
              </a:ext>
            </a:extLst>
          </p:cNvPr>
          <p:cNvSpPr txBox="1"/>
          <p:nvPr userDrawn="1"/>
        </p:nvSpPr>
        <p:spPr>
          <a:xfrm>
            <a:off x="11525250" y="6584447"/>
            <a:ext cx="457200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1B50DEB-583C-4ABC-9220-E28A8ED62353}" type="slidenum">
              <a:rPr lang="en-US" sz="800" smtClean="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050">
              <a:solidFill>
                <a:schemeClr val="tx1"/>
              </a:solidFill>
              <a:latin typeface="+mn-lt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">
            <a:extLst>
              <a:ext uri="{FF2B5EF4-FFF2-40B4-BE49-F238E27FC236}">
                <a16:creationId xmlns:a16="http://schemas.microsoft.com/office/drawing/2014/main" id="{B184B30B-E3E5-A31C-657E-E1A4301DEEAA}"/>
              </a:ext>
            </a:extLst>
          </p:cNvPr>
          <p:cNvSpPr txBox="1"/>
          <p:nvPr userDrawn="1"/>
        </p:nvSpPr>
        <p:spPr>
          <a:xfrm>
            <a:off x="9493843" y="6584447"/>
            <a:ext cx="2269532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t>© 2026 Amkor Confidential</a:t>
            </a:r>
            <a:endParaRPr lang="en-US" sz="80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422630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6"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5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91647CF-1BAE-CAF5-E091-9B3CAF3EB88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5139103"/>
            <a:ext cx="2497873" cy="171889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9000">
                <a:schemeClr val="accent1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7EC1F3-564C-4CA0-9AC2-2A62F1766F8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930588" y="1234441"/>
            <a:ext cx="5966393" cy="2537459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571AE7-85A7-5957-75AD-C699F27C28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V="1">
            <a:off x="0" y="0"/>
            <a:ext cx="1446245" cy="830424"/>
          </a:xfrm>
          <a:prstGeom prst="rect">
            <a:avLst/>
          </a:prstGeom>
          <a:gradFill flip="none" rotWithShape="1">
            <a:gsLst>
              <a:gs pos="0">
                <a:schemeClr val="accent5">
                  <a:alpha val="68000"/>
                </a:schemeClr>
              </a:gs>
              <a:gs pos="59000">
                <a:schemeClr val="accent5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Logo - Footer">
            <a:extLst>
              <a:ext uri="{FF2B5EF4-FFF2-40B4-BE49-F238E27FC236}">
                <a16:creationId xmlns:a16="http://schemas.microsoft.com/office/drawing/2014/main" id="{A8C4B5F9-6CF1-96B6-6ADA-382D46D7F03C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4320" y="6537960"/>
            <a:ext cx="680924" cy="253455"/>
          </a:xfrm>
          <a:prstGeom prst="rect">
            <a:avLst/>
          </a:prstGeom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762636-9EB5-48D2-E7F1-1C640792D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234440"/>
            <a:ext cx="6592824" cy="2542032"/>
          </a:xfrm>
        </p:spPr>
        <p:txBody>
          <a:bodyPr anchor="b"/>
          <a:lstStyle>
            <a:lvl1pPr algn="r">
              <a:defRPr sz="38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B15815CF-2B6B-E31D-7009-D1046CC37B34}"/>
              </a:ext>
            </a:extLst>
          </p:cNvPr>
          <p:cNvSpPr txBox="1"/>
          <p:nvPr userDrawn="1"/>
        </p:nvSpPr>
        <p:spPr>
          <a:xfrm>
            <a:off x="11525250" y="6584447"/>
            <a:ext cx="457200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1B50DEB-583C-4ABC-9220-E28A8ED62353}" type="slidenum">
              <a:rPr lang="en-US" sz="800" smtClean="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050">
              <a:solidFill>
                <a:schemeClr val="tx1"/>
              </a:solidFill>
              <a:latin typeface="+mn-lt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">
            <a:extLst>
              <a:ext uri="{FF2B5EF4-FFF2-40B4-BE49-F238E27FC236}">
                <a16:creationId xmlns:a16="http://schemas.microsoft.com/office/drawing/2014/main" id="{3B79089F-0FBD-EDBC-41E0-604FF31E5F1F}"/>
              </a:ext>
            </a:extLst>
          </p:cNvPr>
          <p:cNvSpPr txBox="1"/>
          <p:nvPr userDrawn="1"/>
        </p:nvSpPr>
        <p:spPr>
          <a:xfrm>
            <a:off x="9493843" y="6584447"/>
            <a:ext cx="2269532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t>© 2026 Amkor Confidential</a:t>
            </a:r>
            <a:endParaRPr lang="en-US" sz="80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30688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6 with Presenter Detail"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5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D71F1A7-661A-1445-0F72-A0B7BA3DE18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5139103"/>
            <a:ext cx="2497873" cy="171889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9000">
                <a:schemeClr val="accent1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B62A9F-AD17-8B85-74DC-79C498C69F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930588" y="1234441"/>
            <a:ext cx="5966393" cy="4233671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E74C26-F1D3-8E94-8481-6C3CA0F00F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V="1">
            <a:off x="0" y="0"/>
            <a:ext cx="1446245" cy="830424"/>
          </a:xfrm>
          <a:prstGeom prst="rect">
            <a:avLst/>
          </a:prstGeom>
          <a:gradFill flip="none" rotWithShape="1">
            <a:gsLst>
              <a:gs pos="0">
                <a:schemeClr val="accent5">
                  <a:alpha val="68000"/>
                </a:schemeClr>
              </a:gs>
              <a:gs pos="59000">
                <a:schemeClr val="accent5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Logo - Footer">
            <a:extLst>
              <a:ext uri="{FF2B5EF4-FFF2-40B4-BE49-F238E27FC236}">
                <a16:creationId xmlns:a16="http://schemas.microsoft.com/office/drawing/2014/main" id="{1D0FE792-8E1D-2F1B-D6A1-1C58A9297DD9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4320" y="6537960"/>
            <a:ext cx="680924" cy="253455"/>
          </a:xfrm>
          <a:prstGeom prst="rect">
            <a:avLst/>
          </a:prstGeom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762636-9EB5-48D2-E7F1-1C640792D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234440"/>
            <a:ext cx="6592824" cy="2542032"/>
          </a:xfrm>
        </p:spPr>
        <p:txBody>
          <a:bodyPr anchor="b"/>
          <a:lstStyle>
            <a:lvl1pPr algn="r">
              <a:defRPr sz="38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FC94AB-1A07-134D-958D-2B3A14F2A7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40096" y="3840480"/>
            <a:ext cx="6592824" cy="1627632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C04075FB-AEC7-0C6B-1886-76D2D33879AC}"/>
              </a:ext>
            </a:extLst>
          </p:cNvPr>
          <p:cNvSpPr txBox="1"/>
          <p:nvPr userDrawn="1"/>
        </p:nvSpPr>
        <p:spPr>
          <a:xfrm>
            <a:off x="11525250" y="6584447"/>
            <a:ext cx="457200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1B50DEB-583C-4ABC-9220-E28A8ED62353}" type="slidenum">
              <a:rPr lang="en-US" sz="800" smtClean="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050">
              <a:solidFill>
                <a:schemeClr val="tx1"/>
              </a:solidFill>
              <a:latin typeface="+mn-lt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ooter placeholder">
            <a:extLst>
              <a:ext uri="{FF2B5EF4-FFF2-40B4-BE49-F238E27FC236}">
                <a16:creationId xmlns:a16="http://schemas.microsoft.com/office/drawing/2014/main" id="{B785AA98-DDB8-19DC-0A39-D363921B447F}"/>
              </a:ext>
            </a:extLst>
          </p:cNvPr>
          <p:cNvSpPr txBox="1"/>
          <p:nvPr userDrawn="1"/>
        </p:nvSpPr>
        <p:spPr>
          <a:xfrm>
            <a:off x="9493843" y="6584447"/>
            <a:ext cx="2269532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t>© 2026 Amkor Confidential</a:t>
            </a:r>
            <a:endParaRPr lang="en-US" sz="80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921099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7"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25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5F637F5-3A34-9ACB-EF90-CA6B5A757C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5139103"/>
            <a:ext cx="2497873" cy="171889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9000">
                <a:schemeClr val="accent1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7EC1F3-564C-4CA0-9AC2-2A62F1766F8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930588" y="1234441"/>
            <a:ext cx="5966393" cy="2537459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571AE7-85A7-5957-75AD-C699F27C28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V="1">
            <a:off x="0" y="0"/>
            <a:ext cx="1446245" cy="830424"/>
          </a:xfrm>
          <a:prstGeom prst="rect">
            <a:avLst/>
          </a:prstGeom>
          <a:gradFill flip="none" rotWithShape="1">
            <a:gsLst>
              <a:gs pos="0">
                <a:schemeClr val="accent5">
                  <a:alpha val="68000"/>
                </a:schemeClr>
              </a:gs>
              <a:gs pos="59000">
                <a:schemeClr val="accent5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Logo - Footer">
            <a:extLst>
              <a:ext uri="{FF2B5EF4-FFF2-40B4-BE49-F238E27FC236}">
                <a16:creationId xmlns:a16="http://schemas.microsoft.com/office/drawing/2014/main" id="{A8C4B5F9-6CF1-96B6-6ADA-382D46D7F03C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4320" y="6537960"/>
            <a:ext cx="680924" cy="253455"/>
          </a:xfrm>
          <a:prstGeom prst="rect">
            <a:avLst/>
          </a:prstGeom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762636-9EB5-48D2-E7F1-1C640792D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234440"/>
            <a:ext cx="6592824" cy="2542032"/>
          </a:xfrm>
        </p:spPr>
        <p:txBody>
          <a:bodyPr anchor="b"/>
          <a:lstStyle>
            <a:lvl1pPr algn="r">
              <a:defRPr sz="38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040F9D6D-4FA8-6633-ABFF-42D2A8C06425}"/>
              </a:ext>
            </a:extLst>
          </p:cNvPr>
          <p:cNvSpPr txBox="1"/>
          <p:nvPr userDrawn="1"/>
        </p:nvSpPr>
        <p:spPr>
          <a:xfrm>
            <a:off x="11525250" y="6584447"/>
            <a:ext cx="457200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1B50DEB-583C-4ABC-9220-E28A8ED62353}" type="slidenum">
              <a:rPr lang="en-US" sz="800" smtClean="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050">
              <a:solidFill>
                <a:schemeClr val="tx1"/>
              </a:solidFill>
              <a:latin typeface="+mn-lt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">
            <a:extLst>
              <a:ext uri="{FF2B5EF4-FFF2-40B4-BE49-F238E27FC236}">
                <a16:creationId xmlns:a16="http://schemas.microsoft.com/office/drawing/2014/main" id="{329CB858-C27B-FFED-3238-C8DE19C19355}"/>
              </a:ext>
            </a:extLst>
          </p:cNvPr>
          <p:cNvSpPr txBox="1"/>
          <p:nvPr userDrawn="1"/>
        </p:nvSpPr>
        <p:spPr>
          <a:xfrm>
            <a:off x="9493843" y="6584447"/>
            <a:ext cx="2269532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t>© 2026 Amkor Confidential</a:t>
            </a:r>
            <a:endParaRPr lang="en-US" sz="80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40834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7 with Presenter Detail"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25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04FBE80-A664-3E0B-A749-139E7B3291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5139103"/>
            <a:ext cx="2497873" cy="171889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9000">
                <a:schemeClr val="accent1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B62A9F-AD17-8B85-74DC-79C498C69F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930588" y="1234441"/>
            <a:ext cx="5966393" cy="4233671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E74C26-F1D3-8E94-8481-6C3CA0F00F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V="1">
            <a:off x="0" y="0"/>
            <a:ext cx="1446245" cy="830424"/>
          </a:xfrm>
          <a:prstGeom prst="rect">
            <a:avLst/>
          </a:prstGeom>
          <a:gradFill flip="none" rotWithShape="1">
            <a:gsLst>
              <a:gs pos="0">
                <a:schemeClr val="accent5">
                  <a:alpha val="68000"/>
                </a:schemeClr>
              </a:gs>
              <a:gs pos="59000">
                <a:schemeClr val="accent5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Logo - Footer">
            <a:extLst>
              <a:ext uri="{FF2B5EF4-FFF2-40B4-BE49-F238E27FC236}">
                <a16:creationId xmlns:a16="http://schemas.microsoft.com/office/drawing/2014/main" id="{1D0FE792-8E1D-2F1B-D6A1-1C58A9297DD9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4320" y="6537960"/>
            <a:ext cx="680924" cy="253455"/>
          </a:xfrm>
          <a:prstGeom prst="rect">
            <a:avLst/>
          </a:prstGeom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762636-9EB5-48D2-E7F1-1C640792D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234440"/>
            <a:ext cx="6592824" cy="2542032"/>
          </a:xfrm>
        </p:spPr>
        <p:txBody>
          <a:bodyPr anchor="b"/>
          <a:lstStyle>
            <a:lvl1pPr algn="r">
              <a:defRPr sz="38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FC94AB-1A07-134D-958D-2B3A14F2A7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40096" y="3840480"/>
            <a:ext cx="6592824" cy="1627632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46C938AC-883D-FF78-498C-6022DF40847B}"/>
              </a:ext>
            </a:extLst>
          </p:cNvPr>
          <p:cNvSpPr txBox="1"/>
          <p:nvPr userDrawn="1"/>
        </p:nvSpPr>
        <p:spPr>
          <a:xfrm>
            <a:off x="11525250" y="6584447"/>
            <a:ext cx="457200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1B50DEB-583C-4ABC-9220-E28A8ED62353}" type="slidenum">
              <a:rPr lang="en-US" sz="800" smtClean="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050">
              <a:solidFill>
                <a:schemeClr val="tx1"/>
              </a:solidFill>
              <a:latin typeface="+mn-lt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225E72B9-6269-B1EE-B0F8-77A47494A0D8}"/>
              </a:ext>
            </a:extLst>
          </p:cNvPr>
          <p:cNvSpPr txBox="1"/>
          <p:nvPr userDrawn="1"/>
        </p:nvSpPr>
        <p:spPr>
          <a:xfrm>
            <a:off x="9493843" y="6584447"/>
            <a:ext cx="2269532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t>© 2026 Amkor Confidential</a:t>
            </a:r>
            <a:endParaRPr lang="en-US" sz="80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689996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8"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5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BF2B7BE-4DD9-AB4F-BC23-06697A9B87D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5139103"/>
            <a:ext cx="2497873" cy="171889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9000">
                <a:schemeClr val="accent1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6E26FC-677F-A1FD-2DEE-732564EE987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930588" y="1234441"/>
            <a:ext cx="5966393" cy="2537459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571AE7-85A7-5957-75AD-C699F27C28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V="1">
            <a:off x="0" y="0"/>
            <a:ext cx="1446245" cy="830424"/>
          </a:xfrm>
          <a:prstGeom prst="rect">
            <a:avLst/>
          </a:prstGeom>
          <a:gradFill flip="none" rotWithShape="1">
            <a:gsLst>
              <a:gs pos="0">
                <a:schemeClr val="accent5">
                  <a:alpha val="68000"/>
                </a:schemeClr>
              </a:gs>
              <a:gs pos="59000">
                <a:schemeClr val="accent5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Logo - Footer">
            <a:extLst>
              <a:ext uri="{FF2B5EF4-FFF2-40B4-BE49-F238E27FC236}">
                <a16:creationId xmlns:a16="http://schemas.microsoft.com/office/drawing/2014/main" id="{A8C4B5F9-6CF1-96B6-6ADA-382D46D7F03C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4320" y="6537960"/>
            <a:ext cx="680924" cy="253455"/>
          </a:xfrm>
          <a:prstGeom prst="rect">
            <a:avLst/>
          </a:prstGeom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762636-9EB5-48D2-E7F1-1C640792D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234440"/>
            <a:ext cx="6592824" cy="2542032"/>
          </a:xfrm>
        </p:spPr>
        <p:txBody>
          <a:bodyPr anchor="b"/>
          <a:lstStyle>
            <a:lvl1pPr algn="r">
              <a:defRPr sz="38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13DD9003-7591-FAED-9E02-C31BF9B44D74}"/>
              </a:ext>
            </a:extLst>
          </p:cNvPr>
          <p:cNvSpPr txBox="1"/>
          <p:nvPr userDrawn="1"/>
        </p:nvSpPr>
        <p:spPr>
          <a:xfrm>
            <a:off x="11525250" y="6584447"/>
            <a:ext cx="457200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1B50DEB-583C-4ABC-9220-E28A8ED62353}" type="slidenum">
              <a:rPr lang="en-US" sz="800" smtClean="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050">
              <a:solidFill>
                <a:schemeClr val="tx1"/>
              </a:solidFill>
              <a:latin typeface="+mn-lt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">
            <a:extLst>
              <a:ext uri="{FF2B5EF4-FFF2-40B4-BE49-F238E27FC236}">
                <a16:creationId xmlns:a16="http://schemas.microsoft.com/office/drawing/2014/main" id="{115A7DB5-F97D-CEE4-5F65-F3252605349D}"/>
              </a:ext>
            </a:extLst>
          </p:cNvPr>
          <p:cNvSpPr txBox="1"/>
          <p:nvPr userDrawn="1"/>
        </p:nvSpPr>
        <p:spPr>
          <a:xfrm>
            <a:off x="9493843" y="6584447"/>
            <a:ext cx="2269532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t>© 2026 Amkor Confidential</a:t>
            </a:r>
            <a:endParaRPr lang="en-US" sz="80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25029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8 with Presenter Detail"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5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94B6FD8-5E46-4BB1-47DE-4A5A6101870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5139103"/>
            <a:ext cx="2497873" cy="171889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9000">
                <a:schemeClr val="accent1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9DDD9F-23F5-AEF8-F9F9-621127BA12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930588" y="1234441"/>
            <a:ext cx="5966393" cy="4233671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E74C26-F1D3-8E94-8481-6C3CA0F00F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V="1">
            <a:off x="0" y="0"/>
            <a:ext cx="1446245" cy="830424"/>
          </a:xfrm>
          <a:prstGeom prst="rect">
            <a:avLst/>
          </a:prstGeom>
          <a:gradFill flip="none" rotWithShape="1">
            <a:gsLst>
              <a:gs pos="0">
                <a:schemeClr val="accent5">
                  <a:alpha val="68000"/>
                </a:schemeClr>
              </a:gs>
              <a:gs pos="59000">
                <a:schemeClr val="accent5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Logo - Footer">
            <a:extLst>
              <a:ext uri="{FF2B5EF4-FFF2-40B4-BE49-F238E27FC236}">
                <a16:creationId xmlns:a16="http://schemas.microsoft.com/office/drawing/2014/main" id="{1D0FE792-8E1D-2F1B-D6A1-1C58A9297DD9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4320" y="6537960"/>
            <a:ext cx="680924" cy="253455"/>
          </a:xfrm>
          <a:prstGeom prst="rect">
            <a:avLst/>
          </a:prstGeom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762636-9EB5-48D2-E7F1-1C640792D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234440"/>
            <a:ext cx="6592824" cy="2542032"/>
          </a:xfrm>
        </p:spPr>
        <p:txBody>
          <a:bodyPr anchor="b"/>
          <a:lstStyle>
            <a:lvl1pPr algn="r">
              <a:defRPr sz="38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FC94AB-1A07-134D-958D-2B3A14F2A7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40096" y="3840480"/>
            <a:ext cx="6592824" cy="1627632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664282CE-7200-2ED4-F262-BABF9F07D888}"/>
              </a:ext>
            </a:extLst>
          </p:cNvPr>
          <p:cNvSpPr txBox="1"/>
          <p:nvPr userDrawn="1"/>
        </p:nvSpPr>
        <p:spPr>
          <a:xfrm>
            <a:off x="11525250" y="6584447"/>
            <a:ext cx="457200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1B50DEB-583C-4ABC-9220-E28A8ED62353}" type="slidenum">
              <a:rPr lang="en-US" sz="800" smtClean="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050">
              <a:solidFill>
                <a:schemeClr val="tx1"/>
              </a:solidFill>
              <a:latin typeface="+mn-lt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ooter placeholder">
            <a:extLst>
              <a:ext uri="{FF2B5EF4-FFF2-40B4-BE49-F238E27FC236}">
                <a16:creationId xmlns:a16="http://schemas.microsoft.com/office/drawing/2014/main" id="{48A1BE6E-60AB-361F-2A28-02980A0A0892}"/>
              </a:ext>
            </a:extLst>
          </p:cNvPr>
          <p:cNvSpPr txBox="1"/>
          <p:nvPr userDrawn="1"/>
        </p:nvSpPr>
        <p:spPr>
          <a:xfrm>
            <a:off x="9493843" y="6584447"/>
            <a:ext cx="2269532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t>© 2026 Amkor Confidential</a:t>
            </a:r>
            <a:endParaRPr lang="en-US" sz="80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468726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 8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BF2B7BE-4DD9-AB4F-BC23-06697A9B87D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5139103"/>
            <a:ext cx="2497873" cy="171889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9000">
                <a:schemeClr val="accent1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6E26FC-677F-A1FD-2DEE-732564EE987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930588" y="1234441"/>
            <a:ext cx="5966393" cy="2537459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571AE7-85A7-5957-75AD-C699F27C28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V="1">
            <a:off x="0" y="0"/>
            <a:ext cx="1446245" cy="830424"/>
          </a:xfrm>
          <a:prstGeom prst="rect">
            <a:avLst/>
          </a:prstGeom>
          <a:gradFill flip="none" rotWithShape="1">
            <a:gsLst>
              <a:gs pos="0">
                <a:schemeClr val="accent5">
                  <a:alpha val="68000"/>
                </a:schemeClr>
              </a:gs>
              <a:gs pos="59000">
                <a:schemeClr val="accent5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Logo - Footer">
            <a:extLst>
              <a:ext uri="{FF2B5EF4-FFF2-40B4-BE49-F238E27FC236}">
                <a16:creationId xmlns:a16="http://schemas.microsoft.com/office/drawing/2014/main" id="{A8C4B5F9-6CF1-96B6-6ADA-382D46D7F03C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4320" y="6537960"/>
            <a:ext cx="680924" cy="253455"/>
          </a:xfrm>
          <a:prstGeom prst="rect">
            <a:avLst/>
          </a:prstGeom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762636-9EB5-48D2-E7F1-1C640792D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234440"/>
            <a:ext cx="6592824" cy="2542032"/>
          </a:xfrm>
        </p:spPr>
        <p:txBody>
          <a:bodyPr anchor="b"/>
          <a:lstStyle>
            <a:lvl1pPr algn="r">
              <a:defRPr sz="38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13DD9003-7591-FAED-9E02-C31BF9B44D74}"/>
              </a:ext>
            </a:extLst>
          </p:cNvPr>
          <p:cNvSpPr txBox="1"/>
          <p:nvPr userDrawn="1"/>
        </p:nvSpPr>
        <p:spPr>
          <a:xfrm>
            <a:off x="11525250" y="6584447"/>
            <a:ext cx="457200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1B50DEB-583C-4ABC-9220-E28A8ED62353}" type="slidenum">
              <a:rPr lang="en-US" sz="800" smtClean="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050">
              <a:solidFill>
                <a:schemeClr val="tx1"/>
              </a:solidFill>
              <a:latin typeface="+mn-lt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">
            <a:extLst>
              <a:ext uri="{FF2B5EF4-FFF2-40B4-BE49-F238E27FC236}">
                <a16:creationId xmlns:a16="http://schemas.microsoft.com/office/drawing/2014/main" id="{115A7DB5-F97D-CEE4-5F65-F3252605349D}"/>
              </a:ext>
            </a:extLst>
          </p:cNvPr>
          <p:cNvSpPr txBox="1"/>
          <p:nvPr userDrawn="1"/>
        </p:nvSpPr>
        <p:spPr>
          <a:xfrm>
            <a:off x="9493843" y="6584447"/>
            <a:ext cx="2269532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t>© 2026 Amkor Confidential</a:t>
            </a:r>
            <a:endParaRPr lang="en-US" sz="80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831559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1_Section Header 8 with Presenter Detai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94B6FD8-5E46-4BB1-47DE-4A5A6101870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5139103"/>
            <a:ext cx="2497873" cy="171889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9000">
                <a:schemeClr val="accent1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9DDD9F-23F5-AEF8-F9F9-621127BA12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930588" y="1234441"/>
            <a:ext cx="5966393" cy="4233671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E74C26-F1D3-8E94-8481-6C3CA0F00F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V="1">
            <a:off x="0" y="0"/>
            <a:ext cx="1446245" cy="830424"/>
          </a:xfrm>
          <a:prstGeom prst="rect">
            <a:avLst/>
          </a:prstGeom>
          <a:gradFill flip="none" rotWithShape="1">
            <a:gsLst>
              <a:gs pos="0">
                <a:schemeClr val="accent5">
                  <a:alpha val="68000"/>
                </a:schemeClr>
              </a:gs>
              <a:gs pos="59000">
                <a:schemeClr val="accent5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Logo - Footer">
            <a:extLst>
              <a:ext uri="{FF2B5EF4-FFF2-40B4-BE49-F238E27FC236}">
                <a16:creationId xmlns:a16="http://schemas.microsoft.com/office/drawing/2014/main" id="{1D0FE792-8E1D-2F1B-D6A1-1C58A9297DD9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4320" y="6537960"/>
            <a:ext cx="680924" cy="253455"/>
          </a:xfrm>
          <a:prstGeom prst="rect">
            <a:avLst/>
          </a:prstGeom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762636-9EB5-48D2-E7F1-1C640792D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234440"/>
            <a:ext cx="6592824" cy="2542032"/>
          </a:xfrm>
        </p:spPr>
        <p:txBody>
          <a:bodyPr anchor="b"/>
          <a:lstStyle>
            <a:lvl1pPr algn="r">
              <a:defRPr sz="38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FC94AB-1A07-134D-958D-2B3A14F2A7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40096" y="3840480"/>
            <a:ext cx="6592824" cy="1627632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664282CE-7200-2ED4-F262-BABF9F07D888}"/>
              </a:ext>
            </a:extLst>
          </p:cNvPr>
          <p:cNvSpPr txBox="1"/>
          <p:nvPr userDrawn="1"/>
        </p:nvSpPr>
        <p:spPr>
          <a:xfrm>
            <a:off x="11525250" y="6584447"/>
            <a:ext cx="457200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1B50DEB-583C-4ABC-9220-E28A8ED62353}" type="slidenum">
              <a:rPr lang="en-US" sz="800" smtClean="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050">
              <a:solidFill>
                <a:schemeClr val="tx1"/>
              </a:solidFill>
              <a:latin typeface="+mn-lt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ooter placeholder">
            <a:extLst>
              <a:ext uri="{FF2B5EF4-FFF2-40B4-BE49-F238E27FC236}">
                <a16:creationId xmlns:a16="http://schemas.microsoft.com/office/drawing/2014/main" id="{48A1BE6E-60AB-361F-2A28-02980A0A0892}"/>
              </a:ext>
            </a:extLst>
          </p:cNvPr>
          <p:cNvSpPr txBox="1"/>
          <p:nvPr userDrawn="1"/>
        </p:nvSpPr>
        <p:spPr>
          <a:xfrm>
            <a:off x="9493843" y="6584447"/>
            <a:ext cx="2269532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t>© 2026 Amkor Confidential</a:t>
            </a:r>
            <a:endParaRPr lang="en-US" sz="80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107910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EC8BC9-B355-2B7F-F8F4-49B49B0FD8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4320" y="1234440"/>
            <a:ext cx="5715000" cy="52120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426DA4-C313-FBA6-5D82-1657F55CDC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17920" y="1234440"/>
            <a:ext cx="5715000" cy="52120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BE226D-D7FE-7655-7EB4-0FBEC6A5A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52327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2B1BE-AB8A-D9A5-F7E6-9839416C8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bIns="91440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791CF10-A714-4660-D474-1E12D92866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74320" y="1005840"/>
            <a:ext cx="11658600" cy="411480"/>
          </a:xfrm>
        </p:spPr>
        <p:txBody>
          <a:bodyPr tIns="0">
            <a:normAutofit/>
          </a:bodyPr>
          <a:lstStyle>
            <a:lvl1pPr marL="0" indent="0">
              <a:buFontTx/>
              <a:buNone/>
              <a:defRPr sz="20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ct val="75000"/>
              <a:buFontTx/>
              <a:buNone/>
              <a:tabLst/>
              <a:defRPr/>
            </a:pPr>
            <a:r>
              <a:rPr lang="en-US"/>
              <a:t>Click to edit Master subtitle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B2B394-3268-53C7-04E0-D582E375B5A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74638" y="1463040"/>
            <a:ext cx="5715000" cy="4983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55240F7-9EE8-F275-3950-D15C909AE0F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17920" y="1463040"/>
            <a:ext cx="5715000" cy="4983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11939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with Hea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B5BFF1-0F8F-88DB-D613-A31C0D6542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4320" y="1234440"/>
            <a:ext cx="5715000" cy="548640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6278B9-9D2F-FFFB-C463-4F61CA6C3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74320" y="1773936"/>
            <a:ext cx="5715000" cy="466344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4EA708-288F-4D2C-5BB5-1658FC15A3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7920" y="1234440"/>
            <a:ext cx="5715000" cy="548640"/>
          </a:xfrm>
        </p:spPr>
        <p:txBody>
          <a:bodyPr anchor="ctr">
            <a:norm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B106BA-9E79-09D4-E6C5-6FF6DD7F15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7920" y="1773936"/>
            <a:ext cx="5715000" cy="466344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435E183E-FE7C-B5E1-12A8-472FB49B8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14038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sitioning Statement Horizontal Dia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2B1BE-AB8A-D9A5-F7E6-9839416C8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bIns="91440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791CF10-A714-4660-D474-1E12D92866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74320" y="1005840"/>
            <a:ext cx="11658600" cy="411480"/>
          </a:xfrm>
        </p:spPr>
        <p:txBody>
          <a:bodyPr tIns="0">
            <a:normAutofit/>
          </a:bodyPr>
          <a:lstStyle>
            <a:lvl1pPr marL="0" indent="0">
              <a:buFontTx/>
              <a:buNone/>
              <a:defRPr sz="20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ct val="75000"/>
              <a:buFontTx/>
              <a:buNone/>
              <a:tabLst/>
              <a:defRPr/>
            </a:pPr>
            <a:r>
              <a:rPr lang="en-US"/>
              <a:t>Click to edit Master subtitle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B2B394-3268-53C7-04E0-D582E375B5A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74638" y="1463040"/>
            <a:ext cx="3749040" cy="4983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55240F7-9EE8-F275-3950-D15C909AE0F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24528" y="1463040"/>
            <a:ext cx="3749040" cy="4983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56377F4-364F-681E-81D4-80EB940D2C2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183880" y="1463040"/>
            <a:ext cx="3749040" cy="4983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36359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E226D-D7FE-7655-7EB4-0FBEC6A5A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109BD56-7B97-D6AD-2762-08DA27DF95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4320" y="1234440"/>
            <a:ext cx="4297680" cy="5212080"/>
          </a:xfrm>
        </p:spPr>
        <p:txBody>
          <a:bodyPr>
            <a:normAutofit/>
          </a:bodyPr>
          <a:lstStyle>
            <a:lvl1pPr marL="0" indent="0">
              <a:buNone/>
              <a:defRPr sz="2600"/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B4FE3131-0635-AEEA-6945-C8EE409D758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09160" y="1234440"/>
            <a:ext cx="7223760" cy="52120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8738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Left and 4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EDCE5F2-F1C1-94DA-7F95-948FDA4C909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416040" y="1335024"/>
            <a:ext cx="2834640" cy="2450592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ct val="75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5510D44E-B3B7-C549-C052-D169BA2C286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357360" y="1335024"/>
            <a:ext cx="2834640" cy="2450592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ct val="75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28BE801C-C617-1F4D-17A8-DE9300BE119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416040" y="3886200"/>
            <a:ext cx="2834640" cy="2450592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ct val="75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F81194AA-7073-47E6-D258-0B10D7ACDD9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357360" y="3886200"/>
            <a:ext cx="2834640" cy="2450592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ct val="75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BE226D-D7FE-7655-7EB4-0FBEC6A5A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AD1B602-9942-2F1E-FAE8-622F42F7054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74320" y="1243584"/>
            <a:ext cx="6035040" cy="52120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78394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Right and 4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EDCE5F2-F1C1-94DA-7F95-948FDA4C909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173" y="1335024"/>
            <a:ext cx="2834640" cy="2450592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ct val="75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5510D44E-B3B7-C549-C052-D169BA2C286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952527" y="1335024"/>
            <a:ext cx="2834640" cy="2450592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ct val="75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28BE801C-C617-1F4D-17A8-DE9300BE119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173" y="3886200"/>
            <a:ext cx="2834640" cy="2450592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ct val="75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F81194AA-7073-47E6-D258-0B10D7ACDD9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952527" y="3886200"/>
            <a:ext cx="2834640" cy="2450592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ct val="75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BE226D-D7FE-7655-7EB4-0FBEC6A5A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228600"/>
            <a:ext cx="11658600" cy="100584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C3E4A14-7359-BAA1-584F-AC22E90DABC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97880" y="1234440"/>
            <a:ext cx="6035040" cy="52120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01158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Left and 3 Photos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EDCE5F2-F1C1-94DA-7F95-948FDA4C909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400800" y="1335024"/>
            <a:ext cx="2834640" cy="2450592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ct val="75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5510D44E-B3B7-C549-C052-D169BA2C286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326880" y="1335024"/>
            <a:ext cx="2834640" cy="5001768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ct val="75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28BE801C-C617-1F4D-17A8-DE9300BE119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400800" y="3886200"/>
            <a:ext cx="2834640" cy="2450592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ct val="75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BE226D-D7FE-7655-7EB4-0FBEC6A5A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5B4755-BCF3-33BE-E6A3-081833328BA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74320" y="1234440"/>
            <a:ext cx="6035040" cy="52120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09122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Right and 3 Photos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EDCE5F2-F1C1-94DA-7F95-948FDA4C909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173" y="1335024"/>
            <a:ext cx="2834640" cy="5001768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ct val="75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5510D44E-B3B7-C549-C052-D169BA2C286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951182" y="1335024"/>
            <a:ext cx="2834640" cy="2450592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ct val="75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F81194AA-7073-47E6-D258-0B10D7ACDD9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951182" y="3886200"/>
            <a:ext cx="2834640" cy="2450592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ct val="75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BE226D-D7FE-7655-7EB4-0FBEC6A5A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228600"/>
            <a:ext cx="11658600" cy="100584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9757AB-2115-283D-5E02-775A131E009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97880" y="1234440"/>
            <a:ext cx="6035040" cy="52120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21572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Left and 3 Photos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EDCE5F2-F1C1-94DA-7F95-948FDA4C909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6416040" y="1335024"/>
            <a:ext cx="5775960" cy="2450592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ct val="75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28BE801C-C617-1F4D-17A8-DE9300BE1192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6416040" y="3886200"/>
            <a:ext cx="2834640" cy="2450592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ct val="75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F81194AA-7073-47E6-D258-0B10D7ACDD92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9357360" y="3886200"/>
            <a:ext cx="2834640" cy="2450592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ct val="75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BE226D-D7FE-7655-7EB4-0FBEC6A5A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3684FD-1BB1-65B5-38A4-5C9C2589A3E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74320" y="1234440"/>
            <a:ext cx="6035040" cy="52120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53763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Right and 3 Photos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5510D44E-B3B7-C549-C052-D169BA2C286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1335024"/>
            <a:ext cx="5787167" cy="2450592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ct val="75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28BE801C-C617-1F4D-17A8-DE9300BE119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173" y="3886200"/>
            <a:ext cx="2834640" cy="2450592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ct val="75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F81194AA-7073-47E6-D258-0B10D7ACDD9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952527" y="3886200"/>
            <a:ext cx="2834640" cy="2450592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ct val="75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BE226D-D7FE-7655-7EB4-0FBEC6A5A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228600"/>
            <a:ext cx="11658600" cy="100584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151D8E-F4E5-492C-7000-C4915C384B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97880" y="1234440"/>
            <a:ext cx="6035040" cy="52120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44020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E226D-D7FE-7655-7EB4-0FBEC6A5A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EDCE5F2-F1C1-94DA-7F95-948FDA4C909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1325880"/>
            <a:ext cx="5724144" cy="3017520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ct val="75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5510D44E-B3B7-C549-C052-D169BA2C286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99632" y="1325880"/>
            <a:ext cx="5724144" cy="3017520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ct val="75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5A8F14-D1FA-BC29-F511-C32CDDF1E6E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74320" y="4471416"/>
            <a:ext cx="5724144" cy="200558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ED2D884-CC44-9419-A2F9-669073C7982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08776" y="4471416"/>
            <a:ext cx="5724144" cy="200558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213621683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E226D-D7FE-7655-7EB4-0FBEC6A5A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EDCE5F2-F1C1-94DA-7F95-948FDA4C909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1325880"/>
            <a:ext cx="3749040" cy="2468880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ct val="75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516260BC-1611-103F-D671-D034F03D70A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21480" y="1325880"/>
            <a:ext cx="3749040" cy="2468880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ct val="75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D03E2482-F945-B6A6-6A11-12D2F4637EC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68640" y="1325880"/>
            <a:ext cx="3749040" cy="2468880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ct val="75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5A8F14-D1FA-BC29-F511-C32CDDF1E6E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74320" y="3886200"/>
            <a:ext cx="3749040" cy="2590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ED2D884-CC44-9419-A2F9-669073C7982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21480" y="3886200"/>
            <a:ext cx="3749040" cy="2590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1F888AD9-C144-56C4-F11D-CA964F921B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168640" y="3886200"/>
            <a:ext cx="3749040" cy="2590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254951554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icture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E226D-D7FE-7655-7EB4-0FBEC6A5A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EDCE5F2-F1C1-94DA-7F95-948FDA4C909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325880"/>
            <a:ext cx="2971800" cy="2468880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ct val="75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516260BC-1611-103F-D671-D034F03D70A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073400" y="1325880"/>
            <a:ext cx="2971800" cy="2468880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ct val="75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D03E2482-F945-B6A6-6A11-12D2F4637EC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146800" y="1325880"/>
            <a:ext cx="2971800" cy="2468880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ct val="75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5AF4EB22-46CC-6FF1-E5AF-E71B1590A8B3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9220200" y="1325880"/>
            <a:ext cx="2971800" cy="2468880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ct val="75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5A8F14-D1FA-BC29-F511-C32CDDF1E6E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0" y="3886200"/>
            <a:ext cx="2971800" cy="2590800"/>
          </a:xfrm>
        </p:spPr>
        <p:txBody>
          <a:bodyPr lIns="228600" rIns="228600"/>
          <a:lstStyle>
            <a:lvl1pPr marL="0" indent="0">
              <a:buNone/>
              <a:defRPr/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ED2D884-CC44-9419-A2F9-669073C7982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073400" y="3886200"/>
            <a:ext cx="2971800" cy="2590800"/>
          </a:xfrm>
        </p:spPr>
        <p:txBody>
          <a:bodyPr lIns="228600" rIns="228600"/>
          <a:lstStyle>
            <a:lvl1pPr marL="0" indent="0">
              <a:buNone/>
              <a:defRPr/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1F888AD9-C144-56C4-F11D-CA964F921B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46800" y="3886200"/>
            <a:ext cx="2971800" cy="2590800"/>
          </a:xfrm>
        </p:spPr>
        <p:txBody>
          <a:bodyPr lIns="228600" rIns="228600"/>
          <a:lstStyle>
            <a:lvl1pPr marL="0" indent="0">
              <a:buNone/>
              <a:defRPr/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9F029E7F-E46E-03BA-82E5-4DA8C7BB2CE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220200" y="3886200"/>
            <a:ext cx="2971800" cy="2590800"/>
          </a:xfrm>
        </p:spPr>
        <p:txBody>
          <a:bodyPr lIns="228600" rIns="228600"/>
          <a:lstStyle>
            <a:lvl1pPr marL="0" indent="0">
              <a:buNone/>
              <a:defRPr/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138762805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X-Large Picture with Conten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2D0D613-2605-9FEF-5E84-B7DC507F428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51120" y="1325880"/>
            <a:ext cx="7040880" cy="5120640"/>
          </a:xfrm>
          <a:solidFill>
            <a:schemeClr val="bg2"/>
          </a:solidFill>
        </p:spPr>
        <p:txBody>
          <a:bodyPr tIns="91440" bIns="91440" anchor="ctr">
            <a:normAutofit/>
          </a:bodyPr>
          <a:lstStyle>
            <a:lvl1pPr marL="0" indent="0" algn="ctr">
              <a:buFontTx/>
              <a:buNone/>
              <a:defRPr sz="1800"/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E18060-8E50-9D1A-4246-628978471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90D79E-7067-2DD0-681D-6178CCF062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4320" y="1234440"/>
            <a:ext cx="4754880" cy="52120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34751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X-Large Picture with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2D0D613-2605-9FEF-5E84-B7DC507F428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325880"/>
            <a:ext cx="7040880" cy="5120640"/>
          </a:xfrm>
          <a:solidFill>
            <a:schemeClr val="bg2"/>
          </a:solidFill>
        </p:spPr>
        <p:txBody>
          <a:bodyPr tIns="91440" bIns="91440" anchor="ctr">
            <a:normAutofit/>
          </a:bodyPr>
          <a:lstStyle>
            <a:lvl1pPr marL="0" indent="0" algn="ctr">
              <a:buFontTx/>
              <a:buNone/>
              <a:defRPr sz="1800"/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E18060-8E50-9D1A-4246-628978471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228600"/>
            <a:ext cx="11658600" cy="100584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90D79E-7067-2DD0-681D-6178CCF062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178040" y="1234440"/>
            <a:ext cx="4754880" cy="52120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15486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Phot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2D0D613-2605-9FEF-5E84-B7DC507F428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0"/>
            <a:ext cx="5303520" cy="6492240"/>
          </a:xfrm>
          <a:solidFill>
            <a:schemeClr val="bg2"/>
          </a:solidFill>
        </p:spPr>
        <p:txBody>
          <a:bodyPr tIns="91440" bIns="91440" anchor="ctr">
            <a:normAutofit/>
          </a:bodyPr>
          <a:lstStyle>
            <a:lvl1pPr marL="0" indent="0" algn="ctr">
              <a:buFontTx/>
              <a:buNone/>
              <a:defRPr sz="1800"/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90D79E-7067-2DD0-681D-6178CCF062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4320" y="4251960"/>
            <a:ext cx="5120640" cy="219456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E18060-8E50-9D1A-4246-628978471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914400"/>
            <a:ext cx="6400800" cy="3246120"/>
          </a:xfrm>
        </p:spPr>
        <p:txBody>
          <a:bodyPr anchor="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54203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Photo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2D0D613-2605-9FEF-5E84-B7DC507F428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5303520" cy="6492240"/>
          </a:xfrm>
          <a:solidFill>
            <a:schemeClr val="bg2"/>
          </a:solidFill>
        </p:spPr>
        <p:txBody>
          <a:bodyPr tIns="91440" bIns="91440" anchor="ctr">
            <a:normAutofit/>
          </a:bodyPr>
          <a:lstStyle>
            <a:lvl1pPr marL="0" indent="0" algn="ctr">
              <a:buFontTx/>
              <a:buNone/>
              <a:defRPr sz="1800"/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E18060-8E50-9D1A-4246-628978471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0680" y="914400"/>
            <a:ext cx="6492240" cy="3246120"/>
          </a:xfrm>
        </p:spPr>
        <p:txBody>
          <a:bodyPr anchor="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90D79E-7067-2DD0-681D-6178CCF062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812280" y="4251960"/>
            <a:ext cx="5120640" cy="219456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15688987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7EBAF-A78F-1B35-480B-CB696AD9C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731520"/>
            <a:ext cx="10607040" cy="338328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D2349B-1B82-6186-C47D-6A2C63671A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00400" y="4251960"/>
            <a:ext cx="8229600" cy="1920240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370824236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- Thank Yo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71D1705-975E-C9DB-3E85-74C2E1203DC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H="1">
            <a:off x="9694127" y="5139103"/>
            <a:ext cx="2497873" cy="171889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9000">
                <a:schemeClr val="accent1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B04CB7-AF0F-E2FB-837A-4258E9A1FE2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H="1" flipV="1">
            <a:off x="10695481" y="0"/>
            <a:ext cx="1496518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9000">
                <a:schemeClr val="accent1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Amkor.,com">
            <a:extLst>
              <a:ext uri="{FF2B5EF4-FFF2-40B4-BE49-F238E27FC236}">
                <a16:creationId xmlns:a16="http://schemas.microsoft.com/office/drawing/2014/main" id="{4AD98039-CDBB-AF12-2517-1CD1742F12D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85871" y="6589802"/>
            <a:ext cx="773193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indent="0" algn="l">
              <a:buClr>
                <a:schemeClr val="accent1"/>
              </a:buClr>
              <a:buSzPct val="75000"/>
              <a:buFont typeface="Segoe UI Symbol" panose="020B0502040204020203" pitchFamily="34" charset="0"/>
              <a:buNone/>
            </a:pPr>
            <a:r>
              <a:rPr lang="en-US" sz="800" b="0" u="none">
                <a:solidFill>
                  <a:schemeClr val="accent1"/>
                </a:solidFill>
                <a:latin typeface="+mn-lt"/>
                <a:ea typeface="Open Sans SemiBold" panose="020B0706030804020204" pitchFamily="34" charset="0"/>
                <a:cs typeface="Open Sans SemiBold" panose="020B0706030804020204" pitchFamily="34" charset="0"/>
              </a:rPr>
              <a:t>amkor.com  </a:t>
            </a:r>
            <a:r>
              <a:rPr lang="en-US" sz="800" b="0" u="none">
                <a:solidFill>
                  <a:schemeClr val="tx1"/>
                </a:solidFill>
                <a:latin typeface="+mn-lt"/>
                <a:ea typeface="Open Sans SemiBold" panose="020B0706030804020204" pitchFamily="34" charset="0"/>
                <a:cs typeface="Open Sans SemiBold" panose="020B0706030804020204" pitchFamily="34" charset="0"/>
              </a:rPr>
              <a:t>l</a:t>
            </a:r>
          </a:p>
        </p:txBody>
      </p:sp>
      <p:sp>
        <p:nvSpPr>
          <p:cNvPr id="10" name="Amkor.com link">
            <a:hlinkClick r:id="rId3" highlightClick="1"/>
            <a:hlinkHover r:id="" action="ppaction://noaction" highlightClick="1"/>
            <a:extLst>
              <a:ext uri="{FF2B5EF4-FFF2-40B4-BE49-F238E27FC236}">
                <a16:creationId xmlns:a16="http://schemas.microsoft.com/office/drawing/2014/main" id="{EC444362-CD51-54A0-7785-5F9D5D4B39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1894" y="6631326"/>
            <a:ext cx="609103" cy="146304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fontScale="25000" lnSpcReduction="20000"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" name="Social media icons">
            <a:extLst>
              <a:ext uri="{FF2B5EF4-FFF2-40B4-BE49-F238E27FC236}">
                <a16:creationId xmlns:a16="http://schemas.microsoft.com/office/drawing/2014/main" id="{314E9C75-05D0-FAC4-3E41-614D63796A46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040623" y="6658758"/>
            <a:ext cx="790168" cy="91440"/>
            <a:chOff x="10909827" y="7169470"/>
            <a:chExt cx="790168" cy="91440"/>
          </a:xfrm>
        </p:grpSpPr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7FCE3492-1DA9-C4FC-2B77-613F24F9F69A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035270" y="7169470"/>
              <a:ext cx="91440" cy="91440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0CDAFCB9-E2DD-B0B7-1220-DCF25B0186DF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326441" y="7169470"/>
              <a:ext cx="91440" cy="91440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F7A5FB0E-4018-D5EF-996C-BE3153E0C194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909827" y="7169470"/>
              <a:ext cx="91440" cy="91440"/>
            </a:xfrm>
            <a:prstGeom prst="rect">
              <a:avLst/>
            </a:prstGeom>
          </p:spPr>
        </p:pic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8275E794-9A3F-7F93-0F84-FA8EF4F3526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1583330" y="7169470"/>
              <a:ext cx="116665" cy="91440"/>
            </a:xfrm>
            <a:prstGeom prst="rect">
              <a:avLst/>
            </a:prstGeom>
          </p:spPr>
        </p:pic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DF5300C8-A7B0-3D1B-451D-74E04A92C08E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1453309" y="7169470"/>
              <a:ext cx="94593" cy="91440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11A00E4C-6B46-E27F-70ED-69BECE46B500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1159610" y="7169470"/>
              <a:ext cx="129277" cy="91440"/>
            </a:xfrm>
            <a:prstGeom prst="rect">
              <a:avLst/>
            </a:prstGeom>
          </p:spPr>
        </p:pic>
      </p:grpSp>
      <p:sp>
        <p:nvSpPr>
          <p:cNvPr id="18" name="LinkedIn link">
            <a:hlinkClick r:id="rId10" highlightClick="1"/>
            <a:hlinkHover r:id="" action="ppaction://noaction" highlightClick="1"/>
            <a:extLst>
              <a:ext uri="{FF2B5EF4-FFF2-40B4-BE49-F238E27FC236}">
                <a16:creationId xmlns:a16="http://schemas.microsoft.com/office/drawing/2014/main" id="{DA7AD2F6-8930-EAD4-8007-1E1C3207378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38202" y="6658758"/>
            <a:ext cx="91440" cy="9144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fontScale="25000" lnSpcReduction="20000"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Facebook link">
            <a:hlinkClick r:id="rId11" highlightClick="1"/>
            <a:hlinkHover r:id="" action="ppaction://noaction" highlightClick="1"/>
            <a:extLst>
              <a:ext uri="{FF2B5EF4-FFF2-40B4-BE49-F238E27FC236}">
                <a16:creationId xmlns:a16="http://schemas.microsoft.com/office/drawing/2014/main" id="{EA8E2657-A9FE-0136-D36C-1E983CD756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67650" y="6658758"/>
            <a:ext cx="85243" cy="9144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fontScale="25000" lnSpcReduction="20000"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X (formerly Twitter) link">
            <a:hlinkClick r:id="rId12" highlightClick="1"/>
            <a:hlinkHover r:id="" action="ppaction://noaction" highlightClick="1"/>
            <a:extLst>
              <a:ext uri="{FF2B5EF4-FFF2-40B4-BE49-F238E27FC236}">
                <a16:creationId xmlns:a16="http://schemas.microsoft.com/office/drawing/2014/main" id="{2CB541B2-730E-B93C-394B-FC65C2FCAE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587258" y="6658758"/>
            <a:ext cx="91440" cy="9144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fontScale="25000" lnSpcReduction="20000"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YouTube link">
            <a:hlinkClick r:id="rId13" highlightClick="1"/>
            <a:hlinkHover r:id="" action="ppaction://noaction" highlightClick="1"/>
            <a:extLst>
              <a:ext uri="{FF2B5EF4-FFF2-40B4-BE49-F238E27FC236}">
                <a16:creationId xmlns:a16="http://schemas.microsoft.com/office/drawing/2014/main" id="{2F8C7CFE-9070-FE8D-F809-83F36A51C31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88358" y="6658758"/>
            <a:ext cx="137160" cy="9144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fontScale="25000" lnSpcReduction="20000"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Instagram link">
            <a:hlinkClick r:id="rId14" highlightClick="1"/>
            <a:hlinkHover r:id="" action="ppaction://noaction" highlightClick="1"/>
            <a:extLst>
              <a:ext uri="{FF2B5EF4-FFF2-40B4-BE49-F238E27FC236}">
                <a16:creationId xmlns:a16="http://schemas.microsoft.com/office/drawing/2014/main" id="{5C894768-08F9-1568-652E-998D3F61DD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459405" y="6658758"/>
            <a:ext cx="91440" cy="9144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fontScale="25000" lnSpcReduction="20000"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WeChat link">
            <a:hlinkClick r:id="rId15" highlightClick="1"/>
            <a:hlinkHover r:id="" action="ppaction://noaction" highlightClick="1"/>
            <a:extLst>
              <a:ext uri="{FF2B5EF4-FFF2-40B4-BE49-F238E27FC236}">
                <a16:creationId xmlns:a16="http://schemas.microsoft.com/office/drawing/2014/main" id="{6CB117C3-C585-3A02-6120-D54620FCA4E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708089" y="6658758"/>
            <a:ext cx="122702" cy="9144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fontScale="25000" lnSpcReduction="20000"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9260659-240B-2F94-09B5-DE96A0F097EC}"/>
              </a:ext>
            </a:extLst>
          </p:cNvPr>
          <p:cNvGrpSpPr>
            <a:grpSpLocks noGrp="1" noUngrp="1" noRot="1" noChangeAspect="1" noMove="1" noResize="1"/>
          </p:cNvGrpSpPr>
          <p:nvPr userDrawn="1"/>
        </p:nvGrpSpPr>
        <p:grpSpPr>
          <a:xfrm>
            <a:off x="11285220" y="5893870"/>
            <a:ext cx="640080" cy="640080"/>
            <a:chOff x="2667000" y="0"/>
            <a:chExt cx="6858000" cy="6858000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00487DEF-4ABD-47C9-5293-0A126C7061B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2746794" y="67378"/>
              <a:ext cx="6705213" cy="673786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prstTxWarp prst="textNoShape">
                <a:avLst/>
              </a:prstTxWarp>
              <a:normAutofit/>
            </a:bodyPr>
            <a:lstStyle/>
            <a:p>
              <a:pPr marL="0" indent="0" algn="l">
                <a:buClr>
                  <a:schemeClr val="bg1"/>
                </a:buClr>
                <a:buSzPct val="75000"/>
                <a:buFontTx/>
                <a:buNone/>
              </a:pPr>
              <a:endParaRPr lang="en-US"/>
            </a:p>
          </p:txBody>
        </p:sp>
        <p:pic>
          <p:nvPicPr>
            <p:cNvPr id="31" name="Picture 30" descr="A qr code with a logo&#10;&#10;Description automatically generated">
              <a:extLst>
                <a:ext uri="{FF2B5EF4-FFF2-40B4-BE49-F238E27FC236}">
                  <a16:creationId xmlns:a16="http://schemas.microsoft.com/office/drawing/2014/main" id="{63635033-1878-A361-C856-0B893DCFBDD1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67000" y="0"/>
              <a:ext cx="6858000" cy="6858000"/>
            </a:xfrm>
            <a:prstGeom prst="rect">
              <a:avLst/>
            </a:prstGeom>
          </p:spPr>
        </p:pic>
      </p:grpSp>
      <p:sp>
        <p:nvSpPr>
          <p:cNvPr id="32" name="Tagline">
            <a:extLst>
              <a:ext uri="{FF2B5EF4-FFF2-40B4-BE49-F238E27FC236}">
                <a16:creationId xmlns:a16="http://schemas.microsoft.com/office/drawing/2014/main" id="{E67AD79C-D1CE-A5BE-EF06-2896C9AFBF0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691348" y="3291682"/>
            <a:ext cx="35878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 algn="ctr">
              <a:spcBef>
                <a:spcPts val="600"/>
              </a:spcBef>
              <a:buClr>
                <a:schemeClr val="accent1"/>
              </a:buClr>
              <a:buSzPct val="75000"/>
              <a:buFontTx/>
              <a:buNone/>
            </a:pPr>
            <a:r>
              <a:rPr lang="en-US" sz="240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ENABLING the FUTURE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F8DCB10-D958-04C0-A06F-7C58DDF6967B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2250828" y="2954540"/>
            <a:ext cx="2468880" cy="0"/>
          </a:xfrm>
          <a:prstGeom prst="line">
            <a:avLst/>
          </a:prstGeom>
          <a:ln w="12700">
            <a:solidFill>
              <a:schemeClr val="tx1">
                <a:lumMod val="40000"/>
                <a:lumOff val="60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Logo">
            <a:extLst>
              <a:ext uri="{FF2B5EF4-FFF2-40B4-BE49-F238E27FC236}">
                <a16:creationId xmlns:a16="http://schemas.microsoft.com/office/drawing/2014/main" id="{A881010F-4955-061B-DE6F-BCD681507E6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52893" y="964729"/>
            <a:ext cx="4464751" cy="1661879"/>
          </a:xfrm>
          <a:prstGeom prst="rect">
            <a:avLst/>
          </a:prstGeom>
          <a:effectLst/>
        </p:spPr>
      </p:pic>
      <p:sp>
        <p:nvSpPr>
          <p:cNvPr id="35" name="Thank You text">
            <a:extLst>
              <a:ext uri="{FF2B5EF4-FFF2-40B4-BE49-F238E27FC236}">
                <a16:creationId xmlns:a16="http://schemas.microsoft.com/office/drawing/2014/main" id="{C5CB8597-B99A-18EE-E91B-4B8EB9D8944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570618" y="3866913"/>
            <a:ext cx="5829300" cy="923330"/>
          </a:xfrm>
          <a:prstGeom prst="rect">
            <a:avLst/>
          </a:prstGeom>
          <a:noFill/>
        </p:spPr>
        <p:txBody>
          <a:bodyPr wrap="square" lIns="91440" tIns="45720" rIns="91440" bIns="45720" rtlCol="0">
            <a:normAutofit/>
          </a:bodyPr>
          <a:lstStyle/>
          <a:p>
            <a:pPr marL="0" indent="0" algn="ctr">
              <a:buClr>
                <a:schemeClr val="accent1"/>
              </a:buClr>
              <a:buSzPct val="75000"/>
              <a:buFont typeface="Segoe UI Symbol" panose="020B0502040204020203" pitchFamily="34" charset="0"/>
              <a:buNone/>
            </a:pPr>
            <a:r>
              <a:rPr lang="en-US" sz="5400">
                <a:solidFill>
                  <a:schemeClr val="accent1"/>
                </a:solidFill>
                <a:latin typeface="+mj-lt"/>
                <a:ea typeface="Verdana" panose="020B060403050404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09928180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with Text O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3246816-42D6-0399-A129-CCEA216FC81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H="1">
            <a:off x="9694127" y="5139103"/>
            <a:ext cx="2497873" cy="171889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9000">
                <a:schemeClr val="accent1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87DE32-F8D5-9B58-AA79-AC5555E3C26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H="1" flipV="1">
            <a:off x="10695481" y="0"/>
            <a:ext cx="1496518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9000">
                <a:schemeClr val="accent1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Amkor.,com">
            <a:extLst>
              <a:ext uri="{FF2B5EF4-FFF2-40B4-BE49-F238E27FC236}">
                <a16:creationId xmlns:a16="http://schemas.microsoft.com/office/drawing/2014/main" id="{4AD98039-CDBB-AF12-2517-1CD1742F12D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85871" y="6589802"/>
            <a:ext cx="773193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indent="0" algn="l">
              <a:buClr>
                <a:schemeClr val="accent1"/>
              </a:buClr>
              <a:buSzPct val="75000"/>
              <a:buFont typeface="Segoe UI Symbol" panose="020B0502040204020203" pitchFamily="34" charset="0"/>
              <a:buNone/>
            </a:pPr>
            <a:r>
              <a:rPr lang="en-US" sz="800" b="0" u="none">
                <a:solidFill>
                  <a:schemeClr val="accent1"/>
                </a:solidFill>
                <a:latin typeface="+mn-lt"/>
                <a:ea typeface="Open Sans SemiBold" panose="020B0706030804020204" pitchFamily="34" charset="0"/>
                <a:cs typeface="Open Sans SemiBold" panose="020B0706030804020204" pitchFamily="34" charset="0"/>
              </a:rPr>
              <a:t>amkor.com  </a:t>
            </a:r>
            <a:r>
              <a:rPr lang="en-US" sz="800" b="0" u="none">
                <a:solidFill>
                  <a:schemeClr val="tx1"/>
                </a:solidFill>
                <a:latin typeface="+mn-lt"/>
                <a:ea typeface="Open Sans SemiBold" panose="020B0706030804020204" pitchFamily="34" charset="0"/>
                <a:cs typeface="Open Sans SemiBold" panose="020B0706030804020204" pitchFamily="34" charset="0"/>
              </a:rPr>
              <a:t>l</a:t>
            </a:r>
          </a:p>
        </p:txBody>
      </p:sp>
      <p:sp>
        <p:nvSpPr>
          <p:cNvPr id="10" name="Amkor.com link">
            <a:hlinkClick r:id="rId3" highlightClick="1"/>
            <a:hlinkHover r:id="" action="ppaction://noaction" highlightClick="1"/>
            <a:extLst>
              <a:ext uri="{FF2B5EF4-FFF2-40B4-BE49-F238E27FC236}">
                <a16:creationId xmlns:a16="http://schemas.microsoft.com/office/drawing/2014/main" id="{EC444362-CD51-54A0-7785-5F9D5D4B39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1894" y="6631326"/>
            <a:ext cx="609103" cy="146304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fontScale="25000" lnSpcReduction="20000"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" name="Social media icons">
            <a:extLst>
              <a:ext uri="{FF2B5EF4-FFF2-40B4-BE49-F238E27FC236}">
                <a16:creationId xmlns:a16="http://schemas.microsoft.com/office/drawing/2014/main" id="{314E9C75-05D0-FAC4-3E41-614D63796A46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040623" y="6658758"/>
            <a:ext cx="790168" cy="91440"/>
            <a:chOff x="10909827" y="7169470"/>
            <a:chExt cx="790168" cy="91440"/>
          </a:xfrm>
        </p:grpSpPr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7FCE3492-1DA9-C4FC-2B77-613F24F9F69A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035270" y="7169470"/>
              <a:ext cx="91440" cy="91440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0CDAFCB9-E2DD-B0B7-1220-DCF25B0186DF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326441" y="7169470"/>
              <a:ext cx="91440" cy="91440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F7A5FB0E-4018-D5EF-996C-BE3153E0C194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909827" y="7169470"/>
              <a:ext cx="91440" cy="91440"/>
            </a:xfrm>
            <a:prstGeom prst="rect">
              <a:avLst/>
            </a:prstGeom>
          </p:spPr>
        </p:pic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8275E794-9A3F-7F93-0F84-FA8EF4F3526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1583330" y="7169470"/>
              <a:ext cx="116665" cy="91440"/>
            </a:xfrm>
            <a:prstGeom prst="rect">
              <a:avLst/>
            </a:prstGeom>
          </p:spPr>
        </p:pic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DF5300C8-A7B0-3D1B-451D-74E04A92C08E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1453309" y="7169470"/>
              <a:ext cx="94593" cy="91440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11A00E4C-6B46-E27F-70ED-69BECE46B500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1159610" y="7169470"/>
              <a:ext cx="129277" cy="91440"/>
            </a:xfrm>
            <a:prstGeom prst="rect">
              <a:avLst/>
            </a:prstGeom>
          </p:spPr>
        </p:pic>
      </p:grpSp>
      <p:sp>
        <p:nvSpPr>
          <p:cNvPr id="18" name="LinkedIn link">
            <a:hlinkClick r:id="rId10" highlightClick="1"/>
            <a:hlinkHover r:id="" action="ppaction://noaction" highlightClick="1"/>
            <a:extLst>
              <a:ext uri="{FF2B5EF4-FFF2-40B4-BE49-F238E27FC236}">
                <a16:creationId xmlns:a16="http://schemas.microsoft.com/office/drawing/2014/main" id="{DA7AD2F6-8930-EAD4-8007-1E1C3207378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38202" y="6658758"/>
            <a:ext cx="91440" cy="9144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fontScale="25000" lnSpcReduction="20000"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Facebook link">
            <a:hlinkClick r:id="rId11" highlightClick="1"/>
            <a:hlinkHover r:id="" action="ppaction://noaction" highlightClick="1"/>
            <a:extLst>
              <a:ext uri="{FF2B5EF4-FFF2-40B4-BE49-F238E27FC236}">
                <a16:creationId xmlns:a16="http://schemas.microsoft.com/office/drawing/2014/main" id="{EA8E2657-A9FE-0136-D36C-1E983CD756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67650" y="6658758"/>
            <a:ext cx="85243" cy="9144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fontScale="25000" lnSpcReduction="20000"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X (formerly Twitter) link">
            <a:hlinkClick r:id="rId12" highlightClick="1"/>
            <a:hlinkHover r:id="" action="ppaction://noaction" highlightClick="1"/>
            <a:extLst>
              <a:ext uri="{FF2B5EF4-FFF2-40B4-BE49-F238E27FC236}">
                <a16:creationId xmlns:a16="http://schemas.microsoft.com/office/drawing/2014/main" id="{2CB541B2-730E-B93C-394B-FC65C2FCAE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587258" y="6658758"/>
            <a:ext cx="91440" cy="9144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fontScale="25000" lnSpcReduction="20000"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YouTube link">
            <a:hlinkClick r:id="rId13" highlightClick="1"/>
            <a:hlinkHover r:id="" action="ppaction://noaction" highlightClick="1"/>
            <a:extLst>
              <a:ext uri="{FF2B5EF4-FFF2-40B4-BE49-F238E27FC236}">
                <a16:creationId xmlns:a16="http://schemas.microsoft.com/office/drawing/2014/main" id="{2F8C7CFE-9070-FE8D-F809-83F36A51C31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88358" y="6658758"/>
            <a:ext cx="137160" cy="9144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fontScale="25000" lnSpcReduction="20000"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Instagram link">
            <a:hlinkClick r:id="rId14" highlightClick="1"/>
            <a:hlinkHover r:id="" action="ppaction://noaction" highlightClick="1"/>
            <a:extLst>
              <a:ext uri="{FF2B5EF4-FFF2-40B4-BE49-F238E27FC236}">
                <a16:creationId xmlns:a16="http://schemas.microsoft.com/office/drawing/2014/main" id="{5C894768-08F9-1568-652E-998D3F61DD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459405" y="6658758"/>
            <a:ext cx="91440" cy="9144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fontScale="25000" lnSpcReduction="20000"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WeChat link">
            <a:hlinkClick r:id="rId15" highlightClick="1"/>
            <a:hlinkHover r:id="" action="ppaction://noaction" highlightClick="1"/>
            <a:extLst>
              <a:ext uri="{FF2B5EF4-FFF2-40B4-BE49-F238E27FC236}">
                <a16:creationId xmlns:a16="http://schemas.microsoft.com/office/drawing/2014/main" id="{6CB117C3-C585-3A02-6120-D54620FCA4E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708089" y="6658758"/>
            <a:ext cx="122702" cy="9144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fontScale="25000" lnSpcReduction="20000"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agline">
            <a:extLst>
              <a:ext uri="{FF2B5EF4-FFF2-40B4-BE49-F238E27FC236}">
                <a16:creationId xmlns:a16="http://schemas.microsoft.com/office/drawing/2014/main" id="{47F1D431-3F82-87F9-6A8A-829967D46BB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691348" y="3291682"/>
            <a:ext cx="35878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 algn="ctr">
              <a:spcBef>
                <a:spcPts val="600"/>
              </a:spcBef>
              <a:buClr>
                <a:schemeClr val="accent1"/>
              </a:buClr>
              <a:buSzPct val="75000"/>
              <a:buFontTx/>
              <a:buNone/>
            </a:pPr>
            <a:r>
              <a:rPr lang="en-US" sz="240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ENABLING the FUTURE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06C9786-4606-5B41-8A1D-77DFE32B37BB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2250828" y="2954540"/>
            <a:ext cx="2468880" cy="0"/>
          </a:xfrm>
          <a:prstGeom prst="line">
            <a:avLst/>
          </a:prstGeom>
          <a:ln w="12700">
            <a:solidFill>
              <a:schemeClr val="tx1">
                <a:lumMod val="40000"/>
                <a:lumOff val="60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Logo">
            <a:extLst>
              <a:ext uri="{FF2B5EF4-FFF2-40B4-BE49-F238E27FC236}">
                <a16:creationId xmlns:a16="http://schemas.microsoft.com/office/drawing/2014/main" id="{61CEC72F-D492-5DB5-E605-087746652A3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252893" y="964729"/>
            <a:ext cx="4464751" cy="1661879"/>
          </a:xfrm>
          <a:prstGeom prst="rect">
            <a:avLst/>
          </a:prstGeom>
          <a:effectLst/>
        </p:spPr>
      </p:pic>
      <p:sp>
        <p:nvSpPr>
          <p:cNvPr id="27" name="Thank You text">
            <a:extLst>
              <a:ext uri="{FF2B5EF4-FFF2-40B4-BE49-F238E27FC236}">
                <a16:creationId xmlns:a16="http://schemas.microsoft.com/office/drawing/2014/main" id="{6156DB86-67C0-2DEA-BF0B-69C808C13B4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570618" y="3866913"/>
            <a:ext cx="5829300" cy="923330"/>
          </a:xfrm>
          <a:prstGeom prst="rect">
            <a:avLst/>
          </a:prstGeom>
          <a:noFill/>
        </p:spPr>
        <p:txBody>
          <a:bodyPr wrap="square" lIns="91440" tIns="45720" rIns="91440" bIns="45720" rtlCol="0">
            <a:normAutofit/>
          </a:bodyPr>
          <a:lstStyle/>
          <a:p>
            <a:pPr marL="0" indent="0" algn="ctr">
              <a:buClr>
                <a:schemeClr val="accent1"/>
              </a:buClr>
              <a:buSzPct val="75000"/>
              <a:buFont typeface="Segoe UI Symbol" panose="020B0502040204020203" pitchFamily="34" charset="0"/>
              <a:buNone/>
            </a:pPr>
            <a:r>
              <a:rPr lang="en-US" sz="5400">
                <a:solidFill>
                  <a:schemeClr val="accent1"/>
                </a:solidFill>
                <a:latin typeface="+mj-lt"/>
                <a:ea typeface="Verdana" panose="020B0604030504040204" pitchFamily="34" charset="0"/>
                <a:cs typeface="Arial" panose="020B0604020202020204" pitchFamily="34" charset="0"/>
              </a:rPr>
              <a:t>Thank You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9260659-240B-2F94-09B5-DE96A0F097EC}"/>
              </a:ext>
            </a:extLst>
          </p:cNvPr>
          <p:cNvGrpSpPr>
            <a:grpSpLocks noGrp="1" noUngrp="1" noRot="1" noChangeAspect="1" noMove="1" noResize="1"/>
          </p:cNvGrpSpPr>
          <p:nvPr userDrawn="1"/>
        </p:nvGrpSpPr>
        <p:grpSpPr>
          <a:xfrm>
            <a:off x="11285220" y="5893870"/>
            <a:ext cx="640080" cy="640080"/>
            <a:chOff x="2667000" y="0"/>
            <a:chExt cx="6858000" cy="6858000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00487DEF-4ABD-47C9-5293-0A126C7061B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2746794" y="67378"/>
              <a:ext cx="6705213" cy="673786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prstTxWarp prst="textNoShape">
                <a:avLst/>
              </a:prstTxWarp>
              <a:normAutofit/>
            </a:bodyPr>
            <a:lstStyle/>
            <a:p>
              <a:pPr marL="0" indent="0" algn="l">
                <a:buClr>
                  <a:schemeClr val="bg1"/>
                </a:buClr>
                <a:buSzPct val="75000"/>
                <a:buFontTx/>
                <a:buNone/>
              </a:pPr>
              <a:endParaRPr lang="en-US"/>
            </a:p>
          </p:txBody>
        </p:sp>
        <p:pic>
          <p:nvPicPr>
            <p:cNvPr id="31" name="Picture 30" descr="A qr code with a logo&#10;&#10;Description automatically generated">
              <a:extLst>
                <a:ext uri="{FF2B5EF4-FFF2-40B4-BE49-F238E27FC236}">
                  <a16:creationId xmlns:a16="http://schemas.microsoft.com/office/drawing/2014/main" id="{63635033-1878-A361-C856-0B893DCFBDD1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67000" y="0"/>
              <a:ext cx="6858000" cy="6858000"/>
            </a:xfrm>
            <a:prstGeom prst="rect">
              <a:avLst/>
            </a:prstGeom>
          </p:spPr>
        </p:pic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8280A7-3F52-C900-235A-1F3E1BFF685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94360" y="4817675"/>
            <a:ext cx="5852160" cy="1659325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169098429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- 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C4D2A34-4911-1AB6-1DA6-8F2366606A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H="1">
            <a:off x="9694127" y="5139103"/>
            <a:ext cx="2497873" cy="171889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9000">
                <a:schemeClr val="accent1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3A7ECD-814F-80D9-2AFD-785A6BC8D89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H="1" flipV="1">
            <a:off x="10695481" y="0"/>
            <a:ext cx="1496518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9000">
                <a:schemeClr val="accent1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Amkor.,com">
            <a:extLst>
              <a:ext uri="{FF2B5EF4-FFF2-40B4-BE49-F238E27FC236}">
                <a16:creationId xmlns:a16="http://schemas.microsoft.com/office/drawing/2014/main" id="{4AD98039-CDBB-AF12-2517-1CD1742F12D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85871" y="6589802"/>
            <a:ext cx="773193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indent="0" algn="l">
              <a:buClr>
                <a:schemeClr val="accent1"/>
              </a:buClr>
              <a:buSzPct val="75000"/>
              <a:buFont typeface="Segoe UI Symbol" panose="020B0502040204020203" pitchFamily="34" charset="0"/>
              <a:buNone/>
            </a:pPr>
            <a:r>
              <a:rPr lang="en-US" sz="800" b="0" u="none">
                <a:solidFill>
                  <a:schemeClr val="accent1"/>
                </a:solidFill>
                <a:latin typeface="+mn-lt"/>
                <a:ea typeface="Open Sans SemiBold" panose="020B0706030804020204" pitchFamily="34" charset="0"/>
                <a:cs typeface="Open Sans SemiBold" panose="020B0706030804020204" pitchFamily="34" charset="0"/>
              </a:rPr>
              <a:t>amkor.com  </a:t>
            </a:r>
            <a:r>
              <a:rPr lang="en-US" sz="800" b="0" u="none">
                <a:solidFill>
                  <a:schemeClr val="tx1"/>
                </a:solidFill>
                <a:latin typeface="+mn-lt"/>
                <a:ea typeface="Open Sans SemiBold" panose="020B0706030804020204" pitchFamily="34" charset="0"/>
                <a:cs typeface="Open Sans SemiBold" panose="020B0706030804020204" pitchFamily="34" charset="0"/>
              </a:rPr>
              <a:t>l</a:t>
            </a:r>
          </a:p>
        </p:txBody>
      </p:sp>
      <p:sp>
        <p:nvSpPr>
          <p:cNvPr id="10" name="Amkor.com link">
            <a:hlinkClick r:id="rId3" highlightClick="1"/>
            <a:hlinkHover r:id="" action="ppaction://noaction" highlightClick="1"/>
            <a:extLst>
              <a:ext uri="{FF2B5EF4-FFF2-40B4-BE49-F238E27FC236}">
                <a16:creationId xmlns:a16="http://schemas.microsoft.com/office/drawing/2014/main" id="{EC444362-CD51-54A0-7785-5F9D5D4B39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1894" y="6631326"/>
            <a:ext cx="609103" cy="146304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fontScale="25000" lnSpcReduction="20000"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" name="Social media icons">
            <a:extLst>
              <a:ext uri="{FF2B5EF4-FFF2-40B4-BE49-F238E27FC236}">
                <a16:creationId xmlns:a16="http://schemas.microsoft.com/office/drawing/2014/main" id="{314E9C75-05D0-FAC4-3E41-614D63796A46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040623" y="6658758"/>
            <a:ext cx="790168" cy="91440"/>
            <a:chOff x="10909827" y="7169470"/>
            <a:chExt cx="790168" cy="91440"/>
          </a:xfrm>
        </p:grpSpPr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7FCE3492-1DA9-C4FC-2B77-613F24F9F69A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035270" y="7169470"/>
              <a:ext cx="91440" cy="91440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0CDAFCB9-E2DD-B0B7-1220-DCF25B0186DF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326441" y="7169470"/>
              <a:ext cx="91440" cy="91440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F7A5FB0E-4018-D5EF-996C-BE3153E0C194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909827" y="7169470"/>
              <a:ext cx="91440" cy="91440"/>
            </a:xfrm>
            <a:prstGeom prst="rect">
              <a:avLst/>
            </a:prstGeom>
          </p:spPr>
        </p:pic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8275E794-9A3F-7F93-0F84-FA8EF4F3526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1583330" y="7169470"/>
              <a:ext cx="116665" cy="91440"/>
            </a:xfrm>
            <a:prstGeom prst="rect">
              <a:avLst/>
            </a:prstGeom>
          </p:spPr>
        </p:pic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DF5300C8-A7B0-3D1B-451D-74E04A92C08E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1453309" y="7169470"/>
              <a:ext cx="94593" cy="91440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11A00E4C-6B46-E27F-70ED-69BECE46B500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1159610" y="7169470"/>
              <a:ext cx="129277" cy="91440"/>
            </a:xfrm>
            <a:prstGeom prst="rect">
              <a:avLst/>
            </a:prstGeom>
          </p:spPr>
        </p:pic>
      </p:grpSp>
      <p:sp>
        <p:nvSpPr>
          <p:cNvPr id="18" name="LinkedIn link">
            <a:hlinkClick r:id="rId10" highlightClick="1"/>
            <a:hlinkHover r:id="" action="ppaction://noaction" highlightClick="1"/>
            <a:extLst>
              <a:ext uri="{FF2B5EF4-FFF2-40B4-BE49-F238E27FC236}">
                <a16:creationId xmlns:a16="http://schemas.microsoft.com/office/drawing/2014/main" id="{DA7AD2F6-8930-EAD4-8007-1E1C3207378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38202" y="6658758"/>
            <a:ext cx="91440" cy="9144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fontScale="25000" lnSpcReduction="20000"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Facebook link">
            <a:hlinkClick r:id="rId11" highlightClick="1"/>
            <a:hlinkHover r:id="" action="ppaction://noaction" highlightClick="1"/>
            <a:extLst>
              <a:ext uri="{FF2B5EF4-FFF2-40B4-BE49-F238E27FC236}">
                <a16:creationId xmlns:a16="http://schemas.microsoft.com/office/drawing/2014/main" id="{EA8E2657-A9FE-0136-D36C-1E983CD756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67650" y="6658758"/>
            <a:ext cx="85243" cy="9144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fontScale="25000" lnSpcReduction="20000"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X (formerly Twitter) link">
            <a:hlinkClick r:id="rId12" highlightClick="1"/>
            <a:hlinkHover r:id="" action="ppaction://noaction" highlightClick="1"/>
            <a:extLst>
              <a:ext uri="{FF2B5EF4-FFF2-40B4-BE49-F238E27FC236}">
                <a16:creationId xmlns:a16="http://schemas.microsoft.com/office/drawing/2014/main" id="{2CB541B2-730E-B93C-394B-FC65C2FCAE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587258" y="6658758"/>
            <a:ext cx="91440" cy="9144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fontScale="25000" lnSpcReduction="20000"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YouTube link">
            <a:hlinkClick r:id="rId13" highlightClick="1"/>
            <a:hlinkHover r:id="" action="ppaction://noaction" highlightClick="1"/>
            <a:extLst>
              <a:ext uri="{FF2B5EF4-FFF2-40B4-BE49-F238E27FC236}">
                <a16:creationId xmlns:a16="http://schemas.microsoft.com/office/drawing/2014/main" id="{2F8C7CFE-9070-FE8D-F809-83F36A51C31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88358" y="6658758"/>
            <a:ext cx="137160" cy="9144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fontScale="25000" lnSpcReduction="20000"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Instagram link">
            <a:hlinkClick r:id="rId14" highlightClick="1"/>
            <a:hlinkHover r:id="" action="ppaction://noaction" highlightClick="1"/>
            <a:extLst>
              <a:ext uri="{FF2B5EF4-FFF2-40B4-BE49-F238E27FC236}">
                <a16:creationId xmlns:a16="http://schemas.microsoft.com/office/drawing/2014/main" id="{5C894768-08F9-1568-652E-998D3F61DD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459405" y="6658758"/>
            <a:ext cx="91440" cy="9144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fontScale="25000" lnSpcReduction="20000"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WeChat link">
            <a:hlinkClick r:id="rId15" highlightClick="1"/>
            <a:hlinkHover r:id="" action="ppaction://noaction" highlightClick="1"/>
            <a:extLst>
              <a:ext uri="{FF2B5EF4-FFF2-40B4-BE49-F238E27FC236}">
                <a16:creationId xmlns:a16="http://schemas.microsoft.com/office/drawing/2014/main" id="{6CB117C3-C585-3A02-6120-D54620FCA4E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708089" y="6658758"/>
            <a:ext cx="122702" cy="9144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fontScale="25000" lnSpcReduction="20000"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agline">
            <a:extLst>
              <a:ext uri="{FF2B5EF4-FFF2-40B4-BE49-F238E27FC236}">
                <a16:creationId xmlns:a16="http://schemas.microsoft.com/office/drawing/2014/main" id="{47F1D431-3F82-87F9-6A8A-829967D46BB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691348" y="4262023"/>
            <a:ext cx="35878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 algn="ctr">
              <a:spcBef>
                <a:spcPts val="600"/>
              </a:spcBef>
              <a:buClr>
                <a:schemeClr val="accent1"/>
              </a:buClr>
              <a:buSzPct val="75000"/>
              <a:buFontTx/>
              <a:buNone/>
            </a:pPr>
            <a:r>
              <a:rPr lang="en-US" sz="240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ENABLING the FUTURE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06C9786-4606-5B41-8A1D-77DFE32B37BB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2250828" y="3924881"/>
            <a:ext cx="2468880" cy="0"/>
          </a:xfrm>
          <a:prstGeom prst="line">
            <a:avLst/>
          </a:prstGeom>
          <a:ln w="12700">
            <a:solidFill>
              <a:schemeClr val="tx1">
                <a:lumMod val="40000"/>
                <a:lumOff val="60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Logo">
            <a:extLst>
              <a:ext uri="{FF2B5EF4-FFF2-40B4-BE49-F238E27FC236}">
                <a16:creationId xmlns:a16="http://schemas.microsoft.com/office/drawing/2014/main" id="{61CEC72F-D492-5DB5-E605-087746652A3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252893" y="1935070"/>
            <a:ext cx="4464751" cy="1661879"/>
          </a:xfrm>
          <a:prstGeom prst="rect">
            <a:avLst/>
          </a:prstGeom>
          <a:effectLst/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79260659-240B-2F94-09B5-DE96A0F097EC}"/>
              </a:ext>
            </a:extLst>
          </p:cNvPr>
          <p:cNvGrpSpPr>
            <a:grpSpLocks noGrp="1" noUngrp="1" noRot="1" noChangeAspect="1" noMove="1" noResize="1"/>
          </p:cNvGrpSpPr>
          <p:nvPr userDrawn="1"/>
        </p:nvGrpSpPr>
        <p:grpSpPr>
          <a:xfrm>
            <a:off x="11285220" y="5893870"/>
            <a:ext cx="640080" cy="640080"/>
            <a:chOff x="2667000" y="0"/>
            <a:chExt cx="6858000" cy="6858000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00487DEF-4ABD-47C9-5293-0A126C7061B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2746794" y="67378"/>
              <a:ext cx="6705213" cy="673786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prstTxWarp prst="textNoShape">
                <a:avLst/>
              </a:prstTxWarp>
              <a:normAutofit/>
            </a:bodyPr>
            <a:lstStyle/>
            <a:p>
              <a:pPr marL="0" indent="0" algn="l">
                <a:buClr>
                  <a:schemeClr val="bg1"/>
                </a:buClr>
                <a:buSzPct val="75000"/>
                <a:buFontTx/>
                <a:buNone/>
              </a:pPr>
              <a:endParaRPr lang="en-US"/>
            </a:p>
          </p:txBody>
        </p:sp>
        <p:pic>
          <p:nvPicPr>
            <p:cNvPr id="31" name="Picture 30" descr="A qr code with a logo&#10;&#10;Description automatically generated">
              <a:extLst>
                <a:ext uri="{FF2B5EF4-FFF2-40B4-BE49-F238E27FC236}">
                  <a16:creationId xmlns:a16="http://schemas.microsoft.com/office/drawing/2014/main" id="{63635033-1878-A361-C856-0B893DCFBDD1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67000" y="0"/>
              <a:ext cx="6858000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7127336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theme" Target="../theme/theme1.xml"/><Relationship Id="rId54" Type="http://schemas.openxmlformats.org/officeDocument/2006/relationships/image" Target="../media/image1.png"/><Relationship Id="rId55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4">
            <a:alphaModFix amt="3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ogo - Footer">
            <a:extLst>
              <a:ext uri="{FF2B5EF4-FFF2-40B4-BE49-F238E27FC236}">
                <a16:creationId xmlns:a16="http://schemas.microsoft.com/office/drawing/2014/main" id="{3E56DF82-8448-8BD9-C22E-038FB077400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274320" y="6537960"/>
            <a:ext cx="680924" cy="253455"/>
          </a:xfrm>
          <a:prstGeom prst="rect">
            <a:avLst/>
          </a:prstGeom>
          <a:effectLst/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80EDC7-6213-C062-A493-119D986E3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228600"/>
            <a:ext cx="11658600" cy="10058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53F555-A8FA-E2AF-37B5-9BDF7E8662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4320" y="1234440"/>
            <a:ext cx="11658600" cy="5212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7DDEAFAF-BF5F-773F-9415-0BAA5F914D9B}"/>
              </a:ext>
            </a:extLst>
          </p:cNvPr>
          <p:cNvSpPr txBox="1"/>
          <p:nvPr userDrawn="1"/>
        </p:nvSpPr>
        <p:spPr>
          <a:xfrm>
            <a:off x="11525250" y="6584447"/>
            <a:ext cx="457200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1B50DEB-583C-4ABC-9220-E28A8ED62353}" type="slidenum">
              <a:rPr lang="en-US" sz="800" smtClean="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050">
              <a:solidFill>
                <a:schemeClr val="tx1"/>
              </a:solidFill>
              <a:latin typeface="+mn-lt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0" name="Footer placeholder">
            <a:extLst>
              <a:ext uri="{FF2B5EF4-FFF2-40B4-BE49-F238E27FC236}">
                <a16:creationId xmlns:a16="http://schemas.microsoft.com/office/drawing/2014/main" id="{4B706214-C3AC-3877-5272-2C56C44A234B}"/>
              </a:ext>
            </a:extLst>
          </p:cNvPr>
          <p:cNvSpPr txBox="1"/>
          <p:nvPr userDrawn="1"/>
        </p:nvSpPr>
        <p:spPr>
          <a:xfrm>
            <a:off x="9493843" y="6584447"/>
            <a:ext cx="2269532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t>© 2026 Amkor Confidential</a:t>
            </a:r>
            <a:endParaRPr lang="en-US" sz="80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3472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61" r:id="rId3"/>
    <p:sldLayoutId id="2147483650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51" r:id="rId13"/>
    <p:sldLayoutId id="2147483670" r:id="rId14"/>
    <p:sldLayoutId id="2147483671" r:id="rId15"/>
    <p:sldLayoutId id="2147483672" r:id="rId16"/>
    <p:sldLayoutId id="2147483673" r:id="rId17"/>
    <p:sldLayoutId id="2147483674" r:id="rId18"/>
    <p:sldLayoutId id="2147483675" r:id="rId19"/>
    <p:sldLayoutId id="2147483676" r:id="rId20"/>
    <p:sldLayoutId id="2147483677" r:id="rId21"/>
    <p:sldLayoutId id="2147483678" r:id="rId22"/>
    <p:sldLayoutId id="2147483679" r:id="rId23"/>
    <p:sldLayoutId id="2147483680" r:id="rId24"/>
    <p:sldLayoutId id="2147483681" r:id="rId25"/>
    <p:sldLayoutId id="2147483682" r:id="rId26"/>
    <p:sldLayoutId id="2147483683" r:id="rId27"/>
    <p:sldLayoutId id="2147483684" r:id="rId28"/>
    <p:sldLayoutId id="2147483705" r:id="rId29"/>
    <p:sldLayoutId id="2147483706" r:id="rId30"/>
    <p:sldLayoutId id="2147483688" r:id="rId31"/>
    <p:sldLayoutId id="2147483686" r:id="rId32"/>
    <p:sldLayoutId id="2147483653" r:id="rId33"/>
    <p:sldLayoutId id="2147483687" r:id="rId34"/>
    <p:sldLayoutId id="2147483652" r:id="rId35"/>
    <p:sldLayoutId id="2147483692" r:id="rId36"/>
    <p:sldLayoutId id="2147483693" r:id="rId37"/>
    <p:sldLayoutId id="2147483694" r:id="rId38"/>
    <p:sldLayoutId id="2147483695" r:id="rId39"/>
    <p:sldLayoutId id="2147483696" r:id="rId40"/>
    <p:sldLayoutId id="2147483697" r:id="rId41"/>
    <p:sldLayoutId id="2147483698" r:id="rId42"/>
    <p:sldLayoutId id="2147483699" r:id="rId43"/>
    <p:sldLayoutId id="2147483700" r:id="rId44"/>
    <p:sldLayoutId id="2147483701" r:id="rId45"/>
    <p:sldLayoutId id="2147483702" r:id="rId46"/>
    <p:sldLayoutId id="2147483703" r:id="rId47"/>
    <p:sldLayoutId id="2147483704" r:id="rId48"/>
    <p:sldLayoutId id="2147483656" r:id="rId49"/>
    <p:sldLayoutId id="2147483689" r:id="rId50"/>
    <p:sldLayoutId id="2147483690" r:id="rId51"/>
    <p:sldLayoutId id="2147483691" r:id="rId5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1" hangingPunct="1">
        <a:lnSpc>
          <a:spcPct val="90000"/>
        </a:lnSpc>
        <a:spcBef>
          <a:spcPts val="900"/>
        </a:spcBef>
        <a:buClr>
          <a:schemeClr val="accent1"/>
        </a:buClr>
        <a:buSzPct val="75000"/>
        <a:buFont typeface="Segoe UI Symbol" panose="020B0502040204020203" pitchFamily="34" charset="0"/>
        <a:buChar char="▶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defTabSz="914400" rtl="0" eaLnBrk="1" latinLnBrk="1" hangingPunct="1">
        <a:lnSpc>
          <a:spcPct val="90000"/>
        </a:lnSpc>
        <a:spcBef>
          <a:spcPts val="300"/>
        </a:spcBef>
        <a:buClr>
          <a:schemeClr val="accent1"/>
        </a:buClr>
        <a:buSzPct val="75000"/>
        <a:buFont typeface="Segoe UI Symbol" panose="020B0502040204020203" pitchFamily="34" charset="0"/>
        <a:buChar char="▷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74320" algn="l" defTabSz="914400" rtl="0" eaLnBrk="1" latinLnBrk="1" hangingPunct="1">
        <a:lnSpc>
          <a:spcPct val="90000"/>
        </a:lnSpc>
        <a:spcBef>
          <a:spcPts val="300"/>
        </a:spcBef>
        <a:buClr>
          <a:schemeClr val="accent1"/>
        </a:buClr>
        <a:buSzPct val="75000"/>
        <a:buFont typeface="Segoe UI Symbol" panose="020B0502040204020203" pitchFamily="34" charset="0"/>
        <a:buChar char="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74320" algn="l" defTabSz="914400" rtl="0" eaLnBrk="1" latinLnBrk="1" hangingPunct="1">
        <a:lnSpc>
          <a:spcPct val="90000"/>
        </a:lnSpc>
        <a:spcBef>
          <a:spcPts val="300"/>
        </a:spcBef>
        <a:buClr>
          <a:schemeClr val="accent1"/>
        </a:buClr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85750" algn="l" defTabSz="914400" rtl="0" eaLnBrk="1" latinLnBrk="1" hangingPunct="1">
        <a:lnSpc>
          <a:spcPct val="90000"/>
        </a:lnSpc>
        <a:spcBef>
          <a:spcPts val="500"/>
        </a:spcBef>
        <a:buClr>
          <a:schemeClr val="accent1"/>
        </a:buClr>
        <a:buFont typeface="Segoe UI Symbol" panose="020B0502040204020203" pitchFamily="34" charset="0"/>
        <a:buChar char="▸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defTabSz="914400" rtl="0" eaLnBrk="1" latinLnBrk="1" hangingPunct="1">
        <a:lnSpc>
          <a:spcPct val="90000"/>
        </a:lnSpc>
        <a:spcBef>
          <a:spcPts val="500"/>
        </a:spcBef>
        <a:buClr>
          <a:schemeClr val="accent1"/>
        </a:buClr>
        <a:buFont typeface="Segoe UI Symbol" panose="020B0502040204020203" pitchFamily="34" charset="0"/>
        <a:buChar char="»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defTabSz="914400" rtl="0" eaLnBrk="1" latinLnBrk="1" hangingPunct="1">
        <a:lnSpc>
          <a:spcPct val="90000"/>
        </a:lnSpc>
        <a:spcBef>
          <a:spcPts val="300"/>
        </a:spcBef>
        <a:buClr>
          <a:schemeClr val="accent1"/>
        </a:buClr>
        <a:buFont typeface="Segoe UI Symbol" panose="020B0502040204020203" pitchFamily="34" charset="0"/>
        <a:buChar char="›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228600" algn="l" defTabSz="914400" rtl="0" eaLnBrk="1" latinLnBrk="1" hangingPunct="1">
        <a:lnSpc>
          <a:spcPct val="90000"/>
        </a:lnSpc>
        <a:spcBef>
          <a:spcPts val="200"/>
        </a:spcBef>
        <a:buFont typeface="Segoe UI Symbol" panose="020B0502040204020203" pitchFamily="34" charset="0"/>
        <a:buChar char="▪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228600" algn="l" defTabSz="914400" rtl="0" eaLnBrk="1" latinLnBrk="1" hangingPunct="1">
        <a:lnSpc>
          <a:spcPct val="90000"/>
        </a:lnSpc>
        <a:spcBef>
          <a:spcPts val="300"/>
        </a:spcBef>
        <a:buFont typeface="Segoe UI Symbol" panose="020B0502040204020203" pitchFamily="34" charset="0"/>
        <a:buChar char="▫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DE53C"/>
          </p15:clr>
        </p15:guide>
        <p15:guide id="2" pos="168" userDrawn="1">
          <p15:clr>
            <a:srgbClr val="F26B43"/>
          </p15:clr>
        </p15:guide>
        <p15:guide id="3" pos="3840" userDrawn="1">
          <p15:clr>
            <a:srgbClr val="FDE53C"/>
          </p15:clr>
        </p15:guide>
        <p15:guide id="4" pos="240" userDrawn="1">
          <p15:clr>
            <a:srgbClr val="5ACBF0"/>
          </p15:clr>
        </p15:guide>
        <p15:guide id="5" pos="7512" userDrawn="1">
          <p15:clr>
            <a:srgbClr val="F26B43"/>
          </p15:clr>
        </p15:guide>
        <p15:guide id="6" pos="7440" userDrawn="1">
          <p15:clr>
            <a:srgbClr val="5ACBF0"/>
          </p15:clr>
        </p15:guide>
        <p15:guide id="7" orient="horz" pos="144" userDrawn="1">
          <p15:clr>
            <a:srgbClr val="F26B43"/>
          </p15:clr>
        </p15:guide>
        <p15:guide id="8" orient="horz" pos="216" userDrawn="1">
          <p15:clr>
            <a:srgbClr val="5ACBF0"/>
          </p15:clr>
        </p15:guide>
        <p15:guide id="10" orient="horz" pos="4080" userDrawn="1">
          <p15:clr>
            <a:srgbClr val="F26B43"/>
          </p15:clr>
        </p15:guide>
        <p15:guide id="11" orient="horz" pos="4008" userDrawn="1">
          <p15:clr>
            <a:srgbClr val="5ACBF0"/>
          </p15:clr>
        </p15:guide>
        <p15:guide id="12" orient="horz" pos="720" userDrawn="1">
          <p15:clr>
            <a:srgbClr val="5ACBF0"/>
          </p15:clr>
        </p15:guide>
        <p15:guide id="13" orient="horz" pos="792" userDrawn="1">
          <p15:clr>
            <a:srgbClr val="F26B43"/>
          </p15:clr>
        </p15:guide>
        <p15:guide id="15" orient="horz" pos="864" userDrawn="1">
          <p15:clr>
            <a:srgbClr val="5ACBF0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1C2504-7043-FCE3-3E4C-B1D6BD005A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46120" y="1234440"/>
            <a:ext cx="8686800" cy="2542032"/>
          </a:xfrm>
        </p:spPr>
        <p:txBody>
          <a:bodyPr/>
          <a:lstStyle/>
          <a:p>
            <a:r>
              <a:rPr lang="en-US" altLang="ko-KR" sz="4400" dirty="0"/>
              <a:t>SOP(Standard Operation Procedure) for X-ray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66A7BE8-07D2-9608-035B-4452F31E01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40096" y="4060613"/>
            <a:ext cx="6592824" cy="1627632"/>
          </a:xfrm>
        </p:spPr>
        <p:txBody>
          <a:bodyPr/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759829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0BFF2-1D3E-DC4A-650B-169057A10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8212B8-B4E2-8F34-88F6-CD0F9D875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228600"/>
            <a:ext cx="11658600" cy="1005840"/>
          </a:xfrm>
        </p:spPr>
        <p:txBody>
          <a:bodyPr/>
          <a:lstStyle/>
          <a:p>
            <a:r>
              <a:rPr lang="en-US" altLang="ko-KR" dirty="0"/>
              <a:t>1. Initialization Step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67638B9-6777-CB3E-5D67-EAFC8C7F92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" y="1234440"/>
            <a:ext cx="5821680" cy="4251286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C7A2854-8829-CEF7-3A7E-38A8DBB475FC}"/>
              </a:ext>
            </a:extLst>
          </p:cNvPr>
          <p:cNvSpPr txBox="1"/>
          <p:nvPr/>
        </p:nvSpPr>
        <p:spPr>
          <a:xfrm>
            <a:off x="6096000" y="1234440"/>
            <a:ext cx="6096000" cy="4165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spcAft>
                <a:spcPts val="800"/>
              </a:spcAft>
            </a:pPr>
            <a:r>
              <a:rPr lang="en-US" altLang="ko-KR" dirty="0"/>
              <a:t>Home </a:t>
            </a:r>
            <a:r>
              <a:rPr lang="ko-KR" altLang="en-US" dirty="0"/>
              <a:t>및 </a:t>
            </a:r>
            <a:r>
              <a:rPr lang="en-US" altLang="ko-KR" dirty="0"/>
              <a:t>Alarm : </a:t>
            </a:r>
            <a:r>
              <a:rPr lang="ko-KR" altLang="ko-KR" dirty="0"/>
              <a:t>초기 상태 확인</a:t>
            </a:r>
            <a:endParaRPr lang="en-US" altLang="ko-KR" kern="100" dirty="0"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endParaRPr lang="en-US" altLang="ko-KR" kern="100" dirty="0"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r>
              <a:rPr lang="en-US" altLang="ko-KR" kern="100" dirty="0">
                <a:ea typeface="맑은 고딕" panose="020B0503020000020004" pitchFamily="50" charset="-127"/>
                <a:cs typeface="Times New Roman" panose="02020603050405020304" pitchFamily="18" charset="0"/>
              </a:rPr>
              <a:t>1. Home </a:t>
            </a:r>
            <a:r>
              <a:rPr lang="ko-KR" altLang="en-US" kern="100" dirty="0">
                <a:ea typeface="맑은 고딕" panose="020B0503020000020004" pitchFamily="50" charset="-127"/>
                <a:cs typeface="Times New Roman" panose="02020603050405020304" pitchFamily="18" charset="0"/>
              </a:rPr>
              <a:t>화면 진입 </a:t>
            </a:r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ko-KR" altLang="en-US" kern="100" dirty="0">
                <a:ea typeface="맑은 고딕" panose="020B0503020000020004" pitchFamily="50" charset="-127"/>
                <a:cs typeface="Times New Roman" panose="02020603050405020304" pitchFamily="18" charset="0"/>
              </a:rPr>
              <a:t>우측 상단 </a:t>
            </a:r>
            <a:r>
              <a:rPr lang="en-US" altLang="ko-KR" kern="100" dirty="0">
                <a:ea typeface="맑은 고딕" panose="020B0503020000020004" pitchFamily="50" charset="-127"/>
                <a:cs typeface="Times New Roman" panose="02020603050405020304" pitchFamily="18" charset="0"/>
              </a:rPr>
              <a:t>GEM Status </a:t>
            </a:r>
            <a:r>
              <a:rPr lang="ko-KR" altLang="en-US" kern="100" dirty="0">
                <a:ea typeface="맑은 고딕" panose="020B0503020000020004" pitchFamily="50" charset="-127"/>
                <a:cs typeface="Times New Roman" panose="02020603050405020304" pitchFamily="18" charset="0"/>
              </a:rPr>
              <a:t>확인 </a:t>
            </a:r>
          </a:p>
          <a:p>
            <a:pPr marL="1257300" lvl="2" indent="-342900" latinLnBrk="1">
              <a:spcAft>
                <a:spcPts val="800"/>
              </a:spcAft>
              <a:buFont typeface="+mj-ea"/>
              <a:buAutoNum type="circleNumDbPlain"/>
            </a:pPr>
            <a:r>
              <a:rPr lang="en-US" altLang="ko-KR" kern="100" dirty="0">
                <a:ea typeface="맑은 고딕" panose="020B0503020000020004" pitchFamily="50" charset="-127"/>
                <a:cs typeface="Times New Roman" panose="02020603050405020304" pitchFamily="18" charset="0"/>
              </a:rPr>
              <a:t>Disabled/On-line Local / Initializing </a:t>
            </a:r>
            <a:r>
              <a:rPr lang="ko-KR" altLang="en-US" kern="100" dirty="0">
                <a:ea typeface="맑은 고딕" panose="020B0503020000020004" pitchFamily="50" charset="-127"/>
                <a:cs typeface="Times New Roman" panose="02020603050405020304" pitchFamily="18" charset="0"/>
              </a:rPr>
              <a:t>상태 확인</a:t>
            </a:r>
          </a:p>
          <a:p>
            <a:pPr latinLnBrk="1">
              <a:spcAft>
                <a:spcPts val="800"/>
              </a:spcAft>
              <a:buNone/>
            </a:pPr>
            <a:endParaRPr lang="en-US" altLang="ko-KR" sz="1800" kern="100" dirty="0"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r>
              <a:rPr lang="en-US" altLang="ko-KR" sz="1800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2. </a:t>
            </a:r>
            <a:r>
              <a:rPr lang="ko-KR" altLang="ko-KR" sz="1800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좌측</a:t>
            </a:r>
            <a:r>
              <a:rPr lang="en-US" altLang="ko-KR" sz="1800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Component </a:t>
            </a:r>
            <a:r>
              <a:rPr lang="ko-KR" altLang="ko-KR" sz="1800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상태 확인</a:t>
            </a:r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en-US" altLang="ko-KR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INS, WFC, FI, IO, WH </a:t>
            </a:r>
            <a:r>
              <a:rPr lang="ko-KR" altLang="ko-KR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상태 확</a:t>
            </a:r>
            <a:r>
              <a:rPr lang="ko-KR" altLang="en-US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인</a:t>
            </a:r>
            <a:endParaRPr lang="en-US" altLang="ko-KR" kern="100" dirty="0"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1257300" lvl="2" indent="-342900" latinLnBrk="1">
              <a:spcAft>
                <a:spcPts val="800"/>
              </a:spcAft>
              <a:buFont typeface="+mj-ea"/>
              <a:buAutoNum type="circleNumDbPlain"/>
            </a:pPr>
            <a:r>
              <a:rPr lang="en-US" altLang="ko-KR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Running </a:t>
            </a:r>
            <a:r>
              <a:rPr lang="ko-KR" altLang="ko-KR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상태 여부 확인</a:t>
            </a:r>
            <a:endParaRPr lang="en-US" altLang="ko-KR" kern="100" dirty="0"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vl="1" latinLnBrk="1">
              <a:spcAft>
                <a:spcPts val="800"/>
              </a:spcAft>
            </a:pPr>
            <a:r>
              <a:rPr lang="en-US" altLang="ko-KR" sz="1800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 </a:t>
            </a:r>
            <a:endParaRPr lang="ko-KR" altLang="ko-KR" sz="1800" kern="100" dirty="0"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r>
              <a:rPr lang="en-US" altLang="ko-KR" sz="1800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→ </a:t>
            </a:r>
            <a:r>
              <a:rPr lang="ko-KR" altLang="ko-KR" sz="1800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모든</a:t>
            </a:r>
            <a:r>
              <a:rPr lang="en-US" altLang="ko-KR" sz="1800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Component</a:t>
            </a:r>
            <a:r>
              <a:rPr lang="ko-KR" altLang="ko-KR" sz="1800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가</a:t>
            </a:r>
            <a:r>
              <a:rPr lang="en-US" altLang="ko-KR" sz="1800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Running</a:t>
            </a:r>
            <a:r>
              <a:rPr lang="ko-KR" altLang="ko-KR" sz="1800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이면 정상 구동 상태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A9285E1-4227-C54D-7C6A-C7E138E75DF5}"/>
              </a:ext>
            </a:extLst>
          </p:cNvPr>
          <p:cNvSpPr/>
          <p:nvPr/>
        </p:nvSpPr>
        <p:spPr>
          <a:xfrm>
            <a:off x="4729018" y="1372274"/>
            <a:ext cx="1366982" cy="65049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C0EB05C-0CA0-B4D7-3BAF-A277A67D1F94}"/>
              </a:ext>
            </a:extLst>
          </p:cNvPr>
          <p:cNvSpPr/>
          <p:nvPr/>
        </p:nvSpPr>
        <p:spPr>
          <a:xfrm>
            <a:off x="274319" y="2106565"/>
            <a:ext cx="2080953" cy="10058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연결선: 꺾임 5">
            <a:extLst>
              <a:ext uri="{FF2B5EF4-FFF2-40B4-BE49-F238E27FC236}">
                <a16:creationId xmlns:a16="http://schemas.microsoft.com/office/drawing/2014/main" id="{870EAD7F-6261-D249-8825-38BDA48CB6AA}"/>
              </a:ext>
            </a:extLst>
          </p:cNvPr>
          <p:cNvCxnSpPr>
            <a:stCxn id="4" idx="3"/>
          </p:cNvCxnSpPr>
          <p:nvPr/>
        </p:nvCxnSpPr>
        <p:spPr>
          <a:xfrm>
            <a:off x="2355272" y="2609485"/>
            <a:ext cx="3740728" cy="1057351"/>
          </a:xfrm>
          <a:prstGeom prst="bentConnector3">
            <a:avLst>
              <a:gd name="adj1" fmla="val 27778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A6E0F5C0-FFC0-AFD8-C4B0-0813E0A51F04}"/>
              </a:ext>
            </a:extLst>
          </p:cNvPr>
          <p:cNvCxnSpPr>
            <a:cxnSpLocks/>
          </p:cNvCxnSpPr>
          <p:nvPr/>
        </p:nvCxnSpPr>
        <p:spPr>
          <a:xfrm>
            <a:off x="4729018" y="2022764"/>
            <a:ext cx="1366982" cy="192267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5CCF249-1BFC-8829-45DF-2FAA43048F46}"/>
              </a:ext>
            </a:extLst>
          </p:cNvPr>
          <p:cNvSpPr txBox="1"/>
          <p:nvPr/>
        </p:nvSpPr>
        <p:spPr>
          <a:xfrm>
            <a:off x="274319" y="553751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spcAft>
                <a:spcPts val="800"/>
              </a:spcAft>
              <a:buNone/>
            </a:pPr>
            <a:r>
              <a:rPr lang="en-US" altLang="ko-KR" sz="1800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→ initialize</a:t>
            </a:r>
            <a:r>
              <a:rPr lang="ko-KR" altLang="en-US" sz="1800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kern="100" dirty="0">
                <a:ea typeface="맑은 고딕" panose="020B0503020000020004" pitchFamily="50" charset="-127"/>
                <a:cs typeface="Times New Roman" panose="02020603050405020304" pitchFamily="18" charset="0"/>
              </a:rPr>
              <a:t>전</a:t>
            </a:r>
            <a:endParaRPr lang="en-US" altLang="ko-KR" kern="100" dirty="0"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0640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F3744-E721-C9A8-6FB6-6944DF9E4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C61A8B-62D3-BB02-18C1-02A73F546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228600"/>
            <a:ext cx="11658600" cy="1005840"/>
          </a:xfrm>
        </p:spPr>
        <p:txBody>
          <a:bodyPr/>
          <a:lstStyle/>
          <a:p>
            <a:r>
              <a:rPr lang="en-US" altLang="ko-KR" dirty="0"/>
              <a:t>1. Initialization Step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755170-B967-A490-DF49-81268F7BE003}"/>
              </a:ext>
            </a:extLst>
          </p:cNvPr>
          <p:cNvSpPr txBox="1"/>
          <p:nvPr/>
        </p:nvSpPr>
        <p:spPr>
          <a:xfrm>
            <a:off x="6096000" y="1234440"/>
            <a:ext cx="6096000" cy="4165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spcAft>
                <a:spcPts val="800"/>
              </a:spcAft>
            </a:pPr>
            <a:r>
              <a:rPr lang="en-US" altLang="ko-KR" dirty="0"/>
              <a:t>Home </a:t>
            </a:r>
            <a:r>
              <a:rPr lang="ko-KR" altLang="en-US" dirty="0"/>
              <a:t>및 </a:t>
            </a:r>
            <a:r>
              <a:rPr lang="en-US" altLang="ko-KR" dirty="0"/>
              <a:t>Alarm : </a:t>
            </a:r>
            <a:r>
              <a:rPr lang="ko-KR" altLang="ko-KR" dirty="0"/>
              <a:t>초기 상태 확인</a:t>
            </a:r>
            <a:endParaRPr lang="en-US" altLang="ko-KR" kern="100" dirty="0"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endParaRPr lang="en-US" altLang="ko-KR" kern="100" dirty="0"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r>
              <a:rPr lang="en-US" altLang="ko-KR" kern="100" dirty="0">
                <a:ea typeface="맑은 고딕" panose="020B0503020000020004" pitchFamily="50" charset="-127"/>
                <a:cs typeface="Times New Roman" panose="02020603050405020304" pitchFamily="18" charset="0"/>
              </a:rPr>
              <a:t>1. Home </a:t>
            </a:r>
            <a:r>
              <a:rPr lang="ko-KR" altLang="en-US" kern="100" dirty="0">
                <a:ea typeface="맑은 고딕" panose="020B0503020000020004" pitchFamily="50" charset="-127"/>
                <a:cs typeface="Times New Roman" panose="02020603050405020304" pitchFamily="18" charset="0"/>
              </a:rPr>
              <a:t>화면 진입 </a:t>
            </a:r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ko-KR" altLang="en-US" kern="100" dirty="0">
                <a:ea typeface="맑은 고딕" panose="020B0503020000020004" pitchFamily="50" charset="-127"/>
                <a:cs typeface="Times New Roman" panose="02020603050405020304" pitchFamily="18" charset="0"/>
              </a:rPr>
              <a:t>우측 상단 </a:t>
            </a:r>
            <a:r>
              <a:rPr lang="en-US" altLang="ko-KR" kern="100" dirty="0">
                <a:ea typeface="맑은 고딕" panose="020B0503020000020004" pitchFamily="50" charset="-127"/>
                <a:cs typeface="Times New Roman" panose="02020603050405020304" pitchFamily="18" charset="0"/>
              </a:rPr>
              <a:t>GEM Status </a:t>
            </a:r>
            <a:r>
              <a:rPr lang="ko-KR" altLang="en-US" kern="100" dirty="0">
                <a:ea typeface="맑은 고딕" panose="020B0503020000020004" pitchFamily="50" charset="-127"/>
                <a:cs typeface="Times New Roman" panose="02020603050405020304" pitchFamily="18" charset="0"/>
              </a:rPr>
              <a:t>확인 </a:t>
            </a:r>
          </a:p>
          <a:p>
            <a:pPr marL="1257300" lvl="2" indent="-342900" latinLnBrk="1">
              <a:spcAft>
                <a:spcPts val="800"/>
              </a:spcAft>
              <a:buFont typeface="+mj-ea"/>
              <a:buAutoNum type="circleNumDbPlain"/>
            </a:pPr>
            <a:r>
              <a:rPr lang="en-US" altLang="ko-KR" kern="100" dirty="0">
                <a:ea typeface="맑은 고딕" panose="020B0503020000020004" pitchFamily="50" charset="-127"/>
                <a:cs typeface="Times New Roman" panose="02020603050405020304" pitchFamily="18" charset="0"/>
              </a:rPr>
              <a:t>Disabled/On-line Local / Initializing </a:t>
            </a:r>
            <a:r>
              <a:rPr lang="ko-KR" altLang="en-US" kern="100" dirty="0">
                <a:ea typeface="맑은 고딕" panose="020B0503020000020004" pitchFamily="50" charset="-127"/>
                <a:cs typeface="Times New Roman" panose="02020603050405020304" pitchFamily="18" charset="0"/>
              </a:rPr>
              <a:t>상태 확인</a:t>
            </a:r>
          </a:p>
          <a:p>
            <a:pPr latinLnBrk="1">
              <a:spcAft>
                <a:spcPts val="800"/>
              </a:spcAft>
              <a:buNone/>
            </a:pPr>
            <a:endParaRPr lang="en-US" altLang="ko-KR" sz="1800" kern="100" dirty="0"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r>
              <a:rPr lang="en-US" altLang="ko-KR" sz="1800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2. </a:t>
            </a:r>
            <a:r>
              <a:rPr lang="ko-KR" altLang="ko-KR" sz="1800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좌측</a:t>
            </a:r>
            <a:r>
              <a:rPr lang="en-US" altLang="ko-KR" sz="1800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Component </a:t>
            </a:r>
            <a:r>
              <a:rPr lang="ko-KR" altLang="ko-KR" sz="1800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상태 확인</a:t>
            </a:r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en-US" altLang="ko-KR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INS, WFC, FI, IO, WH </a:t>
            </a:r>
            <a:r>
              <a:rPr lang="ko-KR" altLang="ko-KR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상태 확</a:t>
            </a:r>
            <a:r>
              <a:rPr lang="ko-KR" altLang="en-US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인</a:t>
            </a:r>
            <a:endParaRPr lang="en-US" altLang="ko-KR" kern="100" dirty="0"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1257300" lvl="2" indent="-342900" latinLnBrk="1">
              <a:spcAft>
                <a:spcPts val="800"/>
              </a:spcAft>
              <a:buFont typeface="+mj-ea"/>
              <a:buAutoNum type="circleNumDbPlain"/>
            </a:pPr>
            <a:r>
              <a:rPr lang="en-US" altLang="ko-KR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Running </a:t>
            </a:r>
            <a:r>
              <a:rPr lang="ko-KR" altLang="ko-KR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상태 여부 확인</a:t>
            </a:r>
            <a:endParaRPr lang="en-US" altLang="ko-KR" kern="100" dirty="0"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vl="1" latinLnBrk="1">
              <a:spcAft>
                <a:spcPts val="800"/>
              </a:spcAft>
            </a:pPr>
            <a:r>
              <a:rPr lang="en-US" altLang="ko-KR" sz="1800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 </a:t>
            </a:r>
            <a:endParaRPr lang="ko-KR" altLang="ko-KR" sz="1800" kern="100" dirty="0"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r>
              <a:rPr lang="en-US" altLang="ko-KR" sz="1800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→ </a:t>
            </a:r>
            <a:r>
              <a:rPr lang="ko-KR" altLang="ko-KR" sz="1800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모든</a:t>
            </a:r>
            <a:r>
              <a:rPr lang="en-US" altLang="ko-KR" sz="1800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Component</a:t>
            </a:r>
            <a:r>
              <a:rPr lang="ko-KR" altLang="ko-KR" sz="1800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가</a:t>
            </a:r>
            <a:r>
              <a:rPr lang="en-US" altLang="ko-KR" sz="1800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Running</a:t>
            </a:r>
            <a:r>
              <a:rPr lang="ko-KR" altLang="ko-KR" sz="1800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이면 정상 구동 상태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07D09BE-868D-3653-CA35-472ACE03D9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18" y="1234440"/>
            <a:ext cx="5821680" cy="42369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3F1BA50-BCC1-B923-91D7-75D461CF5E00}"/>
              </a:ext>
            </a:extLst>
          </p:cNvPr>
          <p:cNvSpPr txBox="1"/>
          <p:nvPr/>
        </p:nvSpPr>
        <p:spPr>
          <a:xfrm>
            <a:off x="274319" y="553751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spcAft>
                <a:spcPts val="800"/>
              </a:spcAft>
              <a:buNone/>
            </a:pPr>
            <a:r>
              <a:rPr lang="en-US" altLang="ko-KR" sz="1800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→ initialize</a:t>
            </a:r>
            <a:r>
              <a:rPr lang="ko-KR" altLang="en-US" sz="1800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완료</a:t>
            </a:r>
            <a:endParaRPr lang="en-US" altLang="ko-KR" kern="100" dirty="0"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4763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D8EEB-9929-BEC0-CFE4-84D28715B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296387-A994-32B6-2224-B655F690A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228600"/>
            <a:ext cx="11658600" cy="1005840"/>
          </a:xfrm>
        </p:spPr>
        <p:txBody>
          <a:bodyPr/>
          <a:lstStyle/>
          <a:p>
            <a:r>
              <a:rPr lang="en-US" altLang="ko-KR" dirty="0"/>
              <a:t>2. Recipe Step : 1. Wafer Scan Information Submit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420E7CF-75EB-884E-4400-0ADB47E37FDC}"/>
                  </a:ext>
                </a:extLst>
              </p:cNvPr>
              <p:cNvSpPr txBox="1"/>
              <p:nvPr/>
            </p:nvSpPr>
            <p:spPr>
              <a:xfrm>
                <a:off x="6096000" y="1234440"/>
                <a:ext cx="6096000" cy="56220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>
                  <a:spcAft>
                    <a:spcPts val="800"/>
                  </a:spcAft>
                </a:pPr>
                <a:r>
                  <a:rPr lang="en-US" altLang="ko-KR" sz="1400" dirty="0"/>
                  <a:t>1. Setup Recipe</a:t>
                </a:r>
              </a:p>
              <a:p>
                <a:pPr marL="800100" lvl="1" indent="-342900" latinLnBrk="1">
                  <a:spcAft>
                    <a:spcPts val="800"/>
                  </a:spcAft>
                  <a:buFont typeface="+mj-lt"/>
                  <a:buAutoNum type="arabicParenR"/>
                </a:pPr>
                <a:r>
                  <a:rPr lang="en-US" altLang="ko-KR" sz="1400" dirty="0"/>
                  <a:t>WS Recipes </a:t>
                </a:r>
                <a:r>
                  <a:rPr lang="ko-KR" altLang="en-US" sz="1400" dirty="0"/>
                  <a:t>메뉴 진입</a:t>
                </a:r>
                <a:endParaRPr lang="en-US" altLang="ko-KR" sz="1400" dirty="0"/>
              </a:p>
              <a:p>
                <a:pPr latinLnBrk="1">
                  <a:spcAft>
                    <a:spcPts val="800"/>
                  </a:spcAft>
                </a:pPr>
                <a:endParaRPr lang="en-US" altLang="ko-KR" sz="1400" dirty="0"/>
              </a:p>
              <a:p>
                <a:pPr latinLnBrk="1">
                  <a:spcAft>
                    <a:spcPts val="800"/>
                  </a:spcAft>
                </a:pPr>
                <a:r>
                  <a:rPr lang="en-US" altLang="ko-KR" sz="1400" dirty="0"/>
                  <a:t>2. Wafer </a:t>
                </a:r>
                <a:r>
                  <a:rPr lang="ko-KR" altLang="en-US" sz="1400" dirty="0"/>
                  <a:t>정보 입력</a:t>
                </a:r>
                <a:endParaRPr lang="en-US" altLang="ko-KR" sz="1400" dirty="0"/>
              </a:p>
              <a:p>
                <a:pPr marL="800100" lvl="1" indent="-342900" latinLnBrk="1">
                  <a:spcAft>
                    <a:spcPts val="800"/>
                  </a:spcAft>
                  <a:buFont typeface="+mj-lt"/>
                  <a:buAutoNum type="arabicParenR"/>
                </a:pPr>
                <a:r>
                  <a:rPr lang="en-US" altLang="ko-KR" sz="1400" dirty="0"/>
                  <a:t>Wafer ID : Recipe name </a:t>
                </a:r>
                <a:r>
                  <a:rPr lang="ko-KR" altLang="en-US" sz="1400" dirty="0"/>
                  <a:t>입력</a:t>
                </a:r>
                <a:endParaRPr lang="en-US" altLang="ko-KR" sz="1400" dirty="0"/>
              </a:p>
              <a:p>
                <a:pPr marL="800100" lvl="1" indent="-342900" latinLnBrk="1">
                  <a:spcAft>
                    <a:spcPts val="800"/>
                  </a:spcAft>
                  <a:buFont typeface="+mj-lt"/>
                  <a:buAutoNum type="arabicParenR"/>
                </a:pPr>
                <a:r>
                  <a:rPr lang="en-US" altLang="ko-KR" sz="1400" dirty="0"/>
                  <a:t>Description </a:t>
                </a:r>
                <a:r>
                  <a:rPr lang="ko-KR" altLang="en-US" sz="1400" dirty="0"/>
                  <a:t>입력</a:t>
                </a:r>
                <a:endParaRPr lang="en-US" altLang="ko-KR" sz="1400" dirty="0"/>
              </a:p>
              <a:p>
                <a:pPr latinLnBrk="1">
                  <a:spcAft>
                    <a:spcPts val="800"/>
                  </a:spcAft>
                </a:pPr>
                <a:endParaRPr lang="en-US" altLang="ko-KR" sz="1400" dirty="0"/>
              </a:p>
              <a:p>
                <a:pPr latinLnBrk="1">
                  <a:spcAft>
                    <a:spcPts val="800"/>
                  </a:spcAft>
                </a:pPr>
                <a:r>
                  <a:rPr lang="en-US" altLang="ko-KR" sz="1400" dirty="0"/>
                  <a:t>3. X-ray </a:t>
                </a:r>
                <a:r>
                  <a:rPr lang="ko-KR" altLang="en-US" sz="1400" dirty="0"/>
                  <a:t>조건 설정</a:t>
                </a:r>
                <a:endParaRPr lang="en-US" altLang="ko-KR" sz="1400" dirty="0"/>
              </a:p>
              <a:p>
                <a:pPr marL="800100" lvl="1" indent="-342900" latinLnBrk="1">
                  <a:spcAft>
                    <a:spcPts val="800"/>
                  </a:spcAft>
                  <a:buFont typeface="+mj-lt"/>
                  <a:buAutoNum type="arabicParenR"/>
                </a:pPr>
                <a:r>
                  <a:rPr lang="en-US" altLang="ko-KR" sz="1400" dirty="0"/>
                  <a:t>Voltage </a:t>
                </a:r>
                <a:r>
                  <a:rPr lang="ko-KR" altLang="en-US" sz="1400" dirty="0"/>
                  <a:t>설정 </a:t>
                </a:r>
                <a:r>
                  <a:rPr lang="en-US" altLang="ko-KR" sz="1400" dirty="0"/>
                  <a:t>(</a:t>
                </a:r>
                <a:r>
                  <a:rPr lang="ko-KR" altLang="en-US" sz="1400" dirty="0"/>
                  <a:t>초기 값 </a:t>
                </a:r>
                <a:r>
                  <a:rPr lang="en-US" altLang="ko-KR" sz="1400" dirty="0"/>
                  <a:t>60kV) </a:t>
                </a:r>
                <a:br>
                  <a:rPr lang="en-US" altLang="ko-KR" sz="1400" dirty="0"/>
                </a:br>
                <a:r>
                  <a:rPr lang="en-US" altLang="ko-KR" sz="1400" dirty="0"/>
                  <a:t>: </a:t>
                </a:r>
                <a:r>
                  <a:rPr lang="ko-KR" altLang="en-US" sz="1400" dirty="0"/>
                  <a:t>빛의 투과세기 조절</a:t>
                </a:r>
                <a:endParaRPr lang="en-US" altLang="ko-KR" sz="1400" dirty="0"/>
              </a:p>
              <a:p>
                <a:pPr marL="800100" lvl="1" indent="-342900" latinLnBrk="1">
                  <a:spcAft>
                    <a:spcPts val="800"/>
                  </a:spcAft>
                  <a:buFont typeface="+mj-lt"/>
                  <a:buAutoNum type="arabicParenR"/>
                </a:pPr>
                <a:r>
                  <a:rPr lang="en-US" altLang="ko-KR" sz="1400" dirty="0"/>
                  <a:t>Power </a:t>
                </a:r>
                <a:r>
                  <a:rPr lang="ko-KR" altLang="en-US" sz="1400" dirty="0"/>
                  <a:t>설정</a:t>
                </a:r>
                <a:r>
                  <a:rPr lang="en-US" altLang="ko-KR" sz="1400" dirty="0"/>
                  <a:t> (</a:t>
                </a:r>
                <a:r>
                  <a:rPr lang="ko-KR" altLang="en-US" sz="1400" dirty="0"/>
                  <a:t>초기 값 </a:t>
                </a:r>
                <a:r>
                  <a:rPr lang="en-US" altLang="ko-KR" sz="1400" dirty="0"/>
                  <a:t>4W)</a:t>
                </a:r>
                <a:br>
                  <a:rPr lang="en-US" altLang="ko-KR" sz="1400" dirty="0"/>
                </a:br>
                <a:r>
                  <a:rPr lang="en-US" altLang="ko-KR" sz="1400" dirty="0"/>
                  <a:t>: </a:t>
                </a:r>
                <a:r>
                  <a:rPr lang="ko-KR" altLang="en-US" sz="1400" dirty="0"/>
                  <a:t>빛의 세기</a:t>
                </a:r>
                <a:r>
                  <a:rPr lang="en-US" altLang="ko-KR" sz="1400" dirty="0"/>
                  <a:t>(</a:t>
                </a:r>
                <a14:m>
                  <m:oMath xmlns:m="http://schemas.openxmlformats.org/officeDocument/2006/math">
                    <m:r>
                      <a:rPr lang="en-US" altLang="ko-KR" sz="1400" i="1" smtClean="0">
                        <a:latin typeface="Cambria Math" panose="02040503050406030204" pitchFamily="18" charset="0"/>
                      </a:rPr>
                      <m:t>≒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z="1400" dirty="0"/>
                  <a:t>밝기 조절에 따라 </a:t>
                </a:r>
                <a:r>
                  <a:rPr lang="ko-KR" altLang="en-US" sz="1400" dirty="0" err="1"/>
                  <a:t>검출력</a:t>
                </a:r>
                <a:r>
                  <a:rPr lang="ko-KR" altLang="en-US" sz="1400" dirty="0"/>
                  <a:t> 변화 발생</a:t>
                </a:r>
                <a:r>
                  <a:rPr lang="en-US" altLang="ko-KR" sz="1400" dirty="0"/>
                  <a:t>)</a:t>
                </a:r>
              </a:p>
              <a:p>
                <a:pPr marL="800100" lvl="1" indent="-342900" latinLnBrk="1">
                  <a:spcAft>
                    <a:spcPts val="800"/>
                  </a:spcAft>
                  <a:buFont typeface="+mj-lt"/>
                  <a:buAutoNum type="arabicParenR"/>
                </a:pPr>
                <a:r>
                  <a:rPr lang="en-US" altLang="ko-KR" sz="1400" dirty="0"/>
                  <a:t>Frame Average </a:t>
                </a:r>
                <a:r>
                  <a:rPr lang="ko-KR" altLang="en-US" sz="1400" dirty="0"/>
                  <a:t>설정 </a:t>
                </a:r>
                <a:br>
                  <a:rPr lang="en-US" altLang="ko-KR" sz="1400" dirty="0"/>
                </a:br>
                <a:r>
                  <a:rPr lang="en-US" altLang="ko-KR" sz="1400" dirty="0"/>
                  <a:t>: bump </a:t>
                </a:r>
                <a:r>
                  <a:rPr lang="ko-KR" altLang="ko-KR" sz="1400" dirty="0"/>
                  <a:t>하나당 찍혀지는 이미지의 개수</a:t>
                </a:r>
                <a:r>
                  <a:rPr lang="en-US" altLang="ko-KR" sz="1400" dirty="0"/>
                  <a:t>,</a:t>
                </a:r>
                <a:r>
                  <a:rPr lang="ko-KR" altLang="ko-KR" sz="1400" dirty="0"/>
                  <a:t> 클수록 </a:t>
                </a:r>
                <a:r>
                  <a:rPr lang="ko-KR" altLang="en-US" sz="1400" dirty="0"/>
                  <a:t>더 </a:t>
                </a:r>
                <a:r>
                  <a:rPr lang="ko-KR" altLang="ko-KR" sz="1400" dirty="0"/>
                  <a:t>많은 이미지가 겹쳐지므로 선명한 사진</a:t>
                </a:r>
                <a:r>
                  <a:rPr lang="en-US" altLang="ko-KR" sz="1400" dirty="0"/>
                  <a:t> </a:t>
                </a:r>
                <a:r>
                  <a:rPr lang="ko-KR" altLang="en-US" sz="1400" dirty="0"/>
                  <a:t>가능하지만 검사 시간 증가</a:t>
                </a:r>
                <a:endParaRPr lang="en-US" altLang="ko-KR" sz="1400" dirty="0"/>
              </a:p>
              <a:p>
                <a:pPr marL="800100" lvl="1" indent="-342900" latinLnBrk="1">
                  <a:spcAft>
                    <a:spcPts val="800"/>
                  </a:spcAft>
                  <a:buFont typeface="+mj-lt"/>
                  <a:buAutoNum type="arabicParenR"/>
                </a:pPr>
                <a:r>
                  <a:rPr lang="en-US" altLang="ko-KR" sz="1400" dirty="0"/>
                  <a:t>Resolution </a:t>
                </a:r>
                <a:r>
                  <a:rPr lang="ko-KR" altLang="en-US" sz="1400" dirty="0"/>
                  <a:t>설정</a:t>
                </a:r>
                <a:endParaRPr lang="en-US" altLang="ko-KR" sz="1400" dirty="0"/>
              </a:p>
              <a:p>
                <a:pPr latinLnBrk="1">
                  <a:spcAft>
                    <a:spcPts val="800"/>
                  </a:spcAft>
                </a:pPr>
                <a:endParaRPr lang="en-US" altLang="ko-KR" sz="1400" dirty="0"/>
              </a:p>
              <a:p>
                <a:pPr latinLnBrk="1">
                  <a:spcAft>
                    <a:spcPts val="800"/>
                  </a:spcAft>
                </a:pPr>
                <a:r>
                  <a:rPr lang="en-US" altLang="ko-KR" sz="1400" dirty="0"/>
                  <a:t>4. Recipe </a:t>
                </a:r>
                <a:r>
                  <a:rPr lang="ko-KR" altLang="en-US" sz="1400" dirty="0"/>
                  <a:t>생성</a:t>
                </a:r>
                <a:endParaRPr lang="en-US" altLang="ko-KR" sz="1400" dirty="0"/>
              </a:p>
              <a:p>
                <a:pPr marL="800100" lvl="1" indent="-342900" latinLnBrk="1">
                  <a:spcAft>
                    <a:spcPts val="800"/>
                  </a:spcAft>
                  <a:buFont typeface="+mj-lt"/>
                  <a:buAutoNum type="arabicParenR"/>
                </a:pPr>
                <a:r>
                  <a:rPr lang="en-US" altLang="ko-KR" sz="1400" dirty="0"/>
                  <a:t>Create WS Recipe </a:t>
                </a:r>
                <a:r>
                  <a:rPr lang="ko-KR" altLang="en-US" sz="1400" dirty="0"/>
                  <a:t>클릭</a:t>
                </a:r>
                <a:endParaRPr lang="ko-KR" altLang="ko-KR" sz="1400" kern="100" dirty="0">
                  <a:effectLst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420E7CF-75EB-884E-4400-0ADB47E37F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234440"/>
                <a:ext cx="6096000" cy="5622052"/>
              </a:xfrm>
              <a:prstGeom prst="rect">
                <a:avLst/>
              </a:prstGeom>
              <a:blipFill>
                <a:blip r:embed="rId2"/>
                <a:stretch>
                  <a:fillRect l="-300" t="-217" b="-1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그림 6">
            <a:extLst>
              <a:ext uri="{FF2B5EF4-FFF2-40B4-BE49-F238E27FC236}">
                <a16:creationId xmlns:a16="http://schemas.microsoft.com/office/drawing/2014/main" id="{72660E54-3847-AC1F-D265-6DAFE354DA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19" y="1234438"/>
            <a:ext cx="5822210" cy="3159762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C25A2F42-B491-4DD4-FD64-BBC256963089}"/>
              </a:ext>
            </a:extLst>
          </p:cNvPr>
          <p:cNvSpPr/>
          <p:nvPr/>
        </p:nvSpPr>
        <p:spPr>
          <a:xfrm>
            <a:off x="3263900" y="1466850"/>
            <a:ext cx="469900" cy="1524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7F05B41-9585-9F97-228F-46F3F9E16E51}"/>
              </a:ext>
            </a:extLst>
          </p:cNvPr>
          <p:cNvSpPr/>
          <p:nvPr/>
        </p:nvSpPr>
        <p:spPr>
          <a:xfrm>
            <a:off x="876300" y="1988432"/>
            <a:ext cx="1962150" cy="45728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B642763-26C0-8056-66E2-E6C7C53A8780}"/>
              </a:ext>
            </a:extLst>
          </p:cNvPr>
          <p:cNvSpPr/>
          <p:nvPr/>
        </p:nvSpPr>
        <p:spPr>
          <a:xfrm>
            <a:off x="876300" y="2967107"/>
            <a:ext cx="1962150" cy="5397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8F378AB-272D-50F0-8BA8-050E9319CB50}"/>
              </a:ext>
            </a:extLst>
          </p:cNvPr>
          <p:cNvSpPr/>
          <p:nvPr/>
        </p:nvSpPr>
        <p:spPr>
          <a:xfrm>
            <a:off x="1524000" y="4028246"/>
            <a:ext cx="901700" cy="23260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연결선: 꺾임 8">
            <a:extLst>
              <a:ext uri="{FF2B5EF4-FFF2-40B4-BE49-F238E27FC236}">
                <a16:creationId xmlns:a16="http://schemas.microsoft.com/office/drawing/2014/main" id="{67983EA5-EFE3-F7AE-CE9C-4D09A30ED508}"/>
              </a:ext>
            </a:extLst>
          </p:cNvPr>
          <p:cNvCxnSpPr>
            <a:cxnSpLocks/>
            <a:stCxn id="3" idx="0"/>
          </p:cNvCxnSpPr>
          <p:nvPr/>
        </p:nvCxnSpPr>
        <p:spPr>
          <a:xfrm rot="5400000" flipH="1" flipV="1">
            <a:off x="4761346" y="132196"/>
            <a:ext cx="72159" cy="2597150"/>
          </a:xfrm>
          <a:prstGeom prst="bent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56C226B7-F887-5730-6252-839A62305572}"/>
              </a:ext>
            </a:extLst>
          </p:cNvPr>
          <p:cNvCxnSpPr>
            <a:cxnSpLocks/>
            <a:stCxn id="6" idx="2"/>
          </p:cNvCxnSpPr>
          <p:nvPr/>
        </p:nvCxnSpPr>
        <p:spPr>
          <a:xfrm rot="16200000" flipH="1">
            <a:off x="3001588" y="3234112"/>
            <a:ext cx="2075295" cy="4128770"/>
          </a:xfrm>
          <a:prstGeom prst="bent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연결선: 꺾임 28">
            <a:extLst>
              <a:ext uri="{FF2B5EF4-FFF2-40B4-BE49-F238E27FC236}">
                <a16:creationId xmlns:a16="http://schemas.microsoft.com/office/drawing/2014/main" id="{B81C0184-DA45-2EE9-1105-663B34798270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2838450" y="2217075"/>
            <a:ext cx="3265170" cy="120087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749D0AAA-F0C0-819F-1973-63EEE4929C93}"/>
              </a:ext>
            </a:extLst>
          </p:cNvPr>
          <p:cNvCxnSpPr>
            <a:cxnSpLocks/>
          </p:cNvCxnSpPr>
          <p:nvPr/>
        </p:nvCxnSpPr>
        <p:spPr>
          <a:xfrm>
            <a:off x="2838452" y="3279631"/>
            <a:ext cx="3265168" cy="307298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65760" y="6035040"/>
            <a:ext cx="11460480" cy="457200"/>
          </a:xfrm>
          <a:prstGeom prst="rect">
            <a:avLst/>
          </a:prstGeom>
          <a:solidFill>
            <a:srgbClr val="FFF2CC"/>
          </a:solidFill>
          <a:ln w="19050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00000"/>
                </a:solidFill>
                <a:latin typeface="맑은 고딕"/>
              </a:rPr>
              <a:t>★ 취득 파라미터는 검사와 독립 — 절약 세트(F32, R_acq=D/N_detect) 사용. kV만 검사와 동일 유지 (부록1)</a:t>
            </a:r>
          </a:p>
        </p:txBody>
      </p:sp>
    </p:spTree>
    <p:extLst>
      <p:ext uri="{BB962C8B-B14F-4D97-AF65-F5344CB8AC3E}">
        <p14:creationId xmlns:p14="http://schemas.microsoft.com/office/powerpoint/2010/main" val="2288027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101D0-95DF-9251-C9F9-32EF97E75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5A4B85-D5DE-638C-BBCD-7AC0DDA12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228600"/>
            <a:ext cx="11658600" cy="1005840"/>
          </a:xfrm>
        </p:spPr>
        <p:txBody>
          <a:bodyPr/>
          <a:lstStyle/>
          <a:p>
            <a:r>
              <a:rPr lang="en-US" altLang="ko-KR"/>
              <a:t>2. Recipe Step : 1. Wafer Scan Information Submit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B33745-3C03-478C-3174-A0E494C7B926}"/>
              </a:ext>
            </a:extLst>
          </p:cNvPr>
          <p:cNvSpPr txBox="1"/>
          <p:nvPr/>
        </p:nvSpPr>
        <p:spPr>
          <a:xfrm>
            <a:off x="6096000" y="1234440"/>
            <a:ext cx="6096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spcAft>
                <a:spcPts val="800"/>
              </a:spcAft>
            </a:pPr>
            <a:r>
              <a:rPr lang="en-US" altLang="ko-KR" sz="1400" b="1" dirty="0"/>
              <a:t>* </a:t>
            </a:r>
            <a:r>
              <a:rPr lang="ko-KR" altLang="en-US" sz="1400" b="1" dirty="0"/>
              <a:t>참고 사항 </a:t>
            </a:r>
            <a:r>
              <a:rPr lang="en-US" altLang="ko-KR" sz="1400" b="1" dirty="0"/>
              <a:t>:  </a:t>
            </a:r>
            <a:br>
              <a:rPr lang="en-US" altLang="ko-KR" sz="1400" dirty="0"/>
            </a:br>
            <a:br>
              <a:rPr lang="en-US" altLang="ko-KR" sz="1400" dirty="0"/>
            </a:br>
            <a:br>
              <a:rPr lang="en-US" altLang="ko-KR" sz="1400" dirty="0"/>
            </a:br>
            <a:r>
              <a:rPr lang="en-US" altLang="ko-KR" sz="1400" dirty="0"/>
              <a:t>Power </a:t>
            </a:r>
            <a:r>
              <a:rPr lang="ko-KR" altLang="en-US" sz="1400" dirty="0"/>
              <a:t>설정에 따른 </a:t>
            </a:r>
            <a:r>
              <a:rPr lang="ko-KR" altLang="en-US" sz="1400" dirty="0" err="1"/>
              <a:t>검출력</a:t>
            </a:r>
            <a:r>
              <a:rPr lang="ko-KR" altLang="en-US" sz="1400" dirty="0"/>
              <a:t> 변화 예시</a:t>
            </a:r>
            <a:br>
              <a:rPr lang="en-US" altLang="ko-KR" sz="1400" dirty="0"/>
            </a:br>
            <a:br>
              <a:rPr lang="en-US" altLang="ko-KR" sz="1400" dirty="0"/>
            </a:br>
            <a:r>
              <a:rPr lang="ko-KR" altLang="en-US" sz="1400" dirty="0"/>
              <a:t>동일 </a:t>
            </a:r>
            <a:r>
              <a:rPr lang="en-US" altLang="ko-KR" sz="1400" dirty="0"/>
              <a:t>sample</a:t>
            </a:r>
            <a:r>
              <a:rPr lang="ko-KR" altLang="en-US" sz="1400" dirty="0"/>
              <a:t>에 대해 </a:t>
            </a:r>
            <a:r>
              <a:rPr lang="en-US" altLang="ko-KR" sz="1400" dirty="0"/>
              <a:t>power = 4w, power = 5w</a:t>
            </a:r>
            <a:r>
              <a:rPr lang="ko-KR" altLang="en-US" sz="1400" dirty="0"/>
              <a:t> 차이</a:t>
            </a:r>
            <a:endParaRPr lang="en-US" altLang="ko-KR" sz="14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5811672-6E93-8C77-E885-1464FE2A69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36" r="22034" b="3939"/>
          <a:stretch>
            <a:fillRect/>
          </a:stretch>
        </p:blipFill>
        <p:spPr>
          <a:xfrm>
            <a:off x="1389961" y="1234438"/>
            <a:ext cx="3590925" cy="362331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7BABF94-D9AE-C6A8-9957-E62483A83E58}"/>
              </a:ext>
            </a:extLst>
          </p:cNvPr>
          <p:cNvSpPr txBox="1"/>
          <p:nvPr/>
        </p:nvSpPr>
        <p:spPr>
          <a:xfrm>
            <a:off x="3188654" y="4857748"/>
            <a:ext cx="15049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dirty="0"/>
              <a:t>power = 4w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0E916B-E961-FB10-56C2-F690F98B6008}"/>
              </a:ext>
            </a:extLst>
          </p:cNvPr>
          <p:cNvSpPr txBox="1"/>
          <p:nvPr/>
        </p:nvSpPr>
        <p:spPr>
          <a:xfrm>
            <a:off x="1498976" y="4857748"/>
            <a:ext cx="15049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dirty="0"/>
              <a:t>power = 5w</a:t>
            </a:r>
            <a:r>
              <a:rPr lang="ko-KR" altLang="en-US" sz="1800" dirty="0"/>
              <a:t> </a:t>
            </a:r>
            <a:endParaRPr lang="ko-KR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365760" y="6035040"/>
            <a:ext cx="11460480" cy="457200"/>
          </a:xfrm>
          <a:prstGeom prst="rect">
            <a:avLst/>
          </a:prstGeom>
          <a:solidFill>
            <a:srgbClr val="FFF2CC"/>
          </a:solidFill>
          <a:ln w="19050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00000"/>
                </a:solidFill>
                <a:latin typeface="맑은 고딕"/>
              </a:rPr>
              <a:t>★ 실측 보정: 60kV에서 3.5/4.0/4.5W 이미지 완전 동일(무효과) — Power는 4W 고정, 검출력 문제는 kV로 해결 (부록1)</a:t>
            </a:r>
          </a:p>
        </p:txBody>
      </p:sp>
    </p:spTree>
    <p:extLst>
      <p:ext uri="{BB962C8B-B14F-4D97-AF65-F5344CB8AC3E}">
        <p14:creationId xmlns:p14="http://schemas.microsoft.com/office/powerpoint/2010/main" val="3573327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F6A86-C265-CCA9-1BCD-FD9E42318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그림 31">
            <a:extLst>
              <a:ext uri="{FF2B5EF4-FFF2-40B4-BE49-F238E27FC236}">
                <a16:creationId xmlns:a16="http://schemas.microsoft.com/office/drawing/2014/main" id="{2496D127-C2FF-68C2-9C97-020ABBCDD4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225" b="5040"/>
          <a:stretch>
            <a:fillRect/>
          </a:stretch>
        </p:blipFill>
        <p:spPr>
          <a:xfrm>
            <a:off x="280181" y="5271433"/>
            <a:ext cx="5833407" cy="35212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9C51F4A-80C1-5D17-5014-D2F2ADD5C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228600"/>
            <a:ext cx="11658600" cy="1005840"/>
          </a:xfrm>
        </p:spPr>
        <p:txBody>
          <a:bodyPr>
            <a:normAutofit/>
          </a:bodyPr>
          <a:lstStyle/>
          <a:p>
            <a:r>
              <a:rPr lang="en-US" altLang="ko-KR" dirty="0"/>
              <a:t>2. Recipe Step : 2. Image Acquisition </a:t>
            </a:r>
            <a:r>
              <a:rPr lang="ko-KR" altLang="en-US" dirty="0"/>
              <a:t>실행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13990E-F3FC-10C6-9130-6F8753ED23E4}"/>
              </a:ext>
            </a:extLst>
          </p:cNvPr>
          <p:cNvSpPr txBox="1"/>
          <p:nvPr/>
        </p:nvSpPr>
        <p:spPr>
          <a:xfrm>
            <a:off x="6096000" y="1234440"/>
            <a:ext cx="6096000" cy="5201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latinLnBrk="1">
              <a:spcAft>
                <a:spcPts val="800"/>
              </a:spcAft>
              <a:buAutoNum type="arabicPeriod"/>
            </a:pPr>
            <a:r>
              <a:rPr lang="en-US" altLang="ko-KR" dirty="0"/>
              <a:t>Jobs </a:t>
            </a:r>
            <a:r>
              <a:rPr lang="ko-KR" altLang="en-US" dirty="0"/>
              <a:t>메뉴 선택</a:t>
            </a:r>
            <a:endParaRPr lang="en-US" altLang="ko-KR" dirty="0"/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en-US" altLang="ko-KR" dirty="0"/>
              <a:t>Manual Process start</a:t>
            </a:r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en-US" altLang="ko-KR" dirty="0"/>
              <a:t>Image Acquisition </a:t>
            </a:r>
            <a:r>
              <a:rPr lang="ko-KR" altLang="en-US" dirty="0"/>
              <a:t>선택</a:t>
            </a:r>
            <a:endParaRPr lang="en-US" altLang="ko-KR" dirty="0"/>
          </a:p>
          <a:p>
            <a:pPr latinLnBrk="1">
              <a:spcAft>
                <a:spcPts val="800"/>
              </a:spcAft>
            </a:pPr>
            <a:endParaRPr lang="en-US" altLang="ko-KR" dirty="0"/>
          </a:p>
          <a:p>
            <a:pPr latinLnBrk="1">
              <a:spcAft>
                <a:spcPts val="800"/>
              </a:spcAft>
            </a:pPr>
            <a:r>
              <a:rPr lang="en-US" altLang="ko-KR" dirty="0"/>
              <a:t>2. Recipe </a:t>
            </a:r>
            <a:r>
              <a:rPr lang="ko-KR" altLang="en-US" dirty="0"/>
              <a:t>선택</a:t>
            </a:r>
            <a:endParaRPr lang="en-US" altLang="ko-KR" dirty="0"/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en-US" altLang="ko-KR" dirty="0"/>
              <a:t>WS Recipe </a:t>
            </a:r>
            <a:r>
              <a:rPr lang="ko-KR" altLang="en-US" dirty="0"/>
              <a:t>선택 </a:t>
            </a:r>
            <a:br>
              <a:rPr lang="en-US" altLang="ko-KR" dirty="0"/>
            </a:br>
            <a:r>
              <a:rPr lang="en-US" altLang="ko-KR" dirty="0"/>
              <a:t>  → Recipe name </a:t>
            </a:r>
            <a:r>
              <a:rPr lang="ko-KR" altLang="en-US" dirty="0"/>
              <a:t>선택</a:t>
            </a:r>
            <a:r>
              <a:rPr lang="en-US" altLang="ko-KR" dirty="0"/>
              <a:t>(4.page </a:t>
            </a:r>
            <a:r>
              <a:rPr lang="ko-KR" altLang="en-US" dirty="0"/>
              <a:t>참고</a:t>
            </a:r>
            <a:r>
              <a:rPr lang="en-US" altLang="ko-KR" dirty="0"/>
              <a:t>)</a:t>
            </a:r>
          </a:p>
          <a:p>
            <a:pPr latinLnBrk="1">
              <a:spcAft>
                <a:spcPts val="800"/>
              </a:spcAft>
            </a:pPr>
            <a:endParaRPr lang="en-US" altLang="ko-KR" dirty="0"/>
          </a:p>
          <a:p>
            <a:pPr latinLnBrk="1">
              <a:spcAft>
                <a:spcPts val="800"/>
              </a:spcAft>
            </a:pPr>
            <a:r>
              <a:rPr lang="en-US" altLang="ko-KR" dirty="0"/>
              <a:t>3. Slot </a:t>
            </a:r>
            <a:r>
              <a:rPr lang="ko-KR" altLang="en-US" dirty="0"/>
              <a:t>설정</a:t>
            </a:r>
            <a:endParaRPr lang="en-US" altLang="ko-KR" dirty="0"/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ko-KR" altLang="en-US" dirty="0"/>
              <a:t>검사 </a:t>
            </a:r>
            <a:r>
              <a:rPr lang="en-US" altLang="ko-KR" dirty="0"/>
              <a:t>Slot </a:t>
            </a:r>
            <a:r>
              <a:rPr lang="ko-KR" altLang="en-US" dirty="0"/>
              <a:t>선택</a:t>
            </a:r>
            <a:endParaRPr lang="en-US" altLang="ko-KR" dirty="0"/>
          </a:p>
          <a:p>
            <a:pPr latinLnBrk="1">
              <a:spcAft>
                <a:spcPts val="800"/>
              </a:spcAft>
            </a:pPr>
            <a:endParaRPr lang="en-US" altLang="ko-KR" dirty="0"/>
          </a:p>
          <a:p>
            <a:pPr latinLnBrk="1">
              <a:spcAft>
                <a:spcPts val="800"/>
              </a:spcAft>
            </a:pPr>
            <a:r>
              <a:rPr lang="en-US" altLang="ko-KR" dirty="0"/>
              <a:t>4. </a:t>
            </a:r>
            <a:r>
              <a:rPr lang="ko-KR" altLang="en-US" dirty="0"/>
              <a:t>실행</a:t>
            </a:r>
            <a:endParaRPr lang="en-US" altLang="ko-KR" dirty="0"/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en-US" altLang="ko-KR" dirty="0"/>
              <a:t>Re-use Carrier </a:t>
            </a:r>
            <a:r>
              <a:rPr lang="ko-KR" altLang="en-US" dirty="0"/>
              <a:t>선택</a:t>
            </a:r>
            <a:r>
              <a:rPr lang="en-US" altLang="ko-KR" dirty="0"/>
              <a:t>(</a:t>
            </a:r>
            <a:r>
              <a:rPr lang="ko-KR" altLang="en-US" dirty="0"/>
              <a:t>새로운 </a:t>
            </a:r>
            <a:r>
              <a:rPr lang="en-US" altLang="ko-KR" dirty="0"/>
              <a:t>FOUP</a:t>
            </a:r>
            <a:r>
              <a:rPr lang="ko-KR" altLang="en-US" dirty="0"/>
              <a:t>인 경우 생략</a:t>
            </a:r>
            <a:r>
              <a:rPr lang="en-US" altLang="ko-KR" dirty="0"/>
              <a:t>)</a:t>
            </a:r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en-US" altLang="ko-KR" dirty="0"/>
              <a:t>Start </a:t>
            </a:r>
            <a:r>
              <a:rPr lang="ko-KR" altLang="en-US" dirty="0"/>
              <a:t>클릭</a:t>
            </a:r>
            <a:endParaRPr lang="ko-KR" altLang="ko-KR" kern="100" dirty="0"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0E9908E3-EB59-B012-D65D-25D4A1DA91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183" y="1252911"/>
            <a:ext cx="5833407" cy="327996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5623CAF-2B09-52F6-7C3C-DD8FF7C4AD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70"/>
          <a:stretch>
            <a:fillRect/>
          </a:stretch>
        </p:blipFill>
        <p:spPr>
          <a:xfrm>
            <a:off x="280183" y="2240280"/>
            <a:ext cx="5833407" cy="3031155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8E744BB9-3AF0-6739-7D30-BEDA8FBA7EFA}"/>
              </a:ext>
            </a:extLst>
          </p:cNvPr>
          <p:cNvSpPr/>
          <p:nvPr/>
        </p:nvSpPr>
        <p:spPr>
          <a:xfrm>
            <a:off x="623084" y="1724657"/>
            <a:ext cx="281940" cy="2453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" name="연결선: 꺾임 4">
            <a:extLst>
              <a:ext uri="{FF2B5EF4-FFF2-40B4-BE49-F238E27FC236}">
                <a16:creationId xmlns:a16="http://schemas.microsoft.com/office/drawing/2014/main" id="{6FCA8789-11DF-9675-A935-CA87B17F7608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905024" y="1457958"/>
            <a:ext cx="5208566" cy="389399"/>
          </a:xfrm>
          <a:prstGeom prst="bentConnector3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63BA47B3-13F8-CD12-6CF3-9C1B5948863E}"/>
              </a:ext>
            </a:extLst>
          </p:cNvPr>
          <p:cNvSpPr/>
          <p:nvPr/>
        </p:nvSpPr>
        <p:spPr>
          <a:xfrm>
            <a:off x="1369451" y="3286512"/>
            <a:ext cx="551180" cy="14248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18D2092-66F5-FA9A-9BCD-B60543F4D4F2}"/>
              </a:ext>
            </a:extLst>
          </p:cNvPr>
          <p:cNvSpPr/>
          <p:nvPr/>
        </p:nvSpPr>
        <p:spPr>
          <a:xfrm>
            <a:off x="623084" y="3608546"/>
            <a:ext cx="2430780" cy="16764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0145E7F0-3DB8-B21E-2A2E-AC96AE727718}"/>
              </a:ext>
            </a:extLst>
          </p:cNvPr>
          <p:cNvCxnSpPr>
            <a:cxnSpLocks/>
          </p:cNvCxnSpPr>
          <p:nvPr/>
        </p:nvCxnSpPr>
        <p:spPr>
          <a:xfrm flipV="1">
            <a:off x="3062660" y="4318390"/>
            <a:ext cx="3047999" cy="952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F0D581-7851-141B-548F-5B533CDA0BEC}"/>
              </a:ext>
            </a:extLst>
          </p:cNvPr>
          <p:cNvSpPr/>
          <p:nvPr/>
        </p:nvSpPr>
        <p:spPr>
          <a:xfrm>
            <a:off x="623084" y="1970056"/>
            <a:ext cx="878056" cy="1200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962123D6-7C39-BAA9-DFC9-1E29B16A2074}"/>
              </a:ext>
            </a:extLst>
          </p:cNvPr>
          <p:cNvCxnSpPr>
            <a:cxnSpLocks/>
            <a:stCxn id="7" idx="0"/>
          </p:cNvCxnSpPr>
          <p:nvPr/>
        </p:nvCxnSpPr>
        <p:spPr>
          <a:xfrm rot="5400000" flipH="1" flipV="1">
            <a:off x="3455701" y="359886"/>
            <a:ext cx="1115967" cy="4737286"/>
          </a:xfrm>
          <a:prstGeom prst="bent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5312E631-BE40-B9E6-7D12-B962C0C4D354}"/>
              </a:ext>
            </a:extLst>
          </p:cNvPr>
          <p:cNvCxnSpPr>
            <a:cxnSpLocks/>
          </p:cNvCxnSpPr>
          <p:nvPr/>
        </p:nvCxnSpPr>
        <p:spPr>
          <a:xfrm flipV="1">
            <a:off x="3062660" y="2900099"/>
            <a:ext cx="3050930" cy="611451"/>
          </a:xfrm>
          <a:prstGeom prst="bentConnector3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6D8C426-6553-6056-AC07-A0694218A3A2}"/>
              </a:ext>
            </a:extLst>
          </p:cNvPr>
          <p:cNvSpPr/>
          <p:nvPr/>
        </p:nvSpPr>
        <p:spPr>
          <a:xfrm>
            <a:off x="342414" y="5356860"/>
            <a:ext cx="1707366" cy="14814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자유형: 도형 46">
            <a:extLst>
              <a:ext uri="{FF2B5EF4-FFF2-40B4-BE49-F238E27FC236}">
                <a16:creationId xmlns:a16="http://schemas.microsoft.com/office/drawing/2014/main" id="{40D86947-FBBE-07A6-BDDA-8E26BBB235FB}"/>
              </a:ext>
            </a:extLst>
          </p:cNvPr>
          <p:cNvSpPr/>
          <p:nvPr/>
        </p:nvSpPr>
        <p:spPr>
          <a:xfrm>
            <a:off x="376238" y="3301754"/>
            <a:ext cx="2677625" cy="254494"/>
          </a:xfrm>
          <a:custGeom>
            <a:avLst/>
            <a:gdLst>
              <a:gd name="csX0" fmla="*/ 0 w 2677625"/>
              <a:gd name="csY0" fmla="*/ 0 h 254494"/>
              <a:gd name="csX1" fmla="*/ 264392 w 2677625"/>
              <a:gd name="csY1" fmla="*/ 0 h 254494"/>
              <a:gd name="csX2" fmla="*/ 264392 w 2677625"/>
              <a:gd name="csY2" fmla="*/ 137848 h 254494"/>
              <a:gd name="csX3" fmla="*/ 2677625 w 2677625"/>
              <a:gd name="csY3" fmla="*/ 137848 h 254494"/>
              <a:gd name="csX4" fmla="*/ 2677625 w 2677625"/>
              <a:gd name="csY4" fmla="*/ 254494 h 254494"/>
              <a:gd name="csX5" fmla="*/ 264392 w 2677625"/>
              <a:gd name="csY5" fmla="*/ 254494 h 254494"/>
              <a:gd name="csX6" fmla="*/ 0 w 2677625"/>
              <a:gd name="csY6" fmla="*/ 254494 h 2544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677625" h="254494">
                <a:moveTo>
                  <a:pt x="0" y="0"/>
                </a:moveTo>
                <a:lnTo>
                  <a:pt x="264392" y="0"/>
                </a:lnTo>
                <a:lnTo>
                  <a:pt x="264392" y="137848"/>
                </a:lnTo>
                <a:lnTo>
                  <a:pt x="2677625" y="137848"/>
                </a:lnTo>
                <a:lnTo>
                  <a:pt x="2677625" y="254494"/>
                </a:lnTo>
                <a:lnTo>
                  <a:pt x="264392" y="254494"/>
                </a:lnTo>
                <a:lnTo>
                  <a:pt x="0" y="254494"/>
                </a:lnTo>
                <a:close/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E665092F-445D-EF43-64EC-6876CDC79B45}"/>
              </a:ext>
            </a:extLst>
          </p:cNvPr>
          <p:cNvCxnSpPr>
            <a:cxnSpLocks/>
            <a:endCxn id="32" idx="3"/>
          </p:cNvCxnSpPr>
          <p:nvPr/>
        </p:nvCxnSpPr>
        <p:spPr>
          <a:xfrm>
            <a:off x="2035121" y="5431109"/>
            <a:ext cx="4078467" cy="1638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89951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61237-13D6-8F51-A96F-81086782C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9695C1-1583-9613-3A69-F8B8B0963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228600"/>
            <a:ext cx="11658600" cy="1005840"/>
          </a:xfrm>
        </p:spPr>
        <p:txBody>
          <a:bodyPr>
            <a:normAutofit/>
          </a:bodyPr>
          <a:lstStyle/>
          <a:p>
            <a:r>
              <a:rPr lang="en-US" altLang="ko-KR" dirty="0"/>
              <a:t>2. Recipe Step : 3. Image Acquisition </a:t>
            </a:r>
            <a:r>
              <a:rPr lang="ko-KR" altLang="en-US" dirty="0"/>
              <a:t>진행 확인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7D66B0-4849-28BB-4587-3AB0ECC0AF05}"/>
              </a:ext>
            </a:extLst>
          </p:cNvPr>
          <p:cNvSpPr txBox="1"/>
          <p:nvPr/>
        </p:nvSpPr>
        <p:spPr>
          <a:xfrm>
            <a:off x="6096000" y="1234440"/>
            <a:ext cx="60960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latinLnBrk="1">
              <a:spcAft>
                <a:spcPts val="800"/>
              </a:spcAft>
              <a:buAutoNum type="arabicPeriod"/>
            </a:pPr>
            <a:r>
              <a:rPr lang="en-US" altLang="ko-KR" dirty="0"/>
              <a:t>Analyzer </a:t>
            </a:r>
            <a:r>
              <a:rPr lang="ko-KR" altLang="en-US" dirty="0"/>
              <a:t>확인</a:t>
            </a:r>
            <a:endParaRPr lang="en-US" altLang="ko-KR" dirty="0"/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en-US" altLang="ko-KR" dirty="0"/>
              <a:t>X-ray </a:t>
            </a:r>
            <a:r>
              <a:rPr lang="ko-KR" altLang="en-US" dirty="0"/>
              <a:t>이미지 생성 확인</a:t>
            </a:r>
            <a:endParaRPr lang="en-US" altLang="ko-KR" dirty="0"/>
          </a:p>
          <a:p>
            <a:pPr latinLnBrk="1">
              <a:spcAft>
                <a:spcPts val="800"/>
              </a:spcAft>
            </a:pPr>
            <a:endParaRPr lang="en-US" altLang="ko-KR" dirty="0"/>
          </a:p>
          <a:p>
            <a:pPr latinLnBrk="1">
              <a:spcAft>
                <a:spcPts val="800"/>
              </a:spcAft>
            </a:pPr>
            <a:r>
              <a:rPr lang="en-US" altLang="ko-KR" dirty="0"/>
              <a:t>2. Camera </a:t>
            </a:r>
            <a:r>
              <a:rPr lang="ko-KR" altLang="en-US" dirty="0"/>
              <a:t>확인</a:t>
            </a:r>
            <a:endParaRPr lang="en-US" altLang="ko-KR" dirty="0"/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en-US" altLang="ko-KR" dirty="0"/>
              <a:t>Wafer </a:t>
            </a:r>
            <a:r>
              <a:rPr lang="ko-KR" altLang="en-US" dirty="0"/>
              <a:t>위치 및 이동 확인</a:t>
            </a:r>
            <a:endParaRPr lang="en-US" altLang="ko-KR" dirty="0"/>
          </a:p>
          <a:p>
            <a:pPr latinLnBrk="1">
              <a:spcAft>
                <a:spcPts val="800"/>
              </a:spcAft>
            </a:pPr>
            <a:endParaRPr lang="en-US" altLang="ko-KR" dirty="0"/>
          </a:p>
          <a:p>
            <a:pPr latinLnBrk="1">
              <a:spcAft>
                <a:spcPts val="800"/>
              </a:spcAft>
            </a:pPr>
            <a:r>
              <a:rPr lang="en-US" altLang="ko-KR" dirty="0"/>
              <a:t>3. </a:t>
            </a:r>
            <a:r>
              <a:rPr lang="ko-KR" altLang="en-US" dirty="0"/>
              <a:t>완료 대기</a:t>
            </a:r>
            <a:endParaRPr lang="en-US" altLang="ko-KR" dirty="0"/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en-US" altLang="ko-KR" dirty="0"/>
              <a:t>Image Acquisition </a:t>
            </a:r>
            <a:r>
              <a:rPr lang="ko-KR" altLang="en-US" dirty="0"/>
              <a:t>완료까지 대기 </a:t>
            </a:r>
            <a:r>
              <a:rPr lang="en-US" altLang="ko-KR" dirty="0"/>
              <a:t>(</a:t>
            </a:r>
            <a:r>
              <a:rPr lang="ko-KR" altLang="en-US" dirty="0"/>
              <a:t>대략</a:t>
            </a:r>
            <a:r>
              <a:rPr lang="en-US" altLang="ko-KR" dirty="0"/>
              <a:t> 30</a:t>
            </a:r>
            <a:r>
              <a:rPr lang="ko-KR" altLang="en-US" dirty="0"/>
              <a:t>분 소요</a:t>
            </a:r>
            <a:r>
              <a:rPr lang="en-US" altLang="ko-KR" dirty="0"/>
              <a:t>)</a:t>
            </a:r>
          </a:p>
          <a:p>
            <a:pPr marL="342900" indent="-342900" latinLnBrk="1">
              <a:spcAft>
                <a:spcPts val="800"/>
              </a:spcAft>
              <a:buFont typeface="+mj-lt"/>
              <a:buAutoNum type="arabicParenR"/>
            </a:pPr>
            <a:endParaRPr lang="en-US" altLang="ko-KR" dirty="0"/>
          </a:p>
          <a:p>
            <a:pPr latinLnBrk="1">
              <a:spcAft>
                <a:spcPts val="800"/>
              </a:spcAft>
            </a:pPr>
            <a:r>
              <a:rPr lang="en-US" altLang="ko-KR" dirty="0"/>
              <a:t>* </a:t>
            </a:r>
            <a:r>
              <a:rPr lang="ko-KR" altLang="en-US" dirty="0"/>
              <a:t>진행이 완료되면 </a:t>
            </a:r>
            <a:r>
              <a:rPr lang="en-US" altLang="ko-KR" dirty="0"/>
              <a:t>x-ray lamp</a:t>
            </a:r>
            <a:r>
              <a:rPr lang="ko-KR" altLang="en-US" dirty="0"/>
              <a:t>가 꺼짐</a:t>
            </a:r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1E97B97-EDDF-D2F0-3C8B-96461B3EDD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19" y="1234438"/>
            <a:ext cx="5829634" cy="3154682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644E5CED-A47F-4658-FB9D-99D607AA9BD7}"/>
              </a:ext>
            </a:extLst>
          </p:cNvPr>
          <p:cNvSpPr/>
          <p:nvPr/>
        </p:nvSpPr>
        <p:spPr>
          <a:xfrm>
            <a:off x="438150" y="2139950"/>
            <a:ext cx="3213100" cy="21780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165C434-C95F-923A-32B3-43BAF80FA5FF}"/>
              </a:ext>
            </a:extLst>
          </p:cNvPr>
          <p:cNvSpPr/>
          <p:nvPr/>
        </p:nvSpPr>
        <p:spPr>
          <a:xfrm>
            <a:off x="3651250" y="2571750"/>
            <a:ext cx="2444750" cy="181737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연결선: 꺾임 5">
            <a:extLst>
              <a:ext uri="{FF2B5EF4-FFF2-40B4-BE49-F238E27FC236}">
                <a16:creationId xmlns:a16="http://schemas.microsoft.com/office/drawing/2014/main" id="{F5426733-64CC-734C-B15A-D341A9C4DAA1}"/>
              </a:ext>
            </a:extLst>
          </p:cNvPr>
          <p:cNvCxnSpPr>
            <a:stCxn id="3" idx="0"/>
          </p:cNvCxnSpPr>
          <p:nvPr/>
        </p:nvCxnSpPr>
        <p:spPr>
          <a:xfrm rot="5400000" flipH="1" flipV="1">
            <a:off x="3711575" y="-244475"/>
            <a:ext cx="717550" cy="4051300"/>
          </a:xfrm>
          <a:prstGeom prst="bent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568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A3646-9F58-FBFC-43AE-FCED30857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851B23-E991-C9C8-4D40-4FF129B42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228600"/>
            <a:ext cx="11658600" cy="1005840"/>
          </a:xfrm>
        </p:spPr>
        <p:txBody>
          <a:bodyPr>
            <a:normAutofit/>
          </a:bodyPr>
          <a:lstStyle/>
          <a:p>
            <a:r>
              <a:rPr lang="en-US" altLang="ko-KR" dirty="0"/>
              <a:t>2. Recipe Step : 4. WS Data Load (Load </a:t>
            </a:r>
            <a:r>
              <a:rPr lang="ko-KR" altLang="en-US" dirty="0"/>
              <a:t>화면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2E7962-F609-972F-33F2-6142858EF024}"/>
              </a:ext>
            </a:extLst>
          </p:cNvPr>
          <p:cNvSpPr txBox="1"/>
          <p:nvPr/>
        </p:nvSpPr>
        <p:spPr>
          <a:xfrm>
            <a:off x="6096000" y="1234440"/>
            <a:ext cx="6096000" cy="2441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spcAft>
                <a:spcPts val="800"/>
              </a:spcAft>
            </a:pPr>
            <a:r>
              <a:rPr lang="en-US" altLang="ko-KR" dirty="0"/>
              <a:t>1. Load </a:t>
            </a:r>
            <a:r>
              <a:rPr lang="ko-KR" altLang="en-US" dirty="0"/>
              <a:t>메뉴 선택</a:t>
            </a:r>
            <a:endParaRPr lang="en-US" altLang="ko-KR" dirty="0"/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en-US" altLang="ko-KR" dirty="0"/>
              <a:t>Recipe name </a:t>
            </a:r>
            <a:r>
              <a:rPr lang="ko-KR" altLang="en-US" dirty="0"/>
              <a:t>하위 항목인 </a:t>
            </a:r>
            <a:r>
              <a:rPr lang="en-US" altLang="ko-KR" dirty="0"/>
              <a:t>Recipe </a:t>
            </a:r>
            <a:r>
              <a:rPr lang="en-US" altLang="ko-KR" dirty="0" err="1"/>
              <a:t>name_Base</a:t>
            </a:r>
            <a:r>
              <a:rPr lang="en-US" altLang="ko-KR" dirty="0"/>
              <a:t> </a:t>
            </a:r>
            <a:br>
              <a:rPr lang="en-US" altLang="ko-KR" dirty="0"/>
            </a:br>
            <a:r>
              <a:rPr lang="ko-KR" altLang="en-US" dirty="0"/>
              <a:t>선택</a:t>
            </a:r>
            <a:endParaRPr lang="en-US" altLang="ko-KR" dirty="0"/>
          </a:p>
          <a:p>
            <a:pPr latinLnBrk="1">
              <a:spcAft>
                <a:spcPts val="800"/>
              </a:spcAft>
            </a:pPr>
            <a:endParaRPr lang="en-US" altLang="ko-KR" dirty="0"/>
          </a:p>
          <a:p>
            <a:pPr latinLnBrk="1">
              <a:spcAft>
                <a:spcPts val="800"/>
              </a:spcAft>
            </a:pPr>
            <a:r>
              <a:rPr lang="en-US" altLang="ko-KR" dirty="0"/>
              <a:t>2. Ok</a:t>
            </a:r>
            <a:r>
              <a:rPr lang="ko-KR" altLang="en-US" dirty="0"/>
              <a:t> 클릭</a:t>
            </a:r>
            <a:endParaRPr lang="en-US" altLang="ko-KR" dirty="0"/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ko-KR" altLang="en-US" dirty="0"/>
              <a:t>우측 상단에 </a:t>
            </a:r>
            <a:r>
              <a:rPr lang="en-US" altLang="ko-KR" dirty="0"/>
              <a:t>Recipe </a:t>
            </a:r>
            <a:r>
              <a:rPr lang="en-US" altLang="ko-KR" dirty="0" err="1"/>
              <a:t>name_Base</a:t>
            </a:r>
            <a:r>
              <a:rPr lang="ko-KR" altLang="en-US" dirty="0"/>
              <a:t>로 바뀌었는지</a:t>
            </a:r>
            <a:br>
              <a:rPr lang="en-US" altLang="ko-KR" dirty="0"/>
            </a:br>
            <a:r>
              <a:rPr lang="ko-KR" altLang="en-US" dirty="0"/>
              <a:t>확인</a:t>
            </a:r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5763396-6551-E2CE-B846-77E1D1FB27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80" y="1238743"/>
            <a:ext cx="5821679" cy="3150377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8E21A30F-6F38-E486-2DA0-5ECDFE7E7F1E}"/>
              </a:ext>
            </a:extLst>
          </p:cNvPr>
          <p:cNvSpPr/>
          <p:nvPr/>
        </p:nvSpPr>
        <p:spPr>
          <a:xfrm>
            <a:off x="259080" y="1772145"/>
            <a:ext cx="952501" cy="32766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643F1C-E902-D0C8-E21E-224C42DBC704}"/>
              </a:ext>
            </a:extLst>
          </p:cNvPr>
          <p:cNvSpPr txBox="1"/>
          <p:nvPr/>
        </p:nvSpPr>
        <p:spPr>
          <a:xfrm>
            <a:off x="403861" y="2479316"/>
            <a:ext cx="34137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스캔 완료 시 </a:t>
            </a:r>
            <a:r>
              <a:rPr lang="en-US" altLang="ko-KR" sz="1400" dirty="0"/>
              <a:t>Recipe </a:t>
            </a:r>
            <a:r>
              <a:rPr lang="en-US" altLang="ko-KR" sz="1400" dirty="0" err="1"/>
              <a:t>name_Base</a:t>
            </a:r>
            <a:r>
              <a:rPr lang="ko-KR" altLang="en-US" sz="1400" dirty="0"/>
              <a:t>로 </a:t>
            </a:r>
            <a:endParaRPr lang="en-US" altLang="ko-KR" sz="1400" dirty="0"/>
          </a:p>
          <a:p>
            <a:r>
              <a:rPr lang="ko-KR" altLang="en-US" sz="1400" dirty="0"/>
              <a:t>목록 생성 </a:t>
            </a: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13BA5227-68B2-8897-DC23-E7324603A261}"/>
              </a:ext>
            </a:extLst>
          </p:cNvPr>
          <p:cNvCxnSpPr>
            <a:stCxn id="3" idx="2"/>
          </p:cNvCxnSpPr>
          <p:nvPr/>
        </p:nvCxnSpPr>
        <p:spPr>
          <a:xfrm flipH="1">
            <a:off x="735330" y="2099805"/>
            <a:ext cx="1" cy="33528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07B95ED1-7CD7-62B0-B88F-4DC6DEF56625}"/>
              </a:ext>
            </a:extLst>
          </p:cNvPr>
          <p:cNvSpPr/>
          <p:nvPr/>
        </p:nvSpPr>
        <p:spPr>
          <a:xfrm>
            <a:off x="335281" y="4012425"/>
            <a:ext cx="2796540" cy="2209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DE64FD8-674F-AD2F-A751-5E83E6502B79}"/>
              </a:ext>
            </a:extLst>
          </p:cNvPr>
          <p:cNvSpPr/>
          <p:nvPr/>
        </p:nvSpPr>
        <p:spPr>
          <a:xfrm>
            <a:off x="4610101" y="1505445"/>
            <a:ext cx="1409700" cy="1066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BE42D608-EE9A-F326-3BB0-C64165262B71}"/>
              </a:ext>
            </a:extLst>
          </p:cNvPr>
          <p:cNvCxnSpPr>
            <a:cxnSpLocks/>
          </p:cNvCxnSpPr>
          <p:nvPr/>
        </p:nvCxnSpPr>
        <p:spPr>
          <a:xfrm flipV="1">
            <a:off x="1291591" y="2558473"/>
            <a:ext cx="4789168" cy="1453952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AD15F628-4315-5A11-010E-705F2425C842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5314951" y="1612125"/>
            <a:ext cx="0" cy="946348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25C5954B-5500-8FFD-FC5B-FE087DD474EB}"/>
              </a:ext>
            </a:extLst>
          </p:cNvPr>
          <p:cNvSpPr/>
          <p:nvPr/>
        </p:nvSpPr>
        <p:spPr>
          <a:xfrm>
            <a:off x="1016000" y="1469427"/>
            <a:ext cx="443345" cy="14269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18528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793C9-8965-8593-B09D-EDBA80CEE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B71881-D264-7F2C-755A-8D771ADEB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228600"/>
            <a:ext cx="11658600" cy="1005840"/>
          </a:xfrm>
        </p:spPr>
        <p:txBody>
          <a:bodyPr>
            <a:normAutofit/>
          </a:bodyPr>
          <a:lstStyle/>
          <a:p>
            <a:r>
              <a:rPr lang="en-US" altLang="ko-KR" dirty="0"/>
              <a:t>2. Recipe Step : 5. Wafer CAD – Load Images 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003D78-F6BB-239A-D435-E226963D17D6}"/>
              </a:ext>
            </a:extLst>
          </p:cNvPr>
          <p:cNvSpPr txBox="1"/>
          <p:nvPr/>
        </p:nvSpPr>
        <p:spPr>
          <a:xfrm>
            <a:off x="6096000" y="1234440"/>
            <a:ext cx="6096000" cy="226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spcAft>
                <a:spcPts val="800"/>
              </a:spcAft>
            </a:pPr>
            <a:r>
              <a:rPr lang="en-US" altLang="ko-KR" dirty="0"/>
              <a:t>1. Wafer CAD </a:t>
            </a:r>
            <a:r>
              <a:rPr lang="ko-KR" altLang="en-US" dirty="0"/>
              <a:t>선택</a:t>
            </a:r>
            <a:endParaRPr lang="en-US" altLang="ko-KR" dirty="0"/>
          </a:p>
          <a:p>
            <a:pPr latinLnBrk="1">
              <a:spcAft>
                <a:spcPts val="800"/>
              </a:spcAft>
            </a:pPr>
            <a:endParaRPr lang="en-US" altLang="ko-KR" dirty="0"/>
          </a:p>
          <a:p>
            <a:pPr latinLnBrk="1">
              <a:spcAft>
                <a:spcPts val="800"/>
              </a:spcAft>
            </a:pPr>
            <a:r>
              <a:rPr lang="en-US" altLang="ko-KR" dirty="0"/>
              <a:t>2. </a:t>
            </a:r>
            <a:r>
              <a:rPr lang="ko-KR" altLang="en-US" dirty="0"/>
              <a:t>이미지 선택</a:t>
            </a:r>
            <a:endParaRPr lang="en-US" altLang="ko-KR" dirty="0"/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en-US" altLang="ko-KR" dirty="0"/>
              <a:t>3</a:t>
            </a:r>
            <a:r>
              <a:rPr lang="ko-KR" altLang="en-US" dirty="0"/>
              <a:t>개 </a:t>
            </a:r>
            <a:r>
              <a:rPr lang="en-US" altLang="ko-KR" dirty="0"/>
              <a:t>Step </a:t>
            </a:r>
            <a:r>
              <a:rPr lang="ko-KR" altLang="en-US" dirty="0"/>
              <a:t>체크</a:t>
            </a:r>
            <a:endParaRPr lang="en-US" altLang="ko-KR" dirty="0"/>
          </a:p>
          <a:p>
            <a:pPr latinLnBrk="1">
              <a:spcAft>
                <a:spcPts val="800"/>
              </a:spcAft>
            </a:pPr>
            <a:endParaRPr lang="en-US" altLang="ko-KR" dirty="0"/>
          </a:p>
          <a:p>
            <a:pPr latinLnBrk="1">
              <a:spcAft>
                <a:spcPts val="800"/>
              </a:spcAft>
            </a:pPr>
            <a:r>
              <a:rPr lang="en-US" altLang="ko-KR" dirty="0"/>
              <a:t>3. Load Images </a:t>
            </a:r>
            <a:r>
              <a:rPr lang="ko-KR" altLang="en-US" dirty="0"/>
              <a:t>클릭</a:t>
            </a:r>
            <a:endParaRPr lang="ko-KR" altLang="ko-KR" kern="100" dirty="0"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FE7B8FA-9355-99D9-C1ED-BA795686AC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19" y="1234439"/>
            <a:ext cx="5833405" cy="3159761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0B7A3E3D-E8E7-52ED-4E47-13DB074151FC}"/>
              </a:ext>
            </a:extLst>
          </p:cNvPr>
          <p:cNvSpPr/>
          <p:nvPr/>
        </p:nvSpPr>
        <p:spPr>
          <a:xfrm>
            <a:off x="2377440" y="1478280"/>
            <a:ext cx="480060" cy="1295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67FDE71-895A-80B5-8453-A751D76051B9}"/>
              </a:ext>
            </a:extLst>
          </p:cNvPr>
          <p:cNvSpPr/>
          <p:nvPr/>
        </p:nvSpPr>
        <p:spPr>
          <a:xfrm>
            <a:off x="5455920" y="1615440"/>
            <a:ext cx="651804" cy="51816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4477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33F59-19C3-9742-B607-36C33C009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66DD07-1AB2-5D3C-3380-A9DCBD138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228600"/>
            <a:ext cx="11658600" cy="1005840"/>
          </a:xfrm>
        </p:spPr>
        <p:txBody>
          <a:bodyPr>
            <a:normAutofit/>
          </a:bodyPr>
          <a:lstStyle/>
          <a:p>
            <a:r>
              <a:rPr lang="en-US" altLang="ko-KR" dirty="0"/>
              <a:t>2. Recipe Step : 6. Wafer CAD – Set Initial Die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9BA07C-11D5-125C-46CB-CC6507CB03DE}"/>
              </a:ext>
            </a:extLst>
          </p:cNvPr>
          <p:cNvSpPr txBox="1"/>
          <p:nvPr/>
        </p:nvSpPr>
        <p:spPr>
          <a:xfrm>
            <a:off x="6096000" y="1234440"/>
            <a:ext cx="6096000" cy="5550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spcAft>
                <a:spcPts val="800"/>
              </a:spcAft>
            </a:pPr>
            <a:r>
              <a:rPr lang="en-US" altLang="ko-KR" dirty="0"/>
              <a:t>1. </a:t>
            </a:r>
            <a:r>
              <a:rPr lang="en-US" altLang="ko-KR" dirty="0" err="1"/>
              <a:t>wsTopRight</a:t>
            </a:r>
            <a:r>
              <a:rPr lang="en-US" altLang="ko-KR" dirty="0"/>
              <a:t> </a:t>
            </a:r>
            <a:r>
              <a:rPr lang="ko-KR" altLang="en-US" dirty="0"/>
              <a:t>선택</a:t>
            </a:r>
            <a:endParaRPr lang="en-US" altLang="ko-KR" dirty="0"/>
          </a:p>
          <a:p>
            <a:pPr latinLnBrk="1">
              <a:spcAft>
                <a:spcPts val="800"/>
              </a:spcAft>
            </a:pPr>
            <a:endParaRPr lang="en-US" altLang="ko-KR" dirty="0"/>
          </a:p>
          <a:p>
            <a:pPr latinLnBrk="1">
              <a:spcAft>
                <a:spcPts val="800"/>
              </a:spcAft>
            </a:pPr>
            <a:r>
              <a:rPr lang="en-US" altLang="ko-KR" dirty="0"/>
              <a:t>2. Die </a:t>
            </a:r>
            <a:r>
              <a:rPr lang="ko-KR" altLang="en-US" dirty="0"/>
              <a:t>영역 드래그 설정</a:t>
            </a:r>
            <a:endParaRPr lang="en-US" altLang="ko-KR" dirty="0"/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en-US" altLang="ko-KR" dirty="0"/>
              <a:t>Set Initial Die</a:t>
            </a:r>
            <a:br>
              <a:rPr lang="en-US" altLang="ko-KR" dirty="0"/>
            </a:br>
            <a:r>
              <a:rPr lang="en-US" altLang="ko-KR" dirty="0"/>
              <a:t>→ Die </a:t>
            </a:r>
            <a:r>
              <a:rPr lang="ko-KR" altLang="en-US" dirty="0"/>
              <a:t>영역이 지정되고 </a:t>
            </a:r>
            <a:r>
              <a:rPr lang="en-US" altLang="ko-KR" dirty="0"/>
              <a:t>Die</a:t>
            </a:r>
            <a:r>
              <a:rPr lang="ko-KR" altLang="en-US" dirty="0"/>
              <a:t>별 번호가 표기됨</a:t>
            </a:r>
            <a:endParaRPr lang="en-US" altLang="ko-KR" dirty="0"/>
          </a:p>
          <a:p>
            <a:pPr latinLnBrk="1">
              <a:spcAft>
                <a:spcPts val="800"/>
              </a:spcAft>
            </a:pPr>
            <a:endParaRPr lang="en-US" altLang="ko-KR" dirty="0"/>
          </a:p>
          <a:p>
            <a:pPr latinLnBrk="1">
              <a:spcAft>
                <a:spcPts val="800"/>
              </a:spcAft>
            </a:pPr>
            <a:r>
              <a:rPr lang="en-US" altLang="ko-KR" dirty="0"/>
              <a:t>3. Die </a:t>
            </a:r>
            <a:r>
              <a:rPr lang="ko-KR" altLang="en-US" dirty="0"/>
              <a:t>위치</a:t>
            </a:r>
            <a:r>
              <a:rPr lang="en-US" altLang="ko-KR" dirty="0"/>
              <a:t> </a:t>
            </a:r>
            <a:r>
              <a:rPr lang="ko-KR" altLang="en-US" dirty="0"/>
              <a:t>조절</a:t>
            </a:r>
            <a:endParaRPr lang="en-US" altLang="ko-KR" dirty="0"/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en-US" altLang="ko-KR" dirty="0"/>
              <a:t>Pitch X &amp; Y, Rotation Degree </a:t>
            </a:r>
            <a:r>
              <a:rPr lang="ko-KR" altLang="en-US" dirty="0"/>
              <a:t>이용하여 파란색 영역에 </a:t>
            </a:r>
            <a:r>
              <a:rPr lang="en-US" altLang="ko-KR" dirty="0"/>
              <a:t>Die</a:t>
            </a:r>
            <a:r>
              <a:rPr lang="ko-KR" altLang="en-US" dirty="0"/>
              <a:t>가 위치하도록 조절</a:t>
            </a:r>
            <a:br>
              <a:rPr lang="en-US" altLang="ko-KR" dirty="0"/>
            </a:br>
            <a:endParaRPr lang="en-US" altLang="ko-KR" dirty="0"/>
          </a:p>
          <a:p>
            <a:pPr latinLnBrk="1">
              <a:spcAft>
                <a:spcPts val="800"/>
              </a:spcAft>
            </a:pPr>
            <a:r>
              <a:rPr lang="en-US" altLang="ko-KR" dirty="0"/>
              <a:t>4. Bottom Left, Bottom Right</a:t>
            </a:r>
            <a:r>
              <a:rPr lang="ko-KR" altLang="en-US" dirty="0"/>
              <a:t>에 대해서도 위치 조절</a:t>
            </a:r>
            <a:endParaRPr lang="en-US" altLang="ko-KR" dirty="0"/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en-US" altLang="ko-KR" dirty="0"/>
              <a:t>Top Right, Bottom Left, Bottom Right</a:t>
            </a:r>
            <a:r>
              <a:rPr lang="ko-KR" altLang="en-US" dirty="0"/>
              <a:t> 모든 구역에서</a:t>
            </a:r>
            <a:r>
              <a:rPr lang="en-US" altLang="ko-KR" dirty="0"/>
              <a:t> </a:t>
            </a:r>
            <a:r>
              <a:rPr lang="ko-KR" altLang="en-US" dirty="0"/>
              <a:t>반복 확인하여 모든 </a:t>
            </a:r>
            <a:r>
              <a:rPr lang="en-US" altLang="ko-KR" dirty="0"/>
              <a:t>Die</a:t>
            </a:r>
            <a:r>
              <a:rPr lang="ko-KR" altLang="en-US" dirty="0"/>
              <a:t>가 파란색 영역 안으로 </a:t>
            </a:r>
            <a:r>
              <a:rPr lang="ko-KR" altLang="en-US" dirty="0" err="1"/>
              <a:t>위치해야함</a:t>
            </a:r>
            <a:endParaRPr lang="ko-KR" altLang="ko-KR" dirty="0"/>
          </a:p>
          <a:p>
            <a:pPr latinLnBrk="1">
              <a:spcAft>
                <a:spcPts val="800"/>
              </a:spcAft>
            </a:pPr>
            <a:endParaRPr lang="en-US" altLang="ko-KR" dirty="0"/>
          </a:p>
          <a:p>
            <a:pPr latinLnBrk="1">
              <a:spcAft>
                <a:spcPts val="800"/>
              </a:spcAft>
            </a:pPr>
            <a:r>
              <a:rPr lang="en-US" altLang="ko-KR" dirty="0"/>
              <a:t>5. Create Grid </a:t>
            </a:r>
            <a:r>
              <a:rPr lang="ko-KR" altLang="en-US" dirty="0"/>
              <a:t>클릭</a:t>
            </a:r>
            <a:endParaRPr lang="ko-KR" altLang="ko-KR" kern="100" dirty="0"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0AF2B0F-7CFE-D1F0-6F26-9D99CE021E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" y="1234439"/>
            <a:ext cx="5194214" cy="2813532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A7CCB606-490A-AE25-8EFE-3FEEAFDA752B}"/>
              </a:ext>
            </a:extLst>
          </p:cNvPr>
          <p:cNvSpPr/>
          <p:nvPr/>
        </p:nvSpPr>
        <p:spPr>
          <a:xfrm>
            <a:off x="4890115" y="1669073"/>
            <a:ext cx="593936" cy="1365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D28B492-329B-137F-FAC1-D1AB1EB9E627}"/>
              </a:ext>
            </a:extLst>
          </p:cNvPr>
          <p:cNvSpPr/>
          <p:nvPr/>
        </p:nvSpPr>
        <p:spPr>
          <a:xfrm>
            <a:off x="3179670" y="2331721"/>
            <a:ext cx="1398680" cy="14147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AEEF3FF-A4B1-6FB7-B925-559383799364}"/>
              </a:ext>
            </a:extLst>
          </p:cNvPr>
          <p:cNvSpPr/>
          <p:nvPr/>
        </p:nvSpPr>
        <p:spPr>
          <a:xfrm>
            <a:off x="4890115" y="2171993"/>
            <a:ext cx="593936" cy="1365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52BA1F9-F07C-8578-A33D-12D2131114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816" y="4047971"/>
            <a:ext cx="5189222" cy="2813532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81AD2681-B15E-69C2-2810-A31F9D4C580D}"/>
              </a:ext>
            </a:extLst>
          </p:cNvPr>
          <p:cNvSpPr/>
          <p:nvPr/>
        </p:nvSpPr>
        <p:spPr>
          <a:xfrm>
            <a:off x="4890115" y="4414316"/>
            <a:ext cx="593936" cy="200914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연결선: 꺾임 10">
            <a:extLst>
              <a:ext uri="{FF2B5EF4-FFF2-40B4-BE49-F238E27FC236}">
                <a16:creationId xmlns:a16="http://schemas.microsoft.com/office/drawing/2014/main" id="{68833007-8189-D77F-4E25-8AAD5F933157}"/>
              </a:ext>
            </a:extLst>
          </p:cNvPr>
          <p:cNvCxnSpPr>
            <a:cxnSpLocks/>
            <a:stCxn id="9" idx="0"/>
          </p:cNvCxnSpPr>
          <p:nvPr/>
        </p:nvCxnSpPr>
        <p:spPr>
          <a:xfrm rot="5400000" flipH="1" flipV="1">
            <a:off x="5267801" y="3586118"/>
            <a:ext cx="747480" cy="908917"/>
          </a:xfrm>
          <a:prstGeom prst="bent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65760" y="6035040"/>
            <a:ext cx="11460480" cy="457200"/>
          </a:xfrm>
          <a:prstGeom prst="rect">
            <a:avLst/>
          </a:prstGeom>
          <a:solidFill>
            <a:srgbClr val="FFF2CC"/>
          </a:solidFill>
          <a:ln w="19050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00000"/>
                </a:solidFill>
                <a:latin typeface="맑은 고딕"/>
              </a:rPr>
              <a:t>★ Pitch/Rotation 조정 시 모든 구역(TopRight/BottomLeft/BottomRight)에서 die가 파란 영역 안에 있어야 매칭 안정</a:t>
            </a:r>
          </a:p>
        </p:txBody>
      </p:sp>
    </p:spTree>
    <p:extLst>
      <p:ext uri="{BB962C8B-B14F-4D97-AF65-F5344CB8AC3E}">
        <p14:creationId xmlns:p14="http://schemas.microsoft.com/office/powerpoint/2010/main" val="14503070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E9077-9CA7-FE24-374F-1CED97B88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C62329-C3FD-B930-C544-08A1847A9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228600"/>
            <a:ext cx="11658600" cy="1005840"/>
          </a:xfrm>
        </p:spPr>
        <p:txBody>
          <a:bodyPr>
            <a:normAutofit/>
          </a:bodyPr>
          <a:lstStyle/>
          <a:p>
            <a:r>
              <a:rPr lang="en-US" altLang="ko-KR" dirty="0"/>
              <a:t>2. Recipe Step : 7. Wafer CAD – Select Die (Wafer Map)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3772B3-779A-25DD-E33E-91D86769A84F}"/>
              </a:ext>
            </a:extLst>
          </p:cNvPr>
          <p:cNvSpPr txBox="1"/>
          <p:nvPr/>
        </p:nvSpPr>
        <p:spPr>
          <a:xfrm>
            <a:off x="6096000" y="1234440"/>
            <a:ext cx="6096000" cy="3026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spcAft>
                <a:spcPts val="800"/>
              </a:spcAft>
            </a:pPr>
            <a:r>
              <a:rPr lang="en-US" altLang="ko-KR" dirty="0"/>
              <a:t>1. Deselect All </a:t>
            </a:r>
            <a:r>
              <a:rPr lang="ko-KR" altLang="en-US" dirty="0"/>
              <a:t>클릭 </a:t>
            </a:r>
            <a:endParaRPr lang="en-US" altLang="ko-KR" dirty="0"/>
          </a:p>
          <a:p>
            <a:pPr latinLnBrk="1">
              <a:spcAft>
                <a:spcPts val="800"/>
              </a:spcAft>
            </a:pPr>
            <a:endParaRPr lang="en-US" altLang="ko-KR" dirty="0"/>
          </a:p>
          <a:p>
            <a:pPr latinLnBrk="1">
              <a:spcAft>
                <a:spcPts val="800"/>
              </a:spcAft>
            </a:pPr>
            <a:r>
              <a:rPr lang="en-US" altLang="ko-KR" dirty="0"/>
              <a:t>2. </a:t>
            </a:r>
            <a:r>
              <a:rPr lang="ko-KR" altLang="en-US" dirty="0"/>
              <a:t>검사 </a:t>
            </a:r>
            <a:r>
              <a:rPr lang="en-US" altLang="ko-KR" dirty="0"/>
              <a:t>Die </a:t>
            </a:r>
            <a:r>
              <a:rPr lang="ko-KR" altLang="en-US" dirty="0"/>
              <a:t>선택 </a:t>
            </a:r>
            <a:r>
              <a:rPr lang="en-US" altLang="ko-KR" dirty="0"/>
              <a:t>(</a:t>
            </a:r>
            <a:r>
              <a:rPr lang="ko-KR" altLang="en-US" dirty="0"/>
              <a:t>스크롤로 전체 </a:t>
            </a:r>
            <a:r>
              <a:rPr lang="en-US" altLang="ko-KR" dirty="0"/>
              <a:t>wafer</a:t>
            </a:r>
            <a:r>
              <a:rPr lang="ko-KR" altLang="en-US" dirty="0"/>
              <a:t> </a:t>
            </a:r>
            <a:r>
              <a:rPr lang="en-US" altLang="ko-KR" dirty="0"/>
              <a:t>map</a:t>
            </a:r>
            <a:r>
              <a:rPr lang="ko-KR" altLang="en-US" dirty="0"/>
              <a:t> 축소</a:t>
            </a:r>
            <a:r>
              <a:rPr lang="en-US" altLang="ko-KR" dirty="0"/>
              <a:t>)</a:t>
            </a:r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en-US" altLang="ko-KR" dirty="0"/>
              <a:t>ex. </a:t>
            </a:r>
            <a:r>
              <a:rPr lang="ko-KR" altLang="en-US" dirty="0"/>
              <a:t>십자 형태 </a:t>
            </a:r>
            <a:r>
              <a:rPr lang="en-US" altLang="ko-KR" dirty="0"/>
              <a:t>5</a:t>
            </a:r>
            <a:r>
              <a:rPr lang="ko-KR" altLang="en-US" dirty="0"/>
              <a:t>개</a:t>
            </a:r>
            <a:endParaRPr lang="en-US" altLang="ko-KR" dirty="0"/>
          </a:p>
          <a:p>
            <a:pPr latinLnBrk="1">
              <a:spcAft>
                <a:spcPts val="800"/>
              </a:spcAft>
            </a:pPr>
            <a:endParaRPr lang="en-US" altLang="ko-KR" dirty="0"/>
          </a:p>
          <a:p>
            <a:pPr latinLnBrk="1">
              <a:spcAft>
                <a:spcPts val="800"/>
              </a:spcAft>
            </a:pPr>
            <a:r>
              <a:rPr lang="en-US" altLang="ko-KR" dirty="0"/>
              <a:t>3. </a:t>
            </a:r>
            <a:r>
              <a:rPr lang="ko-KR" altLang="en-US" dirty="0"/>
              <a:t>선택 상태 확인 </a:t>
            </a:r>
            <a:endParaRPr lang="en-US" altLang="ko-KR" dirty="0"/>
          </a:p>
          <a:p>
            <a:pPr latinLnBrk="1">
              <a:spcAft>
                <a:spcPts val="800"/>
              </a:spcAft>
            </a:pPr>
            <a:endParaRPr lang="en-US" altLang="ko-KR" dirty="0"/>
          </a:p>
          <a:p>
            <a:pPr latinLnBrk="1">
              <a:spcAft>
                <a:spcPts val="800"/>
              </a:spcAft>
            </a:pPr>
            <a:r>
              <a:rPr lang="ko-KR" altLang="en-US" dirty="0"/>
              <a:t>→ 하얀색으로 선택된 </a:t>
            </a:r>
            <a:r>
              <a:rPr lang="en-US" altLang="ko-KR" dirty="0"/>
              <a:t>Die</a:t>
            </a:r>
            <a:r>
              <a:rPr lang="ko-KR" altLang="en-US" dirty="0"/>
              <a:t>만 검사 대상에 지정됨</a:t>
            </a:r>
            <a:endParaRPr lang="ko-KR" altLang="ko-KR" kern="100" dirty="0"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CE2B370-A0E6-EB2D-ECE0-C9A2FECE2D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80" y="1234439"/>
            <a:ext cx="5836919" cy="316470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85A6C69-7E76-31E3-D9FF-432EE02578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353" y="4458112"/>
            <a:ext cx="3995547" cy="216841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4D3C369-CE24-1B5E-1F7F-9FBC214F4D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2675" y="4460983"/>
            <a:ext cx="3995547" cy="2168773"/>
          </a:xfrm>
          <a:prstGeom prst="rect">
            <a:avLst/>
          </a:prstGeom>
        </p:spPr>
      </p:pic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4AC0055D-49A9-9FE5-F560-0ABE166A8877}"/>
              </a:ext>
            </a:extLst>
          </p:cNvPr>
          <p:cNvSpPr/>
          <p:nvPr/>
        </p:nvSpPr>
        <p:spPr>
          <a:xfrm>
            <a:off x="5485448" y="5338583"/>
            <a:ext cx="543878" cy="355829"/>
          </a:xfrm>
          <a:prstGeom prst="rightArrow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01CDC493-7F06-531A-ECEC-3147F4B9BB7F}"/>
              </a:ext>
            </a:extLst>
          </p:cNvPr>
          <p:cNvSpPr/>
          <p:nvPr/>
        </p:nvSpPr>
        <p:spPr>
          <a:xfrm rot="16200000">
            <a:off x="562548" y="5089955"/>
            <a:ext cx="663751" cy="545162"/>
          </a:xfrm>
          <a:custGeom>
            <a:avLst/>
            <a:gdLst>
              <a:gd name="csX0" fmla="*/ 663751 w 663751"/>
              <a:gd name="csY0" fmla="*/ 0 h 545162"/>
              <a:gd name="csX1" fmla="*/ 663751 w 663751"/>
              <a:gd name="csY1" fmla="*/ 88958 h 545162"/>
              <a:gd name="csX2" fmla="*/ 663751 w 663751"/>
              <a:gd name="csY2" fmla="*/ 177915 h 545162"/>
              <a:gd name="csX3" fmla="*/ 266873 w 663751"/>
              <a:gd name="csY3" fmla="*/ 177915 h 545162"/>
              <a:gd name="csX4" fmla="*/ 266873 w 663751"/>
              <a:gd name="csY4" fmla="*/ 367248 h 545162"/>
              <a:gd name="csX5" fmla="*/ 355830 w 663751"/>
              <a:gd name="csY5" fmla="*/ 367248 h 545162"/>
              <a:gd name="csX6" fmla="*/ 177915 w 663751"/>
              <a:gd name="csY6" fmla="*/ 545162 h 545162"/>
              <a:gd name="csX7" fmla="*/ 0 w 663751"/>
              <a:gd name="csY7" fmla="*/ 367248 h 545162"/>
              <a:gd name="csX8" fmla="*/ 88957 w 663751"/>
              <a:gd name="csY8" fmla="*/ 367248 h 545162"/>
              <a:gd name="csX9" fmla="*/ 88957 w 663751"/>
              <a:gd name="csY9" fmla="*/ 1284 h 545162"/>
              <a:gd name="csX10" fmla="*/ 119873 w 663751"/>
              <a:gd name="csY10" fmla="*/ 1284 h 545162"/>
              <a:gd name="csX11" fmla="*/ 119873 w 663751"/>
              <a:gd name="csY11" fmla="*/ 0 h 5451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663751" h="545162">
                <a:moveTo>
                  <a:pt x="663751" y="0"/>
                </a:moveTo>
                <a:lnTo>
                  <a:pt x="663751" y="88958"/>
                </a:lnTo>
                <a:lnTo>
                  <a:pt x="663751" y="177915"/>
                </a:lnTo>
                <a:lnTo>
                  <a:pt x="266873" y="177915"/>
                </a:lnTo>
                <a:lnTo>
                  <a:pt x="266873" y="367248"/>
                </a:lnTo>
                <a:lnTo>
                  <a:pt x="355830" y="367248"/>
                </a:lnTo>
                <a:lnTo>
                  <a:pt x="177915" y="545162"/>
                </a:lnTo>
                <a:lnTo>
                  <a:pt x="0" y="367248"/>
                </a:lnTo>
                <a:lnTo>
                  <a:pt x="88957" y="367248"/>
                </a:lnTo>
                <a:lnTo>
                  <a:pt x="88957" y="1284"/>
                </a:lnTo>
                <a:lnTo>
                  <a:pt x="119873" y="1284"/>
                </a:lnTo>
                <a:lnTo>
                  <a:pt x="119873" y="0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8B3810A-5F8E-ACFA-252B-510C2E3671A8}"/>
              </a:ext>
            </a:extLst>
          </p:cNvPr>
          <p:cNvSpPr/>
          <p:nvPr/>
        </p:nvSpPr>
        <p:spPr>
          <a:xfrm>
            <a:off x="5485448" y="1958109"/>
            <a:ext cx="543878" cy="9236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28272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CB33C-D6AD-E759-568F-8EDAA285D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153972-6853-E109-CF5B-6B3CFD804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228600"/>
            <a:ext cx="11658600" cy="1005840"/>
          </a:xfrm>
        </p:spPr>
        <p:txBody>
          <a:bodyPr>
            <a:normAutofit/>
          </a:bodyPr>
          <a:lstStyle/>
          <a:p>
            <a:r>
              <a:rPr lang="en-US" altLang="ko-KR" dirty="0"/>
              <a:t>2. Recipe Step : 8. Die CAD – Analysis Settings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E8089A-832B-A053-C7A7-4E90BC992AD4}"/>
              </a:ext>
            </a:extLst>
          </p:cNvPr>
          <p:cNvSpPr txBox="1"/>
          <p:nvPr/>
        </p:nvSpPr>
        <p:spPr>
          <a:xfrm>
            <a:off x="6096000" y="1234440"/>
            <a:ext cx="6096000" cy="5273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spcAft>
                <a:spcPts val="800"/>
              </a:spcAft>
            </a:pPr>
            <a:r>
              <a:rPr lang="en-US" altLang="ko-KR" dirty="0"/>
              <a:t>1. Die CAD </a:t>
            </a:r>
            <a:r>
              <a:rPr lang="ko-KR" altLang="en-US" dirty="0"/>
              <a:t>이동 </a:t>
            </a:r>
            <a:endParaRPr lang="en-US" altLang="ko-KR" dirty="0"/>
          </a:p>
          <a:p>
            <a:pPr latinLnBrk="1">
              <a:spcAft>
                <a:spcPts val="800"/>
              </a:spcAft>
            </a:pPr>
            <a:endParaRPr lang="en-US" altLang="ko-KR" dirty="0"/>
          </a:p>
          <a:p>
            <a:pPr latinLnBrk="1">
              <a:spcAft>
                <a:spcPts val="800"/>
              </a:spcAft>
            </a:pPr>
            <a:r>
              <a:rPr lang="en-US" altLang="ko-KR" dirty="0"/>
              <a:t>2. </a:t>
            </a:r>
            <a:r>
              <a:rPr lang="en-US" altLang="ko-KR" dirty="0" err="1"/>
              <a:t>BumpGroupAnalysis</a:t>
            </a:r>
            <a:r>
              <a:rPr lang="en-US" altLang="ko-KR" dirty="0"/>
              <a:t> </a:t>
            </a:r>
            <a:r>
              <a:rPr lang="ko-KR" altLang="en-US" dirty="0"/>
              <a:t>선택</a:t>
            </a:r>
            <a:endParaRPr lang="en-US" altLang="ko-KR" dirty="0"/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ko-KR" altLang="en-US" dirty="0"/>
              <a:t>촬영 영역 사이즈 지정</a:t>
            </a:r>
            <a:br>
              <a:rPr lang="en-US" altLang="ko-KR" dirty="0"/>
            </a:br>
            <a:r>
              <a:rPr lang="ko-KR" altLang="en-US" dirty="0"/>
              <a:t>→ 빨간 박스 사이즈 조절 필요시 </a:t>
            </a:r>
            <a:r>
              <a:rPr lang="en-US" altLang="ko-KR" dirty="0"/>
              <a:t>Resolution </a:t>
            </a:r>
            <a:r>
              <a:rPr lang="ko-KR" altLang="en-US" dirty="0"/>
              <a:t>설정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빨간 박스</a:t>
            </a:r>
            <a:r>
              <a:rPr lang="en-US" altLang="ko-KR" dirty="0"/>
              <a:t>=</a:t>
            </a:r>
            <a:r>
              <a:rPr lang="ko-KR" altLang="en-US" dirty="0"/>
              <a:t>촬영 영역</a:t>
            </a:r>
            <a:r>
              <a:rPr lang="en-US" altLang="ko-KR" dirty="0"/>
              <a:t>)</a:t>
            </a:r>
          </a:p>
          <a:p>
            <a:pPr latinLnBrk="1">
              <a:spcAft>
                <a:spcPts val="800"/>
              </a:spcAft>
            </a:pPr>
            <a:endParaRPr lang="en-US" altLang="ko-KR" dirty="0"/>
          </a:p>
          <a:p>
            <a:pPr latinLnBrk="1">
              <a:spcAft>
                <a:spcPts val="800"/>
              </a:spcAft>
            </a:pPr>
            <a:r>
              <a:rPr lang="en-US" altLang="ko-KR" dirty="0"/>
              <a:t>3. Resolution </a:t>
            </a:r>
            <a:r>
              <a:rPr lang="ko-KR" altLang="en-US" dirty="0"/>
              <a:t>설정</a:t>
            </a:r>
            <a:r>
              <a:rPr lang="en-US" altLang="ko-KR" dirty="0"/>
              <a:t> </a:t>
            </a:r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en-US" altLang="ko-KR" dirty="0"/>
              <a:t>Analysis </a:t>
            </a:r>
            <a:r>
              <a:rPr lang="ko-KR" altLang="en-US" dirty="0"/>
              <a:t>클릭</a:t>
            </a:r>
            <a:r>
              <a:rPr lang="en-US" altLang="ko-KR" dirty="0"/>
              <a:t> </a:t>
            </a:r>
            <a:r>
              <a:rPr lang="ko-KR" altLang="en-US" dirty="0"/>
              <a:t>→ </a:t>
            </a:r>
            <a:r>
              <a:rPr lang="en-US" altLang="ko-KR" dirty="0"/>
              <a:t>Analysis Settings </a:t>
            </a:r>
            <a:r>
              <a:rPr lang="ko-KR" altLang="en-US" dirty="0"/>
              <a:t>클릭</a:t>
            </a:r>
            <a:endParaRPr lang="en-US" altLang="ko-KR" dirty="0"/>
          </a:p>
          <a:p>
            <a:pPr marL="800100" lvl="1" indent="-342900">
              <a:buFont typeface="+mj-lt"/>
              <a:buAutoNum type="arabicParenR"/>
            </a:pPr>
            <a:r>
              <a:rPr lang="en-US" altLang="ko-KR" dirty="0"/>
              <a:t>Resolution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촬영</a:t>
            </a:r>
            <a:r>
              <a:rPr lang="en-US" altLang="ko-KR" dirty="0"/>
              <a:t> </a:t>
            </a:r>
            <a:r>
              <a:rPr lang="ko-KR" altLang="en-US" dirty="0"/>
              <a:t>영역 사이즈 설정 </a:t>
            </a:r>
            <a:br>
              <a:rPr lang="en-US" altLang="ko-KR" dirty="0"/>
            </a:br>
            <a:r>
              <a:rPr lang="en-US" altLang="ko-KR" dirty="0"/>
              <a:t>(Resolution ∝ </a:t>
            </a:r>
            <a:r>
              <a:rPr lang="ko-KR" altLang="en-US" dirty="0"/>
              <a:t>촬영</a:t>
            </a:r>
            <a:r>
              <a:rPr lang="en-US" altLang="ko-KR" dirty="0"/>
              <a:t> </a:t>
            </a:r>
            <a:r>
              <a:rPr lang="ko-KR" altLang="en-US" dirty="0"/>
              <a:t>영역 사이즈</a:t>
            </a:r>
            <a:r>
              <a:rPr lang="en-US" altLang="ko-KR" dirty="0"/>
              <a:t>)</a:t>
            </a:r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en-US" altLang="ko-KR" dirty="0"/>
              <a:t>Voltage </a:t>
            </a:r>
            <a:r>
              <a:rPr lang="ko-KR" altLang="en-US" dirty="0"/>
              <a:t>설정 </a:t>
            </a:r>
            <a:endParaRPr lang="en-US" altLang="ko-KR" dirty="0"/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en-US" altLang="ko-KR" dirty="0"/>
              <a:t>Power </a:t>
            </a:r>
            <a:r>
              <a:rPr lang="ko-KR" altLang="en-US" dirty="0"/>
              <a:t>설정                        </a:t>
            </a:r>
            <a:r>
              <a:rPr lang="en-US" altLang="ko-KR" dirty="0"/>
              <a:t>4.page</a:t>
            </a:r>
            <a:r>
              <a:rPr lang="ko-KR" altLang="en-US" dirty="0"/>
              <a:t>에서 설정된 값          </a:t>
            </a:r>
            <a:endParaRPr lang="en-US" altLang="ko-KR" dirty="0"/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en-US" altLang="ko-KR" dirty="0"/>
              <a:t>Frame Average </a:t>
            </a:r>
            <a:r>
              <a:rPr lang="ko-KR" altLang="en-US" dirty="0"/>
              <a:t>설정 </a:t>
            </a:r>
          </a:p>
          <a:p>
            <a:pPr latinLnBrk="1">
              <a:spcAft>
                <a:spcPts val="800"/>
              </a:spcAft>
            </a:pPr>
            <a:r>
              <a:rPr lang="en-US" altLang="ko-KR" dirty="0"/>
              <a:t>4. Die CAD</a:t>
            </a:r>
            <a:r>
              <a:rPr lang="ko-KR" altLang="en-US" dirty="0"/>
              <a:t>로 이동하여 촬영 영역 재확인</a:t>
            </a:r>
            <a:endParaRPr lang="ko-KR" altLang="ko-KR" kern="100" dirty="0"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371AA31-B325-70FA-FF60-6F8DFBCEB5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678" b="67061"/>
          <a:stretch>
            <a:fillRect/>
          </a:stretch>
        </p:blipFill>
        <p:spPr>
          <a:xfrm>
            <a:off x="654679" y="3921323"/>
            <a:ext cx="4932946" cy="229445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F250FA1-1F8B-050F-D884-4702D7CFB2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679" y="1300492"/>
            <a:ext cx="4932946" cy="267715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07BFD1D0-C8F5-34CD-69C8-21C1CF572C2F}"/>
              </a:ext>
            </a:extLst>
          </p:cNvPr>
          <p:cNvSpPr/>
          <p:nvPr/>
        </p:nvSpPr>
        <p:spPr>
          <a:xfrm>
            <a:off x="2059709" y="1496291"/>
            <a:ext cx="387927" cy="14778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연결선: 꺾임 7">
            <a:extLst>
              <a:ext uri="{FF2B5EF4-FFF2-40B4-BE49-F238E27FC236}">
                <a16:creationId xmlns:a16="http://schemas.microsoft.com/office/drawing/2014/main" id="{9E3B05E2-F966-F75C-48F3-798211E3359E}"/>
              </a:ext>
            </a:extLst>
          </p:cNvPr>
          <p:cNvCxnSpPr/>
          <p:nvPr/>
        </p:nvCxnSpPr>
        <p:spPr>
          <a:xfrm flipV="1">
            <a:off x="2447636" y="1430239"/>
            <a:ext cx="3648364" cy="139943"/>
          </a:xfrm>
          <a:prstGeom prst="bentConnector3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FE740C6D-EB89-42BD-C315-4709682F890B}"/>
              </a:ext>
            </a:extLst>
          </p:cNvPr>
          <p:cNvSpPr/>
          <p:nvPr/>
        </p:nvSpPr>
        <p:spPr>
          <a:xfrm>
            <a:off x="654679" y="1644073"/>
            <a:ext cx="583571" cy="9900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54C81DC5-8A5C-2986-0296-C4B60896C4F6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1238250" y="1693574"/>
            <a:ext cx="4857750" cy="472791"/>
          </a:xfrm>
          <a:prstGeom prst="bentConnector3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413B925-B873-E2BF-8CC6-0C5E6039F2CA}"/>
              </a:ext>
            </a:extLst>
          </p:cNvPr>
          <p:cNvSpPr/>
          <p:nvPr/>
        </p:nvSpPr>
        <p:spPr>
          <a:xfrm>
            <a:off x="3288440" y="4472705"/>
            <a:ext cx="1000234" cy="24667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C664166-752A-24DD-BE39-7C4945FC26D1}"/>
              </a:ext>
            </a:extLst>
          </p:cNvPr>
          <p:cNvSpPr/>
          <p:nvPr/>
        </p:nvSpPr>
        <p:spPr>
          <a:xfrm>
            <a:off x="738133" y="4759945"/>
            <a:ext cx="1000234" cy="24667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B2BA2BB-E26E-F77D-8CDF-E60800DC811F}"/>
              </a:ext>
            </a:extLst>
          </p:cNvPr>
          <p:cNvSpPr/>
          <p:nvPr/>
        </p:nvSpPr>
        <p:spPr>
          <a:xfrm>
            <a:off x="753739" y="5004474"/>
            <a:ext cx="4117695" cy="100770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3FF09FF-161D-3356-6F40-F3CE570F5E73}"/>
              </a:ext>
            </a:extLst>
          </p:cNvPr>
          <p:cNvSpPr/>
          <p:nvPr/>
        </p:nvSpPr>
        <p:spPr>
          <a:xfrm>
            <a:off x="4341462" y="4472705"/>
            <a:ext cx="1000234" cy="24667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7F277AB4-1BAF-F983-285A-E088ED9AD253}"/>
              </a:ext>
            </a:extLst>
          </p:cNvPr>
          <p:cNvCxnSpPr>
            <a:cxnSpLocks/>
          </p:cNvCxnSpPr>
          <p:nvPr/>
        </p:nvCxnSpPr>
        <p:spPr>
          <a:xfrm rot="16200000" flipH="1">
            <a:off x="4791808" y="5096609"/>
            <a:ext cx="1761718" cy="661942"/>
          </a:xfrm>
          <a:prstGeom prst="bentConnector3">
            <a:avLst>
              <a:gd name="adj1" fmla="val 100331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898352E0-116B-EE81-65D2-99847935E86E}"/>
              </a:ext>
            </a:extLst>
          </p:cNvPr>
          <p:cNvCxnSpPr>
            <a:stCxn id="15" idx="0"/>
          </p:cNvCxnSpPr>
          <p:nvPr/>
        </p:nvCxnSpPr>
        <p:spPr>
          <a:xfrm rot="5400000" flipH="1" flipV="1">
            <a:off x="3032825" y="1789134"/>
            <a:ext cx="1176236" cy="4765386"/>
          </a:xfrm>
          <a:prstGeom prst="bent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오른쪽 중괄호 30">
            <a:extLst>
              <a:ext uri="{FF2B5EF4-FFF2-40B4-BE49-F238E27FC236}">
                <a16:creationId xmlns:a16="http://schemas.microsoft.com/office/drawing/2014/main" id="{25E743FB-43A0-4289-09BF-378A3985D40E}"/>
              </a:ext>
            </a:extLst>
          </p:cNvPr>
          <p:cNvSpPr/>
          <p:nvPr/>
        </p:nvSpPr>
        <p:spPr>
          <a:xfrm>
            <a:off x="9393382" y="5144652"/>
            <a:ext cx="165070" cy="849746"/>
          </a:xfrm>
          <a:prstGeom prst="rightBrace">
            <a:avLst>
              <a:gd name="adj1" fmla="val 109312"/>
              <a:gd name="adj2" fmla="val 45143"/>
            </a:avLst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/>
          <p:cNvSpPr txBox="1"/>
          <p:nvPr/>
        </p:nvSpPr>
        <p:spPr>
          <a:xfrm>
            <a:off x="365760" y="6035040"/>
            <a:ext cx="11460480" cy="457200"/>
          </a:xfrm>
          <a:prstGeom prst="rect">
            <a:avLst/>
          </a:prstGeom>
          <a:solidFill>
            <a:srgbClr val="FFF2CC"/>
          </a:solidFill>
          <a:ln w="19050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00000"/>
                </a:solidFill>
                <a:latin typeface="맑은 고딕"/>
              </a:rPr>
              <a:t>★ Resolution ∝ 촬영구역(빨간 박스) — R = D·√p/N_target 으로 산출 (부록2)</a:t>
            </a:r>
          </a:p>
        </p:txBody>
      </p:sp>
    </p:spTree>
    <p:extLst>
      <p:ext uri="{BB962C8B-B14F-4D97-AF65-F5344CB8AC3E}">
        <p14:creationId xmlns:p14="http://schemas.microsoft.com/office/powerpoint/2010/main" val="25010745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07C4B-026B-A53B-C24D-6998E57F6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F75C3A-722E-1448-1627-27F663E2F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228600"/>
            <a:ext cx="11658600" cy="1005840"/>
          </a:xfrm>
        </p:spPr>
        <p:txBody>
          <a:bodyPr>
            <a:normAutofit/>
          </a:bodyPr>
          <a:lstStyle/>
          <a:p>
            <a:r>
              <a:rPr lang="en-US" altLang="ko-KR" dirty="0"/>
              <a:t>2. Recipe Step : 9. Die CAD – Set Area of interest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E7C110-E626-D48A-9A71-ACFF9B886B10}"/>
              </a:ext>
            </a:extLst>
          </p:cNvPr>
          <p:cNvSpPr txBox="1"/>
          <p:nvPr/>
        </p:nvSpPr>
        <p:spPr>
          <a:xfrm>
            <a:off x="6096000" y="1234440"/>
            <a:ext cx="6096000" cy="4719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spcAft>
                <a:spcPts val="800"/>
              </a:spcAft>
            </a:pPr>
            <a:r>
              <a:rPr lang="en-US" altLang="ko-KR" dirty="0"/>
              <a:t>1. Set Area of interest</a:t>
            </a:r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ko-KR" altLang="en-US" dirty="0"/>
              <a:t>드래그로 촬영 영역 옮긴 후 </a:t>
            </a:r>
            <a:r>
              <a:rPr lang="en-US" altLang="ko-KR" dirty="0"/>
              <a:t>Set Area of interest </a:t>
            </a:r>
            <a:br>
              <a:rPr lang="en-US" altLang="ko-KR" dirty="0"/>
            </a:br>
            <a:r>
              <a:rPr lang="ko-KR" altLang="en-US" dirty="0"/>
              <a:t>클릭하여 촬영 영역 확정</a:t>
            </a:r>
            <a:endParaRPr lang="en-US" altLang="ko-KR" dirty="0"/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ko-KR" altLang="en-US" dirty="0"/>
              <a:t>잘못 지정한 경우 </a:t>
            </a:r>
            <a:r>
              <a:rPr lang="en-US" altLang="ko-KR" dirty="0"/>
              <a:t>Delete</a:t>
            </a:r>
            <a:r>
              <a:rPr lang="ko-KR" altLang="en-US" dirty="0"/>
              <a:t> </a:t>
            </a:r>
            <a:endParaRPr lang="en-US" altLang="ko-KR" dirty="0"/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ko-KR" altLang="en-US" dirty="0"/>
              <a:t>드래그로 검사할 </a:t>
            </a:r>
            <a:r>
              <a:rPr lang="en-US" altLang="ko-KR" dirty="0"/>
              <a:t>bump </a:t>
            </a:r>
            <a:r>
              <a:rPr lang="ko-KR" altLang="en-US" dirty="0"/>
              <a:t>지정</a:t>
            </a:r>
            <a:r>
              <a:rPr lang="en-US" altLang="ko-KR" dirty="0"/>
              <a:t>(</a:t>
            </a:r>
            <a:r>
              <a:rPr lang="ko-KR" altLang="en-US" dirty="0"/>
              <a:t>파란색으로 표기</a:t>
            </a:r>
            <a:r>
              <a:rPr lang="en-US" altLang="ko-KR" dirty="0"/>
              <a:t>)</a:t>
            </a:r>
          </a:p>
          <a:p>
            <a:pPr latinLnBrk="1">
              <a:spcAft>
                <a:spcPts val="800"/>
              </a:spcAft>
            </a:pPr>
            <a:endParaRPr lang="en-US" altLang="ko-KR" dirty="0"/>
          </a:p>
          <a:p>
            <a:pPr latinLnBrk="1">
              <a:spcAft>
                <a:spcPts val="800"/>
              </a:spcAft>
            </a:pPr>
            <a:r>
              <a:rPr lang="en-US" altLang="ko-KR" dirty="0"/>
              <a:t>2. Analysis</a:t>
            </a:r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en-US" altLang="ko-KR" dirty="0"/>
              <a:t>Void Percent Thresholds </a:t>
            </a:r>
            <a:r>
              <a:rPr lang="ko-KR" altLang="en-US" dirty="0"/>
              <a:t>설정 </a:t>
            </a:r>
            <a:endParaRPr lang="en-US" altLang="ko-KR" dirty="0"/>
          </a:p>
          <a:p>
            <a:pPr marL="1257300" lvl="2" indent="-342900" latinLnBrk="1">
              <a:spcAft>
                <a:spcPts val="800"/>
              </a:spcAft>
              <a:buFont typeface="+mj-ea"/>
              <a:buAutoNum type="circleNumDbPlain"/>
            </a:pPr>
            <a:r>
              <a:rPr lang="en-US" altLang="ko-KR" dirty="0"/>
              <a:t>Void Area </a:t>
            </a:r>
            <a:r>
              <a:rPr lang="ko-KR" altLang="en-US" dirty="0"/>
              <a:t>또는 </a:t>
            </a:r>
            <a:r>
              <a:rPr lang="en-US" altLang="ko-KR" dirty="0"/>
              <a:t>Void Diameter </a:t>
            </a:r>
            <a:r>
              <a:rPr lang="ko-KR" altLang="en-US" dirty="0"/>
              <a:t>기준 선택 </a:t>
            </a:r>
            <a:endParaRPr lang="en-US" altLang="ko-KR" dirty="0"/>
          </a:p>
          <a:p>
            <a:pPr marL="1257300" lvl="2" indent="-342900" latinLnBrk="1">
              <a:spcAft>
                <a:spcPts val="800"/>
              </a:spcAft>
              <a:buFont typeface="+mj-ea"/>
              <a:buAutoNum type="circleNumDbPlain"/>
            </a:pPr>
            <a:r>
              <a:rPr lang="en-US" altLang="ko-KR" dirty="0"/>
              <a:t>Threshold </a:t>
            </a:r>
            <a:r>
              <a:rPr lang="ko-KR" altLang="en-US" dirty="0"/>
              <a:t>값 및 색깔 설정 </a:t>
            </a:r>
            <a:br>
              <a:rPr lang="en-US" altLang="ko-KR" dirty="0"/>
            </a:br>
            <a:r>
              <a:rPr lang="ko-KR" altLang="en-US" dirty="0"/>
              <a:t>→ 불량 판정 기준 설정</a:t>
            </a:r>
            <a:endParaRPr lang="en-US" altLang="ko-KR" dirty="0"/>
          </a:p>
          <a:p>
            <a:pPr lvl="2" latinLnBrk="1">
              <a:spcAft>
                <a:spcPts val="800"/>
              </a:spcAft>
            </a:pPr>
            <a:endParaRPr lang="en-US" altLang="ko-KR" dirty="0"/>
          </a:p>
          <a:p>
            <a:pPr latinLnBrk="1">
              <a:spcAft>
                <a:spcPts val="800"/>
              </a:spcAft>
            </a:pPr>
            <a:r>
              <a:rPr lang="en-US" altLang="ko-KR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* Apply System Defaults</a:t>
            </a:r>
            <a:r>
              <a:rPr lang="ko-KR" altLang="en-US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로 기본 </a:t>
            </a:r>
            <a:r>
              <a:rPr lang="ko-KR" altLang="en-US" kern="100" dirty="0" err="1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셋팅값</a:t>
            </a:r>
            <a:r>
              <a:rPr lang="ko-KR" altLang="en-US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불러올 수 있음</a:t>
            </a:r>
            <a:endParaRPr lang="ko-KR" altLang="ko-KR" kern="100" dirty="0"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911CBD0-587A-EF78-B5F2-00F92B75A7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1" y="1239577"/>
            <a:ext cx="5821679" cy="3153410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C43983D1-F720-3159-90AC-2F485943B267}"/>
              </a:ext>
            </a:extLst>
          </p:cNvPr>
          <p:cNvSpPr/>
          <p:nvPr/>
        </p:nvSpPr>
        <p:spPr>
          <a:xfrm>
            <a:off x="2644486" y="1775187"/>
            <a:ext cx="1114714" cy="1275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23BE784-50FD-2761-0554-680C84574C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420" b="54444"/>
          <a:stretch>
            <a:fillRect/>
          </a:stretch>
        </p:blipFill>
        <p:spPr>
          <a:xfrm>
            <a:off x="274320" y="3831154"/>
            <a:ext cx="4694843" cy="2638382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A46A4A3B-C2AA-B678-A542-CDF92F157FBE}"/>
              </a:ext>
            </a:extLst>
          </p:cNvPr>
          <p:cNvSpPr/>
          <p:nvPr/>
        </p:nvSpPr>
        <p:spPr>
          <a:xfrm>
            <a:off x="4867564" y="1775187"/>
            <a:ext cx="1228436" cy="1275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653677B-6342-9C2B-472E-25F17D69D887}"/>
              </a:ext>
            </a:extLst>
          </p:cNvPr>
          <p:cNvSpPr/>
          <p:nvPr/>
        </p:nvSpPr>
        <p:spPr>
          <a:xfrm>
            <a:off x="1570182" y="4747491"/>
            <a:ext cx="1219200" cy="1811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9EB3026-6D78-9D5B-F740-90D49F4891EC}"/>
              </a:ext>
            </a:extLst>
          </p:cNvPr>
          <p:cNvSpPr/>
          <p:nvPr/>
        </p:nvSpPr>
        <p:spPr>
          <a:xfrm>
            <a:off x="350981" y="4982350"/>
            <a:ext cx="3241963" cy="148718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4C4F468-333B-1D15-2D77-AFD2D6A03F10}"/>
              </a:ext>
            </a:extLst>
          </p:cNvPr>
          <p:cNvSpPr/>
          <p:nvPr/>
        </p:nvSpPr>
        <p:spPr>
          <a:xfrm>
            <a:off x="1205346" y="4512632"/>
            <a:ext cx="1219200" cy="1811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05847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EFAC0-0EA8-B867-BE2A-9A2A7A2B7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37323F-62B0-9751-4762-9FE1A0555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228600"/>
            <a:ext cx="11658600" cy="1005840"/>
          </a:xfrm>
        </p:spPr>
        <p:txBody>
          <a:bodyPr>
            <a:normAutofit/>
          </a:bodyPr>
          <a:lstStyle/>
          <a:p>
            <a:r>
              <a:rPr lang="en-US" altLang="ko-KR" dirty="0"/>
              <a:t>2. Recipe Step : 10. Recipe save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1F906E-C7A5-A5DF-3E7C-A52FA10366F0}"/>
              </a:ext>
            </a:extLst>
          </p:cNvPr>
          <p:cNvSpPr txBox="1"/>
          <p:nvPr/>
        </p:nvSpPr>
        <p:spPr>
          <a:xfrm>
            <a:off x="6096000" y="1234440"/>
            <a:ext cx="6096000" cy="3026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latinLnBrk="1">
              <a:spcAft>
                <a:spcPts val="800"/>
              </a:spcAft>
              <a:buAutoNum type="arabicPeriod"/>
            </a:pPr>
            <a:r>
              <a:rPr lang="en-US" altLang="ko-KR" dirty="0"/>
              <a:t>Save </a:t>
            </a:r>
            <a:r>
              <a:rPr lang="ko-KR" altLang="en-US" dirty="0"/>
              <a:t>메뉴 클릭 </a:t>
            </a:r>
            <a:endParaRPr lang="en-US" altLang="ko-KR" dirty="0"/>
          </a:p>
          <a:p>
            <a:pPr latinLnBrk="1">
              <a:spcAft>
                <a:spcPts val="800"/>
              </a:spcAft>
            </a:pPr>
            <a:endParaRPr lang="en-US" altLang="ko-KR" dirty="0"/>
          </a:p>
          <a:p>
            <a:pPr latinLnBrk="1">
              <a:spcAft>
                <a:spcPts val="800"/>
              </a:spcAft>
            </a:pPr>
            <a:r>
              <a:rPr lang="en-US" altLang="ko-KR" dirty="0"/>
              <a:t>2. </a:t>
            </a:r>
            <a:r>
              <a:rPr lang="ko-KR" altLang="en-US" dirty="0"/>
              <a:t>정보 입력 </a:t>
            </a:r>
            <a:endParaRPr lang="en-US" altLang="ko-KR" dirty="0"/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en-US" altLang="ko-KR" dirty="0"/>
              <a:t>Recipe Name </a:t>
            </a:r>
            <a:r>
              <a:rPr lang="ko-KR" altLang="en-US" dirty="0"/>
              <a:t>입력 </a:t>
            </a:r>
            <a:endParaRPr lang="en-US" altLang="ko-KR" dirty="0"/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en-US" altLang="ko-KR" dirty="0"/>
              <a:t>Description </a:t>
            </a:r>
            <a:r>
              <a:rPr lang="ko-KR" altLang="en-US" dirty="0"/>
              <a:t>입력 </a:t>
            </a:r>
            <a:endParaRPr lang="en-US" altLang="ko-KR" dirty="0"/>
          </a:p>
          <a:p>
            <a:pPr latinLnBrk="1">
              <a:spcAft>
                <a:spcPts val="800"/>
              </a:spcAft>
            </a:pPr>
            <a:endParaRPr lang="en-US" altLang="ko-KR" dirty="0"/>
          </a:p>
          <a:p>
            <a:pPr latinLnBrk="1">
              <a:spcAft>
                <a:spcPts val="800"/>
              </a:spcAft>
            </a:pPr>
            <a:r>
              <a:rPr lang="en-US" altLang="ko-KR" dirty="0"/>
              <a:t>3. </a:t>
            </a:r>
            <a:r>
              <a:rPr lang="ko-KR" altLang="en-US" dirty="0"/>
              <a:t>저장 </a:t>
            </a:r>
            <a:endParaRPr lang="en-US" altLang="ko-KR" dirty="0"/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en-US" altLang="ko-KR" dirty="0"/>
              <a:t>OK </a:t>
            </a:r>
            <a:r>
              <a:rPr lang="ko-KR" altLang="en-US" dirty="0"/>
              <a:t>클릭 </a:t>
            </a:r>
            <a:endParaRPr lang="ko-KR" altLang="ko-KR" kern="100" dirty="0"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85FADA8-DF36-37BB-2869-132E8CAD62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" y="1234439"/>
            <a:ext cx="5821679" cy="3156442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5F0D6301-2263-1759-8761-793587199EFF}"/>
              </a:ext>
            </a:extLst>
          </p:cNvPr>
          <p:cNvSpPr/>
          <p:nvPr/>
        </p:nvSpPr>
        <p:spPr>
          <a:xfrm>
            <a:off x="2817091" y="1468582"/>
            <a:ext cx="498764" cy="14778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8F348AF-2545-D443-B4D5-FB9E2EA7AE31}"/>
              </a:ext>
            </a:extLst>
          </p:cNvPr>
          <p:cNvSpPr/>
          <p:nvPr/>
        </p:nvSpPr>
        <p:spPr>
          <a:xfrm>
            <a:off x="2184399" y="1620982"/>
            <a:ext cx="1999673" cy="2295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2606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C0CF3-80E5-D49C-C4F0-E14B4A739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2233EA-3F08-0312-E849-B6956D9B7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228600"/>
            <a:ext cx="11658600" cy="1005840"/>
          </a:xfrm>
        </p:spPr>
        <p:txBody>
          <a:bodyPr>
            <a:normAutofit/>
          </a:bodyPr>
          <a:lstStyle/>
          <a:p>
            <a:r>
              <a:rPr lang="en-US" altLang="ko-KR" dirty="0"/>
              <a:t>2. Recipe Step : 11. Inspection </a:t>
            </a:r>
            <a:r>
              <a:rPr lang="ko-KR" altLang="en-US" dirty="0"/>
              <a:t>실행 </a:t>
            </a:r>
            <a:r>
              <a:rPr lang="en-US" altLang="ko-KR" dirty="0"/>
              <a:t>(Jobs </a:t>
            </a:r>
            <a:r>
              <a:rPr lang="ko-KR" altLang="en-US" dirty="0"/>
              <a:t>화면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4AB5D6-FC3F-5C70-716E-CA1F846821FE}"/>
              </a:ext>
            </a:extLst>
          </p:cNvPr>
          <p:cNvSpPr txBox="1"/>
          <p:nvPr/>
        </p:nvSpPr>
        <p:spPr>
          <a:xfrm>
            <a:off x="6096000" y="1234440"/>
            <a:ext cx="6096000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spcAft>
                <a:spcPts val="800"/>
              </a:spcAft>
            </a:pPr>
            <a:r>
              <a:rPr lang="en-US" altLang="ko-KR" dirty="0"/>
              <a:t>1. Jobs </a:t>
            </a:r>
            <a:r>
              <a:rPr lang="ko-KR" altLang="en-US" dirty="0"/>
              <a:t>메뉴 선택 </a:t>
            </a:r>
            <a:endParaRPr lang="en-US" altLang="ko-KR" dirty="0"/>
          </a:p>
          <a:p>
            <a:pPr marL="342900" indent="-342900" latinLnBrk="1">
              <a:spcAft>
                <a:spcPts val="800"/>
              </a:spcAft>
              <a:buAutoNum type="arabicPeriod"/>
            </a:pPr>
            <a:endParaRPr lang="en-US" altLang="ko-KR" dirty="0"/>
          </a:p>
          <a:p>
            <a:pPr latinLnBrk="1">
              <a:spcAft>
                <a:spcPts val="800"/>
              </a:spcAft>
            </a:pPr>
            <a:r>
              <a:rPr lang="en-US" altLang="ko-KR" dirty="0"/>
              <a:t>2. Inspection </a:t>
            </a:r>
            <a:r>
              <a:rPr lang="ko-KR" altLang="en-US" dirty="0"/>
              <a:t>선택 </a:t>
            </a:r>
            <a:endParaRPr lang="en-US" altLang="ko-KR" dirty="0"/>
          </a:p>
          <a:p>
            <a:pPr latinLnBrk="1">
              <a:spcAft>
                <a:spcPts val="800"/>
              </a:spcAft>
            </a:pPr>
            <a:endParaRPr lang="en-US" altLang="ko-KR" dirty="0"/>
          </a:p>
          <a:p>
            <a:pPr latinLnBrk="1">
              <a:spcAft>
                <a:spcPts val="800"/>
              </a:spcAft>
            </a:pPr>
            <a:r>
              <a:rPr lang="en-US" altLang="ko-KR" dirty="0"/>
              <a:t>3. Recipe </a:t>
            </a:r>
            <a:r>
              <a:rPr lang="ko-KR" altLang="en-US" dirty="0"/>
              <a:t>선택 </a:t>
            </a:r>
            <a:endParaRPr lang="en-US" altLang="ko-KR" dirty="0"/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ko-KR" altLang="en-US" dirty="0"/>
              <a:t>저장한 </a:t>
            </a:r>
            <a:r>
              <a:rPr lang="en-US" altLang="ko-KR" dirty="0"/>
              <a:t>Recipe </a:t>
            </a:r>
            <a:r>
              <a:rPr lang="ko-KR" altLang="en-US" dirty="0"/>
              <a:t>선택 </a:t>
            </a:r>
            <a:endParaRPr lang="en-US" altLang="ko-KR" dirty="0"/>
          </a:p>
          <a:p>
            <a:pPr latinLnBrk="1">
              <a:spcAft>
                <a:spcPts val="800"/>
              </a:spcAft>
            </a:pPr>
            <a:endParaRPr lang="en-US" altLang="ko-KR" dirty="0"/>
          </a:p>
          <a:p>
            <a:pPr latinLnBrk="1">
              <a:spcAft>
                <a:spcPts val="800"/>
              </a:spcAft>
            </a:pPr>
            <a:r>
              <a:rPr lang="en-US" altLang="ko-KR" dirty="0"/>
              <a:t>4. Slot </a:t>
            </a:r>
            <a:r>
              <a:rPr lang="ko-KR" altLang="en-US" dirty="0"/>
              <a:t>선택 </a:t>
            </a:r>
            <a:endParaRPr lang="en-US" altLang="ko-KR" dirty="0"/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ko-KR" altLang="en-US" dirty="0"/>
              <a:t>검사 </a:t>
            </a:r>
            <a:r>
              <a:rPr lang="en-US" altLang="ko-KR" dirty="0"/>
              <a:t>Slot </a:t>
            </a:r>
            <a:r>
              <a:rPr lang="ko-KR" altLang="en-US" dirty="0"/>
              <a:t>선택 </a:t>
            </a:r>
            <a:endParaRPr lang="en-US" altLang="ko-KR" dirty="0"/>
          </a:p>
          <a:p>
            <a:pPr latinLnBrk="1">
              <a:spcAft>
                <a:spcPts val="800"/>
              </a:spcAft>
            </a:pPr>
            <a:endParaRPr lang="en-US" altLang="ko-KR" dirty="0"/>
          </a:p>
          <a:p>
            <a:pPr latinLnBrk="1">
              <a:spcAft>
                <a:spcPts val="800"/>
              </a:spcAft>
            </a:pPr>
            <a:r>
              <a:rPr lang="en-US" altLang="ko-KR" dirty="0"/>
              <a:t>5. </a:t>
            </a:r>
            <a:r>
              <a:rPr lang="ko-KR" altLang="en-US" dirty="0"/>
              <a:t>실행 </a:t>
            </a:r>
            <a:endParaRPr lang="en-US" altLang="ko-KR" dirty="0"/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en-US" altLang="ko-KR" dirty="0"/>
              <a:t>Re-use Carrier </a:t>
            </a:r>
            <a:r>
              <a:rPr lang="ko-KR" altLang="en-US" dirty="0"/>
              <a:t>선택 </a:t>
            </a:r>
            <a:endParaRPr lang="en-US" altLang="ko-KR" dirty="0"/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en-US" altLang="ko-KR" dirty="0"/>
              <a:t>Start </a:t>
            </a:r>
            <a:r>
              <a:rPr lang="ko-KR" altLang="en-US" dirty="0"/>
              <a:t>클릭 </a:t>
            </a:r>
            <a:endParaRPr lang="ko-KR" altLang="ko-KR" kern="100" dirty="0"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D163487-63E0-7DD0-3455-30368F1ADD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19" y="1234438"/>
            <a:ext cx="5821679" cy="3156805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0BF80725-A383-A742-7169-FCA8BBF6EDEA}"/>
              </a:ext>
            </a:extLst>
          </p:cNvPr>
          <p:cNvSpPr/>
          <p:nvPr/>
        </p:nvSpPr>
        <p:spPr>
          <a:xfrm>
            <a:off x="679450" y="1739900"/>
            <a:ext cx="215900" cy="1397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F727AA-CC40-503A-1487-564819F5A28D}"/>
              </a:ext>
            </a:extLst>
          </p:cNvPr>
          <p:cNvSpPr/>
          <p:nvPr/>
        </p:nvSpPr>
        <p:spPr>
          <a:xfrm>
            <a:off x="615948" y="1968500"/>
            <a:ext cx="381002" cy="1397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8F7B9AC-8A11-BC76-7B63-85EF7B31FBFB}"/>
              </a:ext>
            </a:extLst>
          </p:cNvPr>
          <p:cNvSpPr/>
          <p:nvPr/>
        </p:nvSpPr>
        <p:spPr>
          <a:xfrm>
            <a:off x="615948" y="2113278"/>
            <a:ext cx="2432052" cy="1397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A0C493B-74D7-34B4-8025-5990B5239806}"/>
              </a:ext>
            </a:extLst>
          </p:cNvPr>
          <p:cNvSpPr/>
          <p:nvPr/>
        </p:nvSpPr>
        <p:spPr>
          <a:xfrm>
            <a:off x="615948" y="2252978"/>
            <a:ext cx="2432052" cy="170942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7B1823E-10C8-6E2F-F595-1E1F213A1DAD}"/>
              </a:ext>
            </a:extLst>
          </p:cNvPr>
          <p:cNvSpPr/>
          <p:nvPr/>
        </p:nvSpPr>
        <p:spPr>
          <a:xfrm>
            <a:off x="1639886" y="4100621"/>
            <a:ext cx="422277" cy="1141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1A63F19-C6C6-48A8-F8DB-03347697A38F}"/>
              </a:ext>
            </a:extLst>
          </p:cNvPr>
          <p:cNvSpPr/>
          <p:nvPr/>
        </p:nvSpPr>
        <p:spPr>
          <a:xfrm>
            <a:off x="365123" y="4100621"/>
            <a:ext cx="250825" cy="1141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53416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BB476-8382-839C-C342-21B0639BC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8F682F-FBC6-93B9-179A-B8464687F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228600"/>
            <a:ext cx="11658600" cy="1005840"/>
          </a:xfrm>
        </p:spPr>
        <p:txBody>
          <a:bodyPr>
            <a:normAutofit/>
          </a:bodyPr>
          <a:lstStyle/>
          <a:p>
            <a:r>
              <a:rPr lang="en-US" altLang="ko-KR" dirty="0"/>
              <a:t>3. Results</a:t>
            </a:r>
            <a:r>
              <a:rPr lang="ko-KR" altLang="en-US" dirty="0"/>
              <a:t> </a:t>
            </a:r>
            <a:r>
              <a:rPr lang="en-US" altLang="ko-KR" dirty="0"/>
              <a:t>step</a:t>
            </a:r>
            <a:r>
              <a:rPr lang="ko-KR" altLang="en-US" dirty="0"/>
              <a:t> 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ED885D-00B5-CAA1-2CAF-7C1B21A4DD62}"/>
              </a:ext>
            </a:extLst>
          </p:cNvPr>
          <p:cNvSpPr txBox="1"/>
          <p:nvPr/>
        </p:nvSpPr>
        <p:spPr>
          <a:xfrm>
            <a:off x="6096000" y="1234440"/>
            <a:ext cx="609600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latinLnBrk="1">
              <a:spcAft>
                <a:spcPts val="800"/>
              </a:spcAft>
              <a:buAutoNum type="arabicPeriod"/>
            </a:pPr>
            <a:r>
              <a:rPr lang="en-US" altLang="ko-KR" dirty="0"/>
              <a:t>Result </a:t>
            </a:r>
            <a:r>
              <a:rPr lang="ko-KR" altLang="en-US" dirty="0"/>
              <a:t>클릭</a:t>
            </a:r>
            <a:endParaRPr lang="en-US" altLang="ko-KR" dirty="0"/>
          </a:p>
          <a:p>
            <a:pPr marL="342900" indent="-342900" latinLnBrk="1">
              <a:spcAft>
                <a:spcPts val="800"/>
              </a:spcAft>
              <a:buAutoNum type="arabicPeriod"/>
            </a:pPr>
            <a:endParaRPr lang="en-US" altLang="ko-KR" dirty="0"/>
          </a:p>
          <a:p>
            <a:pPr marL="342900" indent="-342900" latinLnBrk="1">
              <a:spcAft>
                <a:spcPts val="800"/>
              </a:spcAft>
              <a:buAutoNum type="arabicPeriod"/>
            </a:pPr>
            <a:r>
              <a:rPr lang="en-US" altLang="ko-KR" kern="100" dirty="0">
                <a:ea typeface="맑은 고딕" panose="020B0503020000020004" pitchFamily="50" charset="-127"/>
                <a:cs typeface="Times New Roman" panose="02020603050405020304" pitchFamily="18" charset="0"/>
              </a:rPr>
              <a:t>Currently Available Results </a:t>
            </a:r>
            <a:r>
              <a:rPr lang="ko-KR" altLang="en-US" kern="100" dirty="0">
                <a:ea typeface="맑은 고딕" panose="020B0503020000020004" pitchFamily="50" charset="-127"/>
                <a:cs typeface="Times New Roman" panose="02020603050405020304" pitchFamily="18" charset="0"/>
              </a:rPr>
              <a:t>리스트에서 최근 항목 확인</a:t>
            </a:r>
            <a:endParaRPr lang="en-US" altLang="ko-KR" kern="100" dirty="0"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ko-KR" altLang="en-US" kern="100" dirty="0">
                <a:ea typeface="맑은 고딕" panose="020B0503020000020004" pitchFamily="50" charset="-127"/>
                <a:cs typeface="Times New Roman" panose="02020603050405020304" pitchFamily="18" charset="0"/>
              </a:rPr>
              <a:t>중단에서 결과 파일들 확인 </a:t>
            </a:r>
            <a:endParaRPr lang="ko-KR" altLang="ko-KR" kern="100" dirty="0"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98384B0-60FB-4BE9-4F3D-84DE7B9820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52"/>
          <a:stretch>
            <a:fillRect/>
          </a:stretch>
        </p:blipFill>
        <p:spPr>
          <a:xfrm>
            <a:off x="274317" y="1218275"/>
            <a:ext cx="5821679" cy="3150526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B35FA21F-5F03-E6E2-0203-9E57385B447C}"/>
              </a:ext>
            </a:extLst>
          </p:cNvPr>
          <p:cNvSpPr/>
          <p:nvPr/>
        </p:nvSpPr>
        <p:spPr>
          <a:xfrm>
            <a:off x="1135380" y="1729740"/>
            <a:ext cx="251460" cy="12192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C681391-2C4A-03C6-F92F-2497974A7CC5}"/>
              </a:ext>
            </a:extLst>
          </p:cNvPr>
          <p:cNvSpPr/>
          <p:nvPr/>
        </p:nvSpPr>
        <p:spPr>
          <a:xfrm>
            <a:off x="274313" y="3070860"/>
            <a:ext cx="1165867" cy="17526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755EA62-D053-EC29-4C08-10070742536E}"/>
              </a:ext>
            </a:extLst>
          </p:cNvPr>
          <p:cNvSpPr/>
          <p:nvPr/>
        </p:nvSpPr>
        <p:spPr>
          <a:xfrm>
            <a:off x="274313" y="3459481"/>
            <a:ext cx="5821683" cy="1524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B8C92C8-459E-0493-D99D-B1F86303183A}"/>
              </a:ext>
            </a:extLst>
          </p:cNvPr>
          <p:cNvSpPr/>
          <p:nvPr/>
        </p:nvSpPr>
        <p:spPr>
          <a:xfrm>
            <a:off x="272408" y="1867824"/>
            <a:ext cx="5821683" cy="120303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78755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4793664"/>
      </p:ext>
    </p:extLst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60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864"/>
                </a:solidFill>
                <a:latin typeface="맑은 고딕"/>
              </a:rPr>
              <a:t>부록1. 파라미터의 물리 — kV·Power·Frame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1094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맑은 고딕"/>
              </a:rPr>
              <a:t>■ kV = '측정직경 다이얼' (실측: 창 안에서 1kV당 직경 약 −3%p)</a:t>
            </a:r>
          </a:p>
          <a:p>
            <a:pPr>
              <a:spcAft>
                <a:spcPts val="700"/>
              </a:spcAft>
            </a:pPr>
            <a:r>
              <a:rPr sz="1400">
                <a:latin typeface="맑은 고딕"/>
              </a:rPr>
              <a:t>· 검사 가능한 kV 창은 좁다: 26µm 자재에서 55·65kV 전멸, 60~62.5kV만 성립 (창폭 ±2.5kV)</a:t>
            </a:r>
          </a:p>
          <a:p>
            <a:pPr>
              <a:spcAft>
                <a:spcPts val="700"/>
              </a:spcAft>
            </a:pPr>
            <a:r>
              <a:rPr sz="1400">
                <a:latin typeface="맑은 고딕"/>
              </a:rPr>
              <a:t>· 낮으면 범프가 부풀어 보이고(과흡수), 높으면 말라 보임(과투과) → 측정직경=도면값이 되는 kV가 정답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C00000"/>
                </a:solidFill>
                <a:latin typeface="맑은 고딕"/>
              </a:rPr>
              <a:t>★ 운용 규칙: 창 안에서 Q_dia(측정÷도면)=100%가 되도록 1kV 단위 트림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맑은 고딕"/>
              </a:rPr>
              <a:t>■ Power: 3.5~4.5W 화질·시간 무효과 실측 → 4W 고정. 직경/대비 문제를 W로 만지지 말 것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맑은 고딕"/>
              </a:rPr>
              <a:t>■ Frame: 노이즈 ∝1/√F, 시간 ∝F → 취득 32(검증됨), 검사는 F_min(실험 O4로 확정)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60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864"/>
                </a:solidFill>
                <a:latin typeface="맑은 고딕"/>
              </a:rPr>
              <a:t>부록2. Resolution과 N — void 정확도의 원리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1094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맑은 고딕"/>
              </a:rPr>
              <a:t>■ 판정 대상 = 임계 void (물리 크기 d_void = D·√p, 예: 26µm·8% → 7.4µm)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맑은 고딕"/>
              </a:rPr>
              <a:t>■ N = void가 차지하는 픽셀 수 = d_void ÷ R  →  면적 오차 ≈ 2/N</a:t>
            </a:r>
          </a:p>
          <a:p>
            <a:pPr>
              <a:spcAft>
                <a:spcPts val="700"/>
              </a:spcAft>
            </a:pPr>
            <a:r>
              <a:rPr sz="1400">
                <a:latin typeface="맑은 고딕"/>
              </a:rPr>
              <a:t>· N=7픽셀 → 오차 ±27% (판정 불능) / N=20 → ±10% / N=30 → ±7%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C00000"/>
                </a:solidFill>
                <a:latin typeface="맑은 고딕"/>
              </a:rPr>
              <a:t>★ R 산출식: R = D·√p / N_target  (N_target은 품질 규격 — 자재가 바뀌어도 동일)</a:t>
            </a:r>
          </a:p>
          <a:p>
            <a:pPr>
              <a:spcAft>
                <a:spcPts val="700"/>
              </a:spcAft>
            </a:pPr>
            <a:r>
              <a:rPr sz="1400">
                <a:latin typeface="맑은 고딕"/>
              </a:rPr>
              <a:t>· 시간은 1/R²: 큰 범프일수록 R을 키워 대폭 단축 가능 (158µm는 R≈2.2도 N 충분)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맑은 고딕"/>
              </a:rPr>
              <a:t>■ 실증: 같은 R=0.6이 80µm(N=30)에선 성공, 20µm(N=7.5)에선 판정불능이었음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60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864"/>
                </a:solidFill>
                <a:latin typeface="맑은 고딕"/>
              </a:rPr>
              <a:t>부록3. 이상 조치 트리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1094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맑은 고딕"/>
              </a:rPr>
              <a:t>■ 증상 → 원인 → 조치</a:t>
            </a:r>
          </a:p>
          <a:p>
            <a:pPr>
              <a:spcAft>
                <a:spcPts val="700"/>
              </a:spcAft>
            </a:pPr>
            <a:r>
              <a:rPr sz="1400">
                <a:latin typeface="맑은 고딕"/>
              </a:rPr>
              <a:t>1) 측정직경≠도면 (매칭은 됨) → kV 부정합 → Q_dia 보고 1kV 트림 (작으면↓, 크면↑)</a:t>
            </a:r>
          </a:p>
          <a:p>
            <a:pPr>
              <a:spcAft>
                <a:spcPts val="700"/>
              </a:spcAft>
            </a:pPr>
            <a:r>
              <a:rPr sz="1400">
                <a:latin typeface="맑은 고딕"/>
              </a:rPr>
              <a:t>2) 일부 die만 FailedToMatchCAD → CAD 정렬/노후 의심 → 신규 취득 후 재검사로 분리 확인</a:t>
            </a:r>
          </a:p>
          <a:p>
            <a:pPr>
              <a:spcAft>
                <a:spcPts val="700"/>
              </a:spcAft>
            </a:pPr>
            <a:r>
              <a:rPr sz="1400">
                <a:latin typeface="맑은 고딕"/>
              </a:rPr>
              <a:t>3) 전 die 실패 → kV 창 밖 → 1kV 간격 스윕으로 창 탐색 (창폭이 ±2.5kV로 좁음에 유의)</a:t>
            </a:r>
          </a:p>
          <a:p>
            <a:pPr>
              <a:spcAft>
                <a:spcPts val="700"/>
              </a:spcAft>
            </a:pPr>
            <a:r>
              <a:rPr sz="1400">
                <a:latin typeface="맑은 고딕"/>
              </a:rPr>
              <a:t>4) void%가 반복마다 요동 → N 부족(R 과대) 또는 Frame 부족 → R=D√p/N 재계산 또는 F↑</a:t>
            </a:r>
          </a:p>
          <a:p>
            <a:pPr>
              <a:spcAft>
                <a:spcPts val="700"/>
              </a:spcAft>
            </a:pPr>
            <a:r>
              <a:rPr sz="1400">
                <a:latin typeface="맑은 고딕"/>
              </a:rPr>
              <a:t>5) 검사 과도하게 느림 → R 과잉 미세 → R=D√p/N로 완화 (품질 손실 없이 1/R²로 단축)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C00000"/>
                </a:solidFill>
                <a:latin typeface="맑은 고딕"/>
              </a:rPr>
              <a:t>★ 모든 조치·결과는 Process_Model.xlsx [런결과입력]에 기록 → 계수 자동 갱신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60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864"/>
                </a:solidFill>
                <a:latin typeface="맑은 고딕"/>
              </a:rPr>
              <a:t>부록4. 취득(Acquisition) 운용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1094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맑은 고딕"/>
              </a:rPr>
              <a:t>■ 취득과 검사는 독립 파라미터 (SOP 본문의 '4page 값 복사'는 관행일 뿐)</a:t>
            </a:r>
          </a:p>
          <a:p>
            <a:pPr>
              <a:spcAft>
                <a:spcPts val="700"/>
              </a:spcAft>
            </a:pPr>
            <a:r>
              <a:rPr sz="1400">
                <a:latin typeface="맑은 고딕"/>
              </a:rPr>
              <a:t>· 취득 목적 = die/범프 위치 검출뿐 → 절약 세트: Frame 32, R_acq = D ÷ N_detect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C00000"/>
                </a:solidFill>
                <a:latin typeface="맑은 고딕"/>
              </a:rPr>
              <a:t>★ 단 kV는 검사와 동일하게 — 창 밖이면 base 이미지에서 범프가 안 보여 CAD 구축 실패</a:t>
            </a:r>
          </a:p>
          <a:p>
            <a:pPr>
              <a:spcAft>
                <a:spcPts val="700"/>
              </a:spcAft>
            </a:pPr>
            <a:r>
              <a:rPr sz="1400">
                <a:latin typeface="맑은 고딕"/>
              </a:rPr>
              <a:t>· 검증된 검출 안전점: 범프당 26픽셀(R=1.0, 26µm 자재, 매칭 37/38) — 하한은 실험 B3·B4로 확정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맑은 고딕"/>
              </a:rPr>
              <a:t>■ 재취득 기준 (P0 실험 후 확정): 신규 자재 / 신규 로트 / 부록3-2) 증상 발생 시</a:t>
            </a:r>
          </a:p>
          <a:p>
            <a:pPr>
              <a:spcAft>
                <a:spcPts val="700"/>
              </a:spcAft>
            </a:pPr>
            <a:r>
              <a:rPr sz="1400">
                <a:latin typeface="맑은 고딕"/>
              </a:rPr>
              <a:t>· 취득 생략(레시피 재사용) 허용 여부는 P0 판정규칙(ΔM≥2die)으로 결정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60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864"/>
                </a:solidFill>
                <a:latin typeface="맑은 고딕"/>
              </a:rPr>
              <a:t>부록5. 신규 자재 셋업 절차 (목표: 2런)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1094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맑은 고딕"/>
              </a:rPr>
              <a:t>■ 절차</a:t>
            </a:r>
          </a:p>
          <a:p>
            <a:pPr>
              <a:spcAft>
                <a:spcPts val="700"/>
              </a:spcAft>
            </a:pPr>
            <a:r>
              <a:rPr sz="1400">
                <a:latin typeface="맑은 고딕"/>
              </a:rPr>
              <a:t>1) Recipe_Model.xlsx에 도면값 입력 → 시작 파라미터(kV·R·F) 수령</a:t>
            </a:r>
          </a:p>
          <a:p>
            <a:pPr>
              <a:spcAft>
                <a:spcPts val="700"/>
              </a:spcAft>
            </a:pPr>
            <a:r>
              <a:rPr sz="1400">
                <a:latin typeface="맑은 고딕"/>
              </a:rPr>
              <a:t>2) 취득(절약 세트) → CAD 구축 → 1런 검사</a:t>
            </a:r>
          </a:p>
          <a:p>
            <a:pPr>
              <a:spcAft>
                <a:spcPts val="700"/>
              </a:spcAft>
            </a:pPr>
            <a:r>
              <a:rPr sz="1400">
                <a:latin typeface="맑은 고딕"/>
              </a:rPr>
              <a:t>3) 판정: Q_dia 97~103% &amp; 전 die 매칭 → 합격, 레시피 저장</a:t>
            </a:r>
          </a:p>
          <a:p>
            <a:pPr>
              <a:spcAft>
                <a:spcPts val="700"/>
              </a:spcAft>
            </a:pPr>
            <a:r>
              <a:rPr sz="1400">
                <a:latin typeface="맑은 고딕"/>
              </a:rPr>
              <a:t>4) 어긋나면 kV 1 트림 → 1런 확인 (대부분 여기서 종료)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맑은 고딕"/>
              </a:rPr>
              <a:t>■ 계수 유지보수</a:t>
            </a:r>
          </a:p>
          <a:p>
            <a:pPr>
              <a:spcAft>
                <a:spcPts val="700"/>
              </a:spcAft>
            </a:pPr>
            <a:r>
              <a:rPr sz="1400">
                <a:latin typeface="맑은 고딕"/>
              </a:rPr>
              <a:t>· 런 결과를 Process_Model [런결과입력]에 축적 → [계수fit]이 기울기·kV* 자동 산출</a:t>
            </a:r>
          </a:p>
          <a:p>
            <a:pPr>
              <a:spcAft>
                <a:spcPts val="700"/>
              </a:spcAft>
            </a:pPr>
            <a:r>
              <a:rPr sz="1400">
                <a:latin typeface="맑은 고딕"/>
              </a:rPr>
              <a:t>· 확정된 계수를 Recipe_Model [보정계수]에 반영 (잠정 3개: N_target, N_detect, F_min)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C00000"/>
                </a:solidFill>
                <a:latin typeface="맑은 고딕"/>
              </a:rPr>
              <a:t>★ 계수가 갱신될수록 신규 자재 셋업 런 수가 줄어드는 구조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fidential Presentation Template-010625">
  <a:themeElements>
    <a:clrScheme name="Amkor Brand">
      <a:dk1>
        <a:srgbClr val="464D5A"/>
      </a:dk1>
      <a:lt1>
        <a:sysClr val="window" lastClr="FFFFFF"/>
      </a:lt1>
      <a:dk2>
        <a:srgbClr val="000000"/>
      </a:dk2>
      <a:lt2>
        <a:srgbClr val="EBEBEB"/>
      </a:lt2>
      <a:accent1>
        <a:srgbClr val="0F4B8F"/>
      </a:accent1>
      <a:accent2>
        <a:srgbClr val="02829F"/>
      </a:accent2>
      <a:accent3>
        <a:srgbClr val="7F174B"/>
      </a:accent3>
      <a:accent4>
        <a:srgbClr val="449B8C"/>
      </a:accent4>
      <a:accent5>
        <a:srgbClr val="D98D28"/>
      </a:accent5>
      <a:accent6>
        <a:srgbClr val="4A3E6E"/>
      </a:accent6>
      <a:hlink>
        <a:srgbClr val="D98D28"/>
      </a:hlink>
      <a:folHlink>
        <a:srgbClr val="464D5A"/>
      </a:folHlink>
    </a:clrScheme>
    <a:fontScheme name="Amkor PPT Brand Fonts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38100"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solidFill>
            <a:srgbClr val="FF0000"/>
          </a:solidFill>
          <a:tailEnd type="triangle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2" id="{439D7168-81A4-49EA-BEAB-8790C15FA895}" vid="{83D207AA-1498-4D1B-AEA3-F9C74A1E6857}"/>
    </a:ext>
  </a:extLst>
</a:theme>
</file>

<file path=ppt/theme/theme2.xml><?xml version="1.0" encoding="utf-8"?>
<a:theme xmlns:a="http://schemas.openxmlformats.org/drawingml/2006/main" name="Office Theme">
  <a:themeElements>
    <a:clrScheme name="Amkor Brand">
      <a:dk1>
        <a:srgbClr val="464D5A"/>
      </a:dk1>
      <a:lt1>
        <a:sysClr val="window" lastClr="FFFFFF"/>
      </a:lt1>
      <a:dk2>
        <a:srgbClr val="000000"/>
      </a:dk2>
      <a:lt2>
        <a:srgbClr val="EBEBEB"/>
      </a:lt2>
      <a:accent1>
        <a:srgbClr val="0F4B8F"/>
      </a:accent1>
      <a:accent2>
        <a:srgbClr val="02829F"/>
      </a:accent2>
      <a:accent3>
        <a:srgbClr val="7F174B"/>
      </a:accent3>
      <a:accent4>
        <a:srgbClr val="449B8C"/>
      </a:accent4>
      <a:accent5>
        <a:srgbClr val="D98D28"/>
      </a:accent5>
      <a:accent6>
        <a:srgbClr val="4A3E6E"/>
      </a:accent6>
      <a:hlink>
        <a:srgbClr val="D98D28"/>
      </a:hlink>
      <a:folHlink>
        <a:srgbClr val="464D5A"/>
      </a:folHlink>
    </a:clrScheme>
    <a:fontScheme name="Amkor PPT Brand Fonts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Amkor Brand">
      <a:dk1>
        <a:srgbClr val="464D5A"/>
      </a:dk1>
      <a:lt1>
        <a:sysClr val="window" lastClr="FFFFFF"/>
      </a:lt1>
      <a:dk2>
        <a:srgbClr val="000000"/>
      </a:dk2>
      <a:lt2>
        <a:srgbClr val="EBEBEB"/>
      </a:lt2>
      <a:accent1>
        <a:srgbClr val="0F4B8F"/>
      </a:accent1>
      <a:accent2>
        <a:srgbClr val="02829F"/>
      </a:accent2>
      <a:accent3>
        <a:srgbClr val="7F174B"/>
      </a:accent3>
      <a:accent4>
        <a:srgbClr val="449B8C"/>
      </a:accent4>
      <a:accent5>
        <a:srgbClr val="D98D28"/>
      </a:accent5>
      <a:accent6>
        <a:srgbClr val="4A3E6E"/>
      </a:accent6>
      <a:hlink>
        <a:srgbClr val="D98D28"/>
      </a:hlink>
      <a:folHlink>
        <a:srgbClr val="464D5A"/>
      </a:folHlink>
    </a:clrScheme>
    <a:fontScheme name="Amkor PPT Brand Fonts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7103B2713F97443932B71F2C3860252" ma:contentTypeVersion="12" ma:contentTypeDescription="Create a new document." ma:contentTypeScope="" ma:versionID="09ff963905cdcea575e99d8a827e898f">
  <xsd:schema xmlns:xsd="http://www.w3.org/2001/XMLSchema" xmlns:xs="http://www.w3.org/2001/XMLSchema" xmlns:p="http://schemas.microsoft.com/office/2006/metadata/properties" xmlns:ns2="d9351391-d6bd-4569-99da-c276f19d4c9c" xmlns:ns3="78e28f3f-f0ea-4823-90e1-73d809ca4744" targetNamespace="http://schemas.microsoft.com/office/2006/metadata/properties" ma:root="true" ma:fieldsID="52cee618a04674f87108c6f32cc8b16d" ns2:_="" ns3:_="">
    <xsd:import namespace="d9351391-d6bd-4569-99da-c276f19d4c9c"/>
    <xsd:import namespace="78e28f3f-f0ea-4823-90e1-73d809ca474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351391-d6bd-4569-99da-c276f19d4c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87edf6cb-238f-403b-9e55-22740d698d0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8e28f3f-f0ea-4823-90e1-73d809ca474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876346df-48c7-47db-9053-552badde8360}" ma:internalName="TaxCatchAll" ma:showField="CatchAllData" ma:web="78e28f3f-f0ea-4823-90e1-73d809ca474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8e28f3f-f0ea-4823-90e1-73d809ca4744" xsi:nil="true"/>
    <lcf76f155ced4ddcb4097134ff3c332f xmlns="d9351391-d6bd-4569-99da-c276f19d4c9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7C7D9CB-F7E3-4213-8EC9-F0D99763185F}">
  <ds:schemaRefs>
    <ds:schemaRef ds:uri="78e28f3f-f0ea-4823-90e1-73d809ca4744"/>
    <ds:schemaRef ds:uri="d9351391-d6bd-4569-99da-c276f19d4c9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D4CA594-D907-4831-8C18-769250AA2EB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1A4957D-5398-4EC2-B580-CEE2F896D0B0}">
  <ds:schemaRefs>
    <ds:schemaRef ds:uri="http://www.w3.org/XML/1998/namespace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purl.org/dc/elements/1.1/"/>
    <ds:schemaRef ds:uri="d9351391-d6bd-4569-99da-c276f19d4c9c"/>
    <ds:schemaRef ds:uri="http://purl.org/dc/dcmitype/"/>
    <ds:schemaRef ds:uri="http://schemas.openxmlformats.org/package/2006/metadata/core-properties"/>
    <ds:schemaRef ds:uri="78e28f3f-f0ea-4823-90e1-73d809ca4744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>
  <clbl:label id="{423f5ac8-ab26-4dfa-9ebf-59d3def9fbd0}" enabled="0" method="" siteId="{423f5ac8-ab26-4dfa-9ebf-59d3def9fbd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Confidential 2026 Presentation Template</Template>
  <TotalTime>1217</TotalTime>
  <Words>870</Words>
  <Application>Microsoft Office PowerPoint</Application>
  <PresentationFormat>와이드스크린</PresentationFormat>
  <Paragraphs>164</Paragraphs>
  <Slides>17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2" baseType="lpstr">
      <vt:lpstr>맑은 고딕</vt:lpstr>
      <vt:lpstr>Arial</vt:lpstr>
      <vt:lpstr>Cambria Math</vt:lpstr>
      <vt:lpstr>Segoe UI Symbol</vt:lpstr>
      <vt:lpstr>Confidential Presentation Template-010625</vt:lpstr>
      <vt:lpstr>SOP(Standard Operation Procedure) for X-ray</vt:lpstr>
      <vt:lpstr>1. Initialization Step</vt:lpstr>
      <vt:lpstr>1. Initialization Step</vt:lpstr>
      <vt:lpstr>2. Recipe Step : 1. Wafer Scan Information Submit</vt:lpstr>
      <vt:lpstr>2. Recipe Step : 1. Wafer Scan Information Submit</vt:lpstr>
      <vt:lpstr>2. Recipe Step : 2. Image Acquisition 실행</vt:lpstr>
      <vt:lpstr>2. Recipe Step : 3. Image Acquisition 진행 확인</vt:lpstr>
      <vt:lpstr>2. Recipe Step : 4. WS Data Load (Load 화면)</vt:lpstr>
      <vt:lpstr>2. Recipe Step : 5. Wafer CAD – Load Images </vt:lpstr>
      <vt:lpstr>2. Recipe Step : 6. Wafer CAD – Set Initial Die</vt:lpstr>
      <vt:lpstr>2. Recipe Step : 7. Wafer CAD – Select Die (Wafer Map)</vt:lpstr>
      <vt:lpstr>2. Recipe Step : 8. Die CAD – Analysis Settings</vt:lpstr>
      <vt:lpstr>2. Recipe Step : 9. Die CAD – Set Area of interest</vt:lpstr>
      <vt:lpstr>2. Recipe Step : 10. Recipe save</vt:lpstr>
      <vt:lpstr>2. Recipe Step : 11. Inspection 실행 (Jobs 화면)</vt:lpstr>
      <vt:lpstr>3. Results step  </vt:lpstr>
      <vt:lpstr>PowerPoint 프레젠테이션</vt:lpstr>
    </vt:vector>
  </TitlesOfParts>
  <Company>Amkor Technology Inc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WonGeun Hong</dc:creator>
  <cp:keywords>Confidential, Amkor Technology</cp:keywords>
  <cp:lastModifiedBy>MinKyu Kim</cp:lastModifiedBy>
  <cp:revision>94</cp:revision>
  <dcterms:created xsi:type="dcterms:W3CDTF">2026-04-09T00:08:36Z</dcterms:created>
  <dcterms:modified xsi:type="dcterms:W3CDTF">2026-06-01T23:53:07Z</dcterms:modified>
  <cp:category>Confidential 2025 Amkor PPT 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0x01010077103B2713F97443932B71F2C3860252</vt:lpwstr>
  </property>
  <property fmtid="{D5CDD505-2E9C-101B-9397-08002B2CF9AE}" pid="3" name="MediaServiceImageTags">
    <vt:lpwstr/>
  </property>
</Properties>
</file>